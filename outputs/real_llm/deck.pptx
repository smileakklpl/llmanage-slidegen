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341" r:id="rId2"/>
    <p:sldId id="342" r:id="rId6"/>
    <p:sldId id="343" r:id="rId5"/>
    <p:sldId id="344" r:id="rId4"/>
    <p:sldId id="345" r:id="rId3"/>
    <p:sldId id="346" r:id="rId11"/>
    <p:sldId id="347" r:id="rId12"/>
    <p:sldId id="348" r:id="rId13"/>
    <p:sldId id="349" r:id="rId14"/>
    <p:sldId id="350" r:id="rId15"/>
    <p:sldId id="351" r:id="rId16"/>
    <p:sldId id="352" r:id="rId17"/>
    <p:sldId id="353" r:id="rId18"/>
    <p:sldId id="354" r:id="rId19"/>
    <p:sldId id="355" r:id="rId20"/>
    <p:sldId id="356" r:id="rId21"/>
    <p:sldId id="357" r:id="rId22"/>
    <p:sldId id="358" r:id="rId23"/>
    <p:sldId id="359" r:id="rId24"/>
    <p:sldId id="360" r:id="rId25"/>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65" d="100"/>
          <a:sy n="65" d="100"/>
        </p:scale>
        <p:origin x="904" y="8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5.xml"/><Relationship Id="rId4" Type="http://schemas.openxmlformats.org/officeDocument/2006/relationships/slide" Target="slides/slide4.xml"/><Relationship Id="rId5" Type="http://schemas.openxmlformats.org/officeDocument/2006/relationships/slide" Target="slides/slide3.xml"/><Relationship Id="rId6" Type="http://schemas.openxmlformats.org/officeDocument/2006/relationships/slide" Target="slides/slide2.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slide" Target="slides/slide20.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Sheet7.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t>信用卡市場規模與成長動能分析：流通卡數與簽帳金額趨勢</a:t>
            </a:r>
          </a:p>
        </c:rich>
      </c:tx>
      <c:layout/>
      <c:overlay val="0"/>
    </c:title>
    <c:autoTitleDeleted val="0"/>
    <c:plotArea>
      <c:barChart>
        <c:barDir val="col"/>
        <c:grouping val="clustered"/>
        <c:ser>
          <c:idx val="0"/>
          <c:order val="0"/>
          <c:tx>
            <c:strRef>
              <c:f>Sheet1!$B$1</c:f>
              <c:strCache>
                <c:ptCount val="1"/>
                <c:pt idx="0">
                  <c:v>流通卡數</c:v>
                </c:pt>
              </c:strCache>
            </c:strRef>
          </c:tx>
          <c:cat>
            <c:strRef>
              <c:f>Sheet1!$A$2:$A$13</c:f>
              <c:strCache>
                <c:ptCount val="12"/>
                <c:pt idx="0">
                  <c:v>11401</c:v>
                </c:pt>
                <c:pt idx="1">
                  <c:v>11402</c:v>
                </c:pt>
                <c:pt idx="2">
                  <c:v>11403</c:v>
                </c:pt>
                <c:pt idx="3">
                  <c:v>11404</c:v>
                </c:pt>
                <c:pt idx="4">
                  <c:v>11405</c:v>
                </c:pt>
                <c:pt idx="5">
                  <c:v>11406</c:v>
                </c:pt>
                <c:pt idx="6">
                  <c:v>11407</c:v>
                </c:pt>
                <c:pt idx="7">
                  <c:v>11408</c:v>
                </c:pt>
                <c:pt idx="8">
                  <c:v>11409</c:v>
                </c:pt>
                <c:pt idx="9">
                  <c:v>11410</c:v>
                </c:pt>
                <c:pt idx="10">
                  <c:v>11411</c:v>
                </c:pt>
                <c:pt idx="11">
                  <c:v>11412</c:v>
                </c:pt>
              </c:strCache>
            </c:strRef>
          </c:cat>
          <c:val>
            <c:numRef>
              <c:f>Sheet1!$B$2:$B$13</c:f>
              <c:numCache>
                <c:formatCode>General</c:formatCode>
                <c:ptCount val="12"/>
                <c:pt idx="0">
                  <c:v>58654745.0</c:v>
                </c:pt>
                <c:pt idx="1">
                  <c:v>58747562.0</c:v>
                </c:pt>
                <c:pt idx="2">
                  <c:v>58994262.0</c:v>
                </c:pt>
                <c:pt idx="3">
                  <c:v>59388667.0</c:v>
                </c:pt>
                <c:pt idx="4">
                  <c:v>59795907.0</c:v>
                </c:pt>
                <c:pt idx="5">
                  <c:v>59869255.0</c:v>
                </c:pt>
                <c:pt idx="6">
                  <c:v>59947219.0</c:v>
                </c:pt>
                <c:pt idx="7">
                  <c:v>60149284.0</c:v>
                </c:pt>
                <c:pt idx="8">
                  <c:v>60354497.0</c:v>
                </c:pt>
                <c:pt idx="9">
                  <c:v>60479206.0</c:v>
                </c:pt>
                <c:pt idx="10">
                  <c:v>60424521.0</c:v>
                </c:pt>
                <c:pt idx="11">
                  <c:v>60485911.0</c:v>
                </c:pt>
              </c:numCache>
            </c:numRef>
          </c:val>
        </c:ser>
        <c:axId val="-2068027336"/>
        <c:axId val="-2113994440"/>
      </c:barChart>
      <c:lineChart>
        <c:grouping val="standard"/>
        <c:varyColors val="0"/>
        <c:ser>
          <c:idx val="1"/>
          <c:order val="1"/>
          <c:tx>
            <c:strRef>
              <c:f>Sheet1!$C$1</c:f>
              <c:strCache>
                <c:ptCount val="1"/>
                <c:pt idx="0">
                  <c:v>當月簽帳金額</c:v>
                </c:pt>
              </c:strCache>
            </c:strRef>
          </c:tx>
          <c:marker>
            <c:symbol val="circle"/>
            <c:size val="7"/>
          </c:marker>
          <c:cat>
            <c:strRef>
              <c:f>Sheet1!$A$2:$A$13</c:f>
              <c:strCache>
                <c:ptCount val="12"/>
                <c:pt idx="0">
                  <c:v>11401</c:v>
                </c:pt>
                <c:pt idx="1">
                  <c:v>11402</c:v>
                </c:pt>
                <c:pt idx="2">
                  <c:v>11403</c:v>
                </c:pt>
                <c:pt idx="3">
                  <c:v>11404</c:v>
                </c:pt>
                <c:pt idx="4">
                  <c:v>11405</c:v>
                </c:pt>
                <c:pt idx="5">
                  <c:v>11406</c:v>
                </c:pt>
                <c:pt idx="6">
                  <c:v>11407</c:v>
                </c:pt>
                <c:pt idx="7">
                  <c:v>11408</c:v>
                </c:pt>
                <c:pt idx="8">
                  <c:v>11409</c:v>
                </c:pt>
                <c:pt idx="9">
                  <c:v>11410</c:v>
                </c:pt>
                <c:pt idx="10">
                  <c:v>11411</c:v>
                </c:pt>
                <c:pt idx="11">
                  <c:v>11412</c:v>
                </c:pt>
              </c:strCache>
            </c:strRef>
          </c:cat>
          <c:val>
            <c:numRef>
              <c:f>Sheet1!$C$2:$C$13</c:f>
              <c:numCache>
                <c:formatCode>General</c:formatCode>
                <c:ptCount val="12"/>
                <c:pt idx="0">
                  <c:v>338561389.0</c:v>
                </c:pt>
                <c:pt idx="1">
                  <c:v>395294658.0</c:v>
                </c:pt>
                <c:pt idx="2">
                  <c:v>377172642.0</c:v>
                </c:pt>
                <c:pt idx="3">
                  <c:v>373344235.0</c:v>
                </c:pt>
                <c:pt idx="4">
                  <c:v>371785303.0</c:v>
                </c:pt>
                <c:pt idx="5">
                  <c:v>393715829.0</c:v>
                </c:pt>
                <c:pt idx="6">
                  <c:v>653264628.0</c:v>
                </c:pt>
                <c:pt idx="7">
                  <c:v>376250456.0</c:v>
                </c:pt>
                <c:pt idx="8">
                  <c:v>403174279.0</c:v>
                </c:pt>
                <c:pt idx="9">
                  <c:v>453412126.0</c:v>
                </c:pt>
                <c:pt idx="10">
                  <c:v>396704763.0</c:v>
                </c:pt>
                <c:pt idx="11">
                  <c:v>453663538.0</c:v>
                </c:pt>
              </c:numCache>
            </c:numRef>
          </c:val>
          <c:smooth val="0"/>
        </c:ser>
        <c:marker val="1"/>
        <c:axId val="100000001"/>
        <c:axId val="100000002"/>
      </c:line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catAx>
        <c:axId val="100000001"/>
        <c:scaling>
          <c:orientation val="minMax"/>
        </c:scaling>
        <c:delete val="1"/>
        <c:axPos val="b"/>
        <c:crossAx val="100000002"/>
      </c:catAx>
      <c:valAx>
        <c:axId val="100000002"/>
        <c:scaling>
          <c:orientation val="minMax"/>
        </c:scaling>
        <c:delete val="0"/>
        <c:axPos val="r"/>
        <c:numFmt formatCode="General" sourceLinked="0"/>
        <c:majorTickMark val="out"/>
        <c:minorTickMark val="none"/>
        <c:tickLblPos val="nextTo"/>
        <c:crossAx val="100000001"/>
      </c:valAx>
    </c:plotArea>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title>
      <c:tx>
        <c:rich>
          <a:bodyPr/>
          <a:lstStyle/>
          <a:p>
            <a:r>
              <a:t>信用卡市場各項業務指標之成長趨勢分析</a:t>
            </a:r>
          </a:p>
        </c:rich>
      </c:tx>
      <c:layout/>
      <c:overlay val="0"/>
    </c:title>
    <c:autoTitleDeleted val="0"/>
    <c:plotArea>
      <c:lineChart>
        <c:grouping val="standard"/>
        <c:varyColors val="0"/>
        <c:ser>
          <c:idx val="0"/>
          <c:order val="0"/>
          <c:tx>
            <c:strRef>
              <c:f>Sheet1!$B$1</c:f>
              <c:strCache>
                <c:ptCount val="1"/>
                <c:pt idx="0">
                  <c:v>流通卡數</c:v>
                </c:pt>
              </c:strCache>
            </c:strRef>
          </c:tx>
          <c:cat>
            <c:strRef>
              <c:f>Sheet1!$A$2:$A$13</c:f>
              <c:strCache>
                <c:ptCount val="12"/>
                <c:pt idx="0">
                  <c:v>11401</c:v>
                </c:pt>
                <c:pt idx="1">
                  <c:v>11402</c:v>
                </c:pt>
                <c:pt idx="2">
                  <c:v>11403</c:v>
                </c:pt>
                <c:pt idx="3">
                  <c:v>11404</c:v>
                </c:pt>
                <c:pt idx="4">
                  <c:v>11405</c:v>
                </c:pt>
                <c:pt idx="5">
                  <c:v>11406</c:v>
                </c:pt>
                <c:pt idx="6">
                  <c:v>11407</c:v>
                </c:pt>
                <c:pt idx="7">
                  <c:v>11408</c:v>
                </c:pt>
                <c:pt idx="8">
                  <c:v>11409</c:v>
                </c:pt>
                <c:pt idx="9">
                  <c:v>11410</c:v>
                </c:pt>
                <c:pt idx="10">
                  <c:v>11411</c:v>
                </c:pt>
                <c:pt idx="11">
                  <c:v>11412</c:v>
                </c:pt>
              </c:strCache>
            </c:strRef>
          </c:cat>
          <c:val>
            <c:numRef>
              <c:f>Sheet1!$B$2:$B$13</c:f>
              <c:numCache>
                <c:formatCode>General</c:formatCode>
                <c:ptCount val="12"/>
                <c:pt idx="0">
                  <c:v>58654745.0</c:v>
                </c:pt>
                <c:pt idx="1">
                  <c:v>58747562.0</c:v>
                </c:pt>
                <c:pt idx="2">
                  <c:v>58994262.0</c:v>
                </c:pt>
                <c:pt idx="3">
                  <c:v>59388667.0</c:v>
                </c:pt>
                <c:pt idx="4">
                  <c:v>59795907.0</c:v>
                </c:pt>
                <c:pt idx="5">
                  <c:v>59869255.0</c:v>
                </c:pt>
                <c:pt idx="6">
                  <c:v>59947219.0</c:v>
                </c:pt>
                <c:pt idx="7">
                  <c:v>60149284.0</c:v>
                </c:pt>
                <c:pt idx="8">
                  <c:v>60354497.0</c:v>
                </c:pt>
                <c:pt idx="9">
                  <c:v>60479206.0</c:v>
                </c:pt>
                <c:pt idx="10">
                  <c:v>60424521.0</c:v>
                </c:pt>
                <c:pt idx="11">
                  <c:v>60485911.0</c:v>
                </c:pt>
              </c:numCache>
            </c:numRef>
          </c:val>
          <c:smooth val="0"/>
        </c:ser>
        <c:ser>
          <c:idx val="1"/>
          <c:order val="1"/>
          <c:tx>
            <c:strRef>
              <c:f>Sheet1!$C$1</c:f>
              <c:strCache>
                <c:ptCount val="1"/>
                <c:pt idx="0">
                  <c:v>有效卡數</c:v>
                </c:pt>
              </c:strCache>
            </c:strRef>
          </c:tx>
          <c:cat>
            <c:strRef>
              <c:f>Sheet1!$A$2:$A$13</c:f>
              <c:strCache>
                <c:ptCount val="12"/>
                <c:pt idx="0">
                  <c:v>11401</c:v>
                </c:pt>
                <c:pt idx="1">
                  <c:v>11402</c:v>
                </c:pt>
                <c:pt idx="2">
                  <c:v>11403</c:v>
                </c:pt>
                <c:pt idx="3">
                  <c:v>11404</c:v>
                </c:pt>
                <c:pt idx="4">
                  <c:v>11405</c:v>
                </c:pt>
                <c:pt idx="5">
                  <c:v>11406</c:v>
                </c:pt>
                <c:pt idx="6">
                  <c:v>11407</c:v>
                </c:pt>
                <c:pt idx="7">
                  <c:v>11408</c:v>
                </c:pt>
                <c:pt idx="8">
                  <c:v>11409</c:v>
                </c:pt>
                <c:pt idx="9">
                  <c:v>11410</c:v>
                </c:pt>
                <c:pt idx="10">
                  <c:v>11411</c:v>
                </c:pt>
                <c:pt idx="11">
                  <c:v>11412</c:v>
                </c:pt>
              </c:strCache>
            </c:strRef>
          </c:cat>
          <c:val>
            <c:numRef>
              <c:f>Sheet1!$C$2:$C$13</c:f>
              <c:numCache>
                <c:formatCode>General</c:formatCode>
                <c:ptCount val="12"/>
                <c:pt idx="0">
                  <c:v>39072550.0</c:v>
                </c:pt>
                <c:pt idx="1">
                  <c:v>39190270.0</c:v>
                </c:pt>
                <c:pt idx="2">
                  <c:v>39250194.0</c:v>
                </c:pt>
                <c:pt idx="3">
                  <c:v>39415942.0</c:v>
                </c:pt>
                <c:pt idx="4">
                  <c:v>39542944.0</c:v>
                </c:pt>
                <c:pt idx="5">
                  <c:v>39622444.0</c:v>
                </c:pt>
                <c:pt idx="6">
                  <c:v>39861195.0</c:v>
                </c:pt>
                <c:pt idx="7">
                  <c:v>39931101.0</c:v>
                </c:pt>
                <c:pt idx="8">
                  <c:v>40185047.0</c:v>
                </c:pt>
                <c:pt idx="9">
                  <c:v>40376943.0</c:v>
                </c:pt>
                <c:pt idx="10">
                  <c:v>40466935.0</c:v>
                </c:pt>
                <c:pt idx="11">
                  <c:v>40554453.0</c:v>
                </c:pt>
              </c:numCache>
            </c:numRef>
          </c:val>
          <c:smooth val="0"/>
        </c:ser>
        <c:ser>
          <c:idx val="2"/>
          <c:order val="2"/>
          <c:tx>
            <c:strRef>
              <c:f>Sheet1!$D$1</c:f>
              <c:strCache>
                <c:ptCount val="1"/>
                <c:pt idx="0">
                  <c:v>當月簽帳金額</c:v>
                </c:pt>
              </c:strCache>
            </c:strRef>
          </c:tx>
          <c:cat>
            <c:strRef>
              <c:f>Sheet1!$A$2:$A$13</c:f>
              <c:strCache>
                <c:ptCount val="12"/>
                <c:pt idx="0">
                  <c:v>11401</c:v>
                </c:pt>
                <c:pt idx="1">
                  <c:v>11402</c:v>
                </c:pt>
                <c:pt idx="2">
                  <c:v>11403</c:v>
                </c:pt>
                <c:pt idx="3">
                  <c:v>11404</c:v>
                </c:pt>
                <c:pt idx="4">
                  <c:v>11405</c:v>
                </c:pt>
                <c:pt idx="5">
                  <c:v>11406</c:v>
                </c:pt>
                <c:pt idx="6">
                  <c:v>11407</c:v>
                </c:pt>
                <c:pt idx="7">
                  <c:v>11408</c:v>
                </c:pt>
                <c:pt idx="8">
                  <c:v>11409</c:v>
                </c:pt>
                <c:pt idx="9">
                  <c:v>11410</c:v>
                </c:pt>
                <c:pt idx="10">
                  <c:v>11411</c:v>
                </c:pt>
                <c:pt idx="11">
                  <c:v>11412</c:v>
                </c:pt>
              </c:strCache>
            </c:strRef>
          </c:cat>
          <c:val>
            <c:numRef>
              <c:f>Sheet1!$D$2:$D$13</c:f>
              <c:numCache>
                <c:formatCode>General</c:formatCode>
                <c:ptCount val="12"/>
                <c:pt idx="0">
                  <c:v>338561389.0</c:v>
                </c:pt>
                <c:pt idx="1">
                  <c:v>395294658.0</c:v>
                </c:pt>
                <c:pt idx="2">
                  <c:v>377172642.0</c:v>
                </c:pt>
                <c:pt idx="3">
                  <c:v>373344235.0</c:v>
                </c:pt>
                <c:pt idx="4">
                  <c:v>371785303.0</c:v>
                </c:pt>
                <c:pt idx="5">
                  <c:v>393715829.0</c:v>
                </c:pt>
                <c:pt idx="6">
                  <c:v>653264628.0</c:v>
                </c:pt>
                <c:pt idx="7">
                  <c:v>376250456.0</c:v>
                </c:pt>
                <c:pt idx="8">
                  <c:v>403174279.0</c:v>
                </c:pt>
                <c:pt idx="9">
                  <c:v>453412126.0</c:v>
                </c:pt>
                <c:pt idx="10">
                  <c:v>396704763.0</c:v>
                </c:pt>
                <c:pt idx="11">
                  <c:v>453663538.0</c:v>
                </c:pt>
              </c:numCache>
            </c:numRef>
          </c:val>
          <c:smooth val="0"/>
        </c:ser>
        <c:ser>
          <c:idx val="3"/>
          <c:order val="3"/>
          <c:tx>
            <c:strRef>
              <c:f>Sheet1!$E$1</c:f>
              <c:strCache>
                <c:ptCount val="1"/>
                <c:pt idx="0">
                  <c:v>循環信用餘額</c:v>
                </c:pt>
              </c:strCache>
            </c:strRef>
          </c:tx>
          <c:cat>
            <c:strRef>
              <c:f>Sheet1!$A$2:$A$13</c:f>
              <c:strCache>
                <c:ptCount val="12"/>
                <c:pt idx="0">
                  <c:v>11401</c:v>
                </c:pt>
                <c:pt idx="1">
                  <c:v>11402</c:v>
                </c:pt>
                <c:pt idx="2">
                  <c:v>11403</c:v>
                </c:pt>
                <c:pt idx="3">
                  <c:v>11404</c:v>
                </c:pt>
                <c:pt idx="4">
                  <c:v>11405</c:v>
                </c:pt>
                <c:pt idx="5">
                  <c:v>11406</c:v>
                </c:pt>
                <c:pt idx="6">
                  <c:v>11407</c:v>
                </c:pt>
                <c:pt idx="7">
                  <c:v>11408</c:v>
                </c:pt>
                <c:pt idx="8">
                  <c:v>11409</c:v>
                </c:pt>
                <c:pt idx="9">
                  <c:v>11410</c:v>
                </c:pt>
                <c:pt idx="10">
                  <c:v>11411</c:v>
                </c:pt>
                <c:pt idx="11">
                  <c:v>11412</c:v>
                </c:pt>
              </c:strCache>
            </c:strRef>
          </c:cat>
          <c:val>
            <c:numRef>
              <c:f>Sheet1!$E$2:$E$13</c:f>
              <c:numCache>
                <c:formatCode>General</c:formatCode>
                <c:ptCount val="12"/>
                <c:pt idx="0">
                  <c:v>113560448.0</c:v>
                </c:pt>
                <c:pt idx="1">
                  <c:v>112808177.0</c:v>
                </c:pt>
                <c:pt idx="2">
                  <c:v>113115883.0</c:v>
                </c:pt>
                <c:pt idx="3">
                  <c:v>113985720.0</c:v>
                </c:pt>
                <c:pt idx="4">
                  <c:v>113422508.0</c:v>
                </c:pt>
                <c:pt idx="5">
                  <c:v>115449666.0</c:v>
                </c:pt>
                <c:pt idx="6">
                  <c:v>114459143.0</c:v>
                </c:pt>
                <c:pt idx="7">
                  <c:v>115041324.0</c:v>
                </c:pt>
                <c:pt idx="8">
                  <c:v>117177201.0</c:v>
                </c:pt>
                <c:pt idx="9">
                  <c:v>117913037.0</c:v>
                </c:pt>
                <c:pt idx="10">
                  <c:v>117776620.0</c:v>
                </c:pt>
                <c:pt idx="11">
                  <c:v>118588582.0</c:v>
                </c:pt>
              </c:numCache>
            </c:numRef>
          </c:val>
          <c:smooth val="0"/>
        </c:ser>
        <c:ser>
          <c:idx val="4"/>
          <c:order val="4"/>
          <c:tx>
            <c:strRef>
              <c:f>Sheet1!$F$1</c:f>
              <c:strCache>
                <c:ptCount val="1"/>
                <c:pt idx="0">
                  <c:v>未到期分期付款餘額</c:v>
                </c:pt>
              </c:strCache>
            </c:strRef>
          </c:tx>
          <c:cat>
            <c:strRef>
              <c:f>Sheet1!$A$2:$A$13</c:f>
              <c:strCache>
                <c:ptCount val="12"/>
                <c:pt idx="0">
                  <c:v>11401</c:v>
                </c:pt>
                <c:pt idx="1">
                  <c:v>11402</c:v>
                </c:pt>
                <c:pt idx="2">
                  <c:v>11403</c:v>
                </c:pt>
                <c:pt idx="3">
                  <c:v>11404</c:v>
                </c:pt>
                <c:pt idx="4">
                  <c:v>11405</c:v>
                </c:pt>
                <c:pt idx="5">
                  <c:v>11406</c:v>
                </c:pt>
                <c:pt idx="6">
                  <c:v>11407</c:v>
                </c:pt>
                <c:pt idx="7">
                  <c:v>11408</c:v>
                </c:pt>
                <c:pt idx="8">
                  <c:v>11409</c:v>
                </c:pt>
                <c:pt idx="9">
                  <c:v>11410</c:v>
                </c:pt>
                <c:pt idx="10">
                  <c:v>11411</c:v>
                </c:pt>
                <c:pt idx="11">
                  <c:v>11412</c:v>
                </c:pt>
              </c:strCache>
            </c:strRef>
          </c:cat>
          <c:val>
            <c:numRef>
              <c:f>Sheet1!$F$2:$F$13</c:f>
              <c:numCache>
                <c:formatCode>General</c:formatCode>
                <c:ptCount val="12"/>
                <c:pt idx="0">
                  <c:v>184844306.0</c:v>
                </c:pt>
                <c:pt idx="1">
                  <c:v>175516344.0</c:v>
                </c:pt>
                <c:pt idx="2">
                  <c:v>167533798.0</c:v>
                </c:pt>
                <c:pt idx="3">
                  <c:v>161846872.0</c:v>
                </c:pt>
                <c:pt idx="4">
                  <c:v>156708905.0</c:v>
                </c:pt>
                <c:pt idx="5">
                  <c:v>154904018.0</c:v>
                </c:pt>
                <c:pt idx="6">
                  <c:v>241120341.0</c:v>
                </c:pt>
                <c:pt idx="7">
                  <c:v>233074998.0</c:v>
                </c:pt>
                <c:pt idx="8">
                  <c:v>220486934.0</c:v>
                </c:pt>
                <c:pt idx="9">
                  <c:v>211561948.0</c:v>
                </c:pt>
                <c:pt idx="10">
                  <c:v>198838519.0</c:v>
                </c:pt>
                <c:pt idx="11">
                  <c:v>187216932.0</c:v>
                </c:pt>
              </c:numCache>
            </c:numRef>
          </c:val>
          <c:smooth val="0"/>
        </c:ser>
        <c:ser>
          <c:idx val="5"/>
          <c:order val="5"/>
          <c:tx>
            <c:strRef>
              <c:f>Sheet1!$G$1</c:f>
              <c:strCache>
                <c:ptCount val="1"/>
                <c:pt idx="0">
                  <c:v>當月轉銷呆帳金額</c:v>
                </c:pt>
              </c:strCache>
            </c:strRef>
          </c:tx>
          <c:cat>
            <c:strRef>
              <c:f>Sheet1!$A$2:$A$13</c:f>
              <c:strCache>
                <c:ptCount val="12"/>
                <c:pt idx="0">
                  <c:v>11401</c:v>
                </c:pt>
                <c:pt idx="1">
                  <c:v>11402</c:v>
                </c:pt>
                <c:pt idx="2">
                  <c:v>11403</c:v>
                </c:pt>
                <c:pt idx="3">
                  <c:v>11404</c:v>
                </c:pt>
                <c:pt idx="4">
                  <c:v>11405</c:v>
                </c:pt>
                <c:pt idx="5">
                  <c:v>11406</c:v>
                </c:pt>
                <c:pt idx="6">
                  <c:v>11407</c:v>
                </c:pt>
                <c:pt idx="7">
                  <c:v>11408</c:v>
                </c:pt>
                <c:pt idx="8">
                  <c:v>11409</c:v>
                </c:pt>
                <c:pt idx="9">
                  <c:v>11410</c:v>
                </c:pt>
                <c:pt idx="10">
                  <c:v>11411</c:v>
                </c:pt>
                <c:pt idx="11">
                  <c:v>11412</c:v>
                </c:pt>
              </c:strCache>
            </c:strRef>
          </c:cat>
          <c:val>
            <c:numRef>
              <c:f>Sheet1!$G$2:$G$13</c:f>
              <c:numCache>
                <c:formatCode>General</c:formatCode>
                <c:ptCount val="12"/>
                <c:pt idx="0">
                  <c:v>654750.0</c:v>
                </c:pt>
                <c:pt idx="1">
                  <c:v>611054.0</c:v>
                </c:pt>
                <c:pt idx="2">
                  <c:v>641539.0</c:v>
                </c:pt>
                <c:pt idx="3">
                  <c:v>615972.0</c:v>
                </c:pt>
                <c:pt idx="4">
                  <c:v>600844.0</c:v>
                </c:pt>
                <c:pt idx="5">
                  <c:v>617225.0</c:v>
                </c:pt>
                <c:pt idx="6">
                  <c:v>589078.0</c:v>
                </c:pt>
                <c:pt idx="7">
                  <c:v>572496.0</c:v>
                </c:pt>
                <c:pt idx="8">
                  <c:v>632705.0</c:v>
                </c:pt>
                <c:pt idx="9">
                  <c:v>623815.0</c:v>
                </c:pt>
                <c:pt idx="10">
                  <c:v>601876.0</c:v>
                </c:pt>
                <c:pt idx="11">
                  <c:v>645165.0</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crossAx val="2140495176"/>
        <c:crosses val="autoZero"/>
        <c:auto val="1"/>
        <c:lblAlgn val="ctr"/>
        <c:lblOffset val="100"/>
        <c:noMultiLvlLbl val="0"/>
      </c:catAx>
      <c:valAx>
        <c:axId val="2140495176"/>
        <c:scaling/>
        <c:delete val="0"/>
        <c:axPos val="l"/>
        <c:majorGridlines/>
        <c:majorTickMark val="out"/>
        <c:minorTickMark val="none"/>
        <c:tickLblPos val="nextTo"/>
        <c:crossAx val="2118791784"/>
        <c:crosses val="autoZero"/>
      </c:valAx>
    </c:plotArea>
    <c:legend>
      <c:legendPos val="r"/>
      <c:layout/>
      <c:overlay val="0"/>
    </c:legend>
    <c:plotVisOnly val="1"/>
    <c:dispBlanksAs val="gap"/>
    <c:showDLblsOverMax val="0"/>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title>
      <c:tx>
        <c:rich>
          <a:bodyPr/>
          <a:lstStyle/>
          <a:p>
            <a:r>
              <a:t>流通卡數市場份額：台新銀行競爭位階分析</a:t>
            </a:r>
          </a:p>
        </c:rich>
      </c:tx>
      <c:layout/>
      <c:overlay val="0"/>
    </c:title>
    <c:autoTitleDeleted val="0"/>
    <c:plotArea>
      <c:barChart>
        <c:barDir val="bar"/>
        <c:grouping val="clustered"/>
        <c:ser>
          <c:idx val="0"/>
          <c:order val="0"/>
          <c:tx>
            <c:strRef>
              <c:f>Sheet1!$B$1</c:f>
              <c:strCache>
                <c:ptCount val="1"/>
                <c:pt idx="0">
                  <c:v>11401</c:v>
                </c:pt>
              </c:strCache>
            </c:strRef>
          </c:tx>
          <c:cat>
            <c:strRef>
              <c:f>Sheet1!$A$2:$A$11</c:f>
              <c:strCache>
                <c:ptCount val="10"/>
                <c:pt idx="0">
                  <c:v>中國信託商業銀行</c:v>
                </c:pt>
                <c:pt idx="1">
                  <c:v>玉山商業銀行</c:v>
                </c:pt>
                <c:pt idx="2">
                  <c:v>台北富邦商業銀行</c:v>
                </c:pt>
                <c:pt idx="3">
                  <c:v>國泰世華商業銀行</c:v>
                </c:pt>
                <c:pt idx="4">
                  <c:v>台新國際商業銀行</c:v>
                </c:pt>
                <c:pt idx="5">
                  <c:v>星展(台灣)商業銀行</c:v>
                </c:pt>
                <c:pt idx="6">
                  <c:v>聯邦商業銀行</c:v>
                </c:pt>
                <c:pt idx="7">
                  <c:v>永豐商業銀行</c:v>
                </c:pt>
                <c:pt idx="8">
                  <c:v>第一商業銀行</c:v>
                </c:pt>
                <c:pt idx="9">
                  <c:v>遠東國際商業銀行</c:v>
                </c:pt>
              </c:strCache>
            </c:strRef>
          </c:cat>
          <c:val>
            <c:numRef>
              <c:f>Sheet1!$B$2:$B$11</c:f>
              <c:numCache>
                <c:formatCode>General</c:formatCode>
                <c:ptCount val="10"/>
                <c:pt idx="0">
                  <c:v>15.6241</c:v>
                </c:pt>
                <c:pt idx="1">
                  <c:v>12.7481</c:v>
                </c:pt>
                <c:pt idx="2">
                  <c:v>12.4481</c:v>
                </c:pt>
                <c:pt idx="3">
                  <c:v>12.7872</c:v>
                </c:pt>
                <c:pt idx="4">
                  <c:v>11.2178</c:v>
                </c:pt>
                <c:pt idx="5">
                  <c:v>5.5976</c:v>
                </c:pt>
                <c:pt idx="6">
                  <c:v>4.7059</c:v>
                </c:pt>
                <c:pt idx="7">
                  <c:v>3.9164</c:v>
                </c:pt>
                <c:pt idx="8">
                  <c:v>2.5157</c:v>
                </c:pt>
                <c:pt idx="9">
                  <c:v>2.3132</c:v>
                </c:pt>
              </c:numCache>
            </c:numRef>
          </c:val>
        </c:ser>
        <c:ser>
          <c:idx val="1"/>
          <c:order val="1"/>
          <c:tx>
            <c:strRef>
              <c:f>Sheet1!$C$1</c:f>
              <c:strCache>
                <c:ptCount val="1"/>
                <c:pt idx="0">
                  <c:v>11402</c:v>
                </c:pt>
              </c:strCache>
            </c:strRef>
          </c:tx>
          <c:cat>
            <c:strRef>
              <c:f>Sheet1!$A$2:$A$11</c:f>
              <c:strCache>
                <c:ptCount val="10"/>
                <c:pt idx="0">
                  <c:v>中國信託商業銀行</c:v>
                </c:pt>
                <c:pt idx="1">
                  <c:v>玉山商業銀行</c:v>
                </c:pt>
                <c:pt idx="2">
                  <c:v>台北富邦商業銀行</c:v>
                </c:pt>
                <c:pt idx="3">
                  <c:v>國泰世華商業銀行</c:v>
                </c:pt>
                <c:pt idx="4">
                  <c:v>台新國際商業銀行</c:v>
                </c:pt>
                <c:pt idx="5">
                  <c:v>星展(台灣)商業銀行</c:v>
                </c:pt>
                <c:pt idx="6">
                  <c:v>聯邦商業銀行</c:v>
                </c:pt>
                <c:pt idx="7">
                  <c:v>永豐商業銀行</c:v>
                </c:pt>
                <c:pt idx="8">
                  <c:v>第一商業銀行</c:v>
                </c:pt>
                <c:pt idx="9">
                  <c:v>遠東國際商業銀行</c:v>
                </c:pt>
              </c:strCache>
            </c:strRef>
          </c:cat>
          <c:val>
            <c:numRef>
              <c:f>Sheet1!$C$2:$C$11</c:f>
              <c:numCache>
                <c:formatCode>General</c:formatCode>
                <c:ptCount val="10"/>
                <c:pt idx="0">
                  <c:v>15.5568</c:v>
                </c:pt>
                <c:pt idx="1">
                  <c:v>12.7587</c:v>
                </c:pt>
                <c:pt idx="2">
                  <c:v>12.4717</c:v>
                </c:pt>
                <c:pt idx="3">
                  <c:v>12.7843</c:v>
                </c:pt>
                <c:pt idx="4">
                  <c:v>11.2107</c:v>
                </c:pt>
                <c:pt idx="5">
                  <c:v>5.6049</c:v>
                </c:pt>
                <c:pt idx="6">
                  <c:v>4.7002</c:v>
                </c:pt>
                <c:pt idx="7">
                  <c:v>3.9685</c:v>
                </c:pt>
                <c:pt idx="8">
                  <c:v>2.5208</c:v>
                </c:pt>
                <c:pt idx="9">
                  <c:v>2.3108</c:v>
                </c:pt>
              </c:numCache>
            </c:numRef>
          </c:val>
        </c:ser>
        <c:ser>
          <c:idx val="2"/>
          <c:order val="2"/>
          <c:tx>
            <c:strRef>
              <c:f>Sheet1!$D$1</c:f>
              <c:strCache>
                <c:ptCount val="1"/>
                <c:pt idx="0">
                  <c:v>11403</c:v>
                </c:pt>
              </c:strCache>
            </c:strRef>
          </c:tx>
          <c:cat>
            <c:strRef>
              <c:f>Sheet1!$A$2:$A$11</c:f>
              <c:strCache>
                <c:ptCount val="10"/>
                <c:pt idx="0">
                  <c:v>中國信託商業銀行</c:v>
                </c:pt>
                <c:pt idx="1">
                  <c:v>玉山商業銀行</c:v>
                </c:pt>
                <c:pt idx="2">
                  <c:v>台北富邦商業銀行</c:v>
                </c:pt>
                <c:pt idx="3">
                  <c:v>國泰世華商業銀行</c:v>
                </c:pt>
                <c:pt idx="4">
                  <c:v>台新國際商業銀行</c:v>
                </c:pt>
                <c:pt idx="5">
                  <c:v>星展(台灣)商業銀行</c:v>
                </c:pt>
                <c:pt idx="6">
                  <c:v>聯邦商業銀行</c:v>
                </c:pt>
                <c:pt idx="7">
                  <c:v>永豐商業銀行</c:v>
                </c:pt>
                <c:pt idx="8">
                  <c:v>第一商業銀行</c:v>
                </c:pt>
                <c:pt idx="9">
                  <c:v>遠東國際商業銀行</c:v>
                </c:pt>
              </c:strCache>
            </c:strRef>
          </c:cat>
          <c:val>
            <c:numRef>
              <c:f>Sheet1!$D$2:$D$11</c:f>
              <c:numCache>
                <c:formatCode>General</c:formatCode>
                <c:ptCount val="10"/>
                <c:pt idx="0">
                  <c:v>15.4543</c:v>
                </c:pt>
                <c:pt idx="1">
                  <c:v>13.1038</c:v>
                </c:pt>
                <c:pt idx="2">
                  <c:v>12.5567</c:v>
                </c:pt>
                <c:pt idx="3">
                  <c:v>12.5535</c:v>
                </c:pt>
                <c:pt idx="4">
                  <c:v>11.1687</c:v>
                </c:pt>
                <c:pt idx="5">
                  <c:v>5.5911</c:v>
                </c:pt>
                <c:pt idx="6">
                  <c:v>4.6759</c:v>
                </c:pt>
                <c:pt idx="7">
                  <c:v>3.9901</c:v>
                </c:pt>
                <c:pt idx="8">
                  <c:v>2.5221</c:v>
                </c:pt>
                <c:pt idx="9">
                  <c:v>2.3022</c:v>
                </c:pt>
              </c:numCache>
            </c:numRef>
          </c:val>
        </c:ser>
        <c:ser>
          <c:idx val="3"/>
          <c:order val="3"/>
          <c:tx>
            <c:strRef>
              <c:f>Sheet1!$E$1</c:f>
              <c:strCache>
                <c:ptCount val="1"/>
                <c:pt idx="0">
                  <c:v>11404</c:v>
                </c:pt>
              </c:strCache>
            </c:strRef>
          </c:tx>
          <c:cat>
            <c:strRef>
              <c:f>Sheet1!$A$2:$A$11</c:f>
              <c:strCache>
                <c:ptCount val="10"/>
                <c:pt idx="0">
                  <c:v>中國信託商業銀行</c:v>
                </c:pt>
                <c:pt idx="1">
                  <c:v>玉山商業銀行</c:v>
                </c:pt>
                <c:pt idx="2">
                  <c:v>台北富邦商業銀行</c:v>
                </c:pt>
                <c:pt idx="3">
                  <c:v>國泰世華商業銀行</c:v>
                </c:pt>
                <c:pt idx="4">
                  <c:v>台新國際商業銀行</c:v>
                </c:pt>
                <c:pt idx="5">
                  <c:v>星展(台灣)商業銀行</c:v>
                </c:pt>
                <c:pt idx="6">
                  <c:v>聯邦商業銀行</c:v>
                </c:pt>
                <c:pt idx="7">
                  <c:v>永豐商業銀行</c:v>
                </c:pt>
                <c:pt idx="8">
                  <c:v>第一商業銀行</c:v>
                </c:pt>
                <c:pt idx="9">
                  <c:v>遠東國際商業銀行</c:v>
                </c:pt>
              </c:strCache>
            </c:strRef>
          </c:cat>
          <c:val>
            <c:numRef>
              <c:f>Sheet1!$E$2:$E$11</c:f>
              <c:numCache>
                <c:formatCode>General</c:formatCode>
                <c:ptCount val="10"/>
                <c:pt idx="0">
                  <c:v>15.3273</c:v>
                </c:pt>
                <c:pt idx="1">
                  <c:v>13.8535</c:v>
                </c:pt>
                <c:pt idx="2">
                  <c:v>12.5139</c:v>
                </c:pt>
                <c:pt idx="3">
                  <c:v>12.1828</c:v>
                </c:pt>
                <c:pt idx="4">
                  <c:v>11.1386</c:v>
                </c:pt>
                <c:pt idx="5">
                  <c:v>5.561</c:v>
                </c:pt>
                <c:pt idx="6">
                  <c:v>4.6385</c:v>
                </c:pt>
                <c:pt idx="7">
                  <c:v>3.9918</c:v>
                </c:pt>
                <c:pt idx="8">
                  <c:v>2.5147</c:v>
                </c:pt>
                <c:pt idx="9">
                  <c:v>2.2892</c:v>
                </c:pt>
              </c:numCache>
            </c:numRef>
          </c:val>
        </c:ser>
        <c:ser>
          <c:idx val="4"/>
          <c:order val="4"/>
          <c:tx>
            <c:strRef>
              <c:f>Sheet1!$F$1</c:f>
              <c:strCache>
                <c:ptCount val="1"/>
                <c:pt idx="0">
                  <c:v>11405</c:v>
                </c:pt>
              </c:strCache>
            </c:strRef>
          </c:tx>
          <c:cat>
            <c:strRef>
              <c:f>Sheet1!$A$2:$A$11</c:f>
              <c:strCache>
                <c:ptCount val="10"/>
                <c:pt idx="0">
                  <c:v>中國信託商業銀行</c:v>
                </c:pt>
                <c:pt idx="1">
                  <c:v>玉山商業銀行</c:v>
                </c:pt>
                <c:pt idx="2">
                  <c:v>台北富邦商業銀行</c:v>
                </c:pt>
                <c:pt idx="3">
                  <c:v>國泰世華商業銀行</c:v>
                </c:pt>
                <c:pt idx="4">
                  <c:v>台新國際商業銀行</c:v>
                </c:pt>
                <c:pt idx="5">
                  <c:v>星展(台灣)商業銀行</c:v>
                </c:pt>
                <c:pt idx="6">
                  <c:v>聯邦商業銀行</c:v>
                </c:pt>
                <c:pt idx="7">
                  <c:v>永豐商業銀行</c:v>
                </c:pt>
                <c:pt idx="8">
                  <c:v>第一商業銀行</c:v>
                </c:pt>
                <c:pt idx="9">
                  <c:v>遠東國際商業銀行</c:v>
                </c:pt>
              </c:strCache>
            </c:strRef>
          </c:cat>
          <c:val>
            <c:numRef>
              <c:f>Sheet1!$F$2:$F$11</c:f>
              <c:numCache>
                <c:formatCode>General</c:formatCode>
                <c:ptCount val="10"/>
                <c:pt idx="0">
                  <c:v>15.2003</c:v>
                </c:pt>
                <c:pt idx="1">
                  <c:v>14.3456</c:v>
                </c:pt>
                <c:pt idx="2">
                  <c:v>12.4715</c:v>
                </c:pt>
                <c:pt idx="3">
                  <c:v>12.1352</c:v>
                </c:pt>
                <c:pt idx="4">
                  <c:v>11.0708</c:v>
                </c:pt>
                <c:pt idx="5">
                  <c:v>5.5278</c:v>
                </c:pt>
                <c:pt idx="6">
                  <c:v>4.6047</c:v>
                </c:pt>
                <c:pt idx="7">
                  <c:v>3.9886</c:v>
                </c:pt>
                <c:pt idx="8">
                  <c:v>2.5054</c:v>
                </c:pt>
                <c:pt idx="9">
                  <c:v>2.276</c:v>
                </c:pt>
              </c:numCache>
            </c:numRef>
          </c:val>
        </c:ser>
        <c:ser>
          <c:idx val="5"/>
          <c:order val="5"/>
          <c:tx>
            <c:strRef>
              <c:f>Sheet1!$G$1</c:f>
              <c:strCache>
                <c:ptCount val="1"/>
                <c:pt idx="0">
                  <c:v>11406</c:v>
                </c:pt>
              </c:strCache>
            </c:strRef>
          </c:tx>
          <c:cat>
            <c:strRef>
              <c:f>Sheet1!$A$2:$A$11</c:f>
              <c:strCache>
                <c:ptCount val="10"/>
                <c:pt idx="0">
                  <c:v>中國信託商業銀行</c:v>
                </c:pt>
                <c:pt idx="1">
                  <c:v>玉山商業銀行</c:v>
                </c:pt>
                <c:pt idx="2">
                  <c:v>台北富邦商業銀行</c:v>
                </c:pt>
                <c:pt idx="3">
                  <c:v>國泰世華商業銀行</c:v>
                </c:pt>
                <c:pt idx="4">
                  <c:v>台新國際商業銀行</c:v>
                </c:pt>
                <c:pt idx="5">
                  <c:v>星展(台灣)商業銀行</c:v>
                </c:pt>
                <c:pt idx="6">
                  <c:v>聯邦商業銀行</c:v>
                </c:pt>
                <c:pt idx="7">
                  <c:v>永豐商業銀行</c:v>
                </c:pt>
                <c:pt idx="8">
                  <c:v>第一商業銀行</c:v>
                </c:pt>
                <c:pt idx="9">
                  <c:v>遠東國際商業銀行</c:v>
                </c:pt>
              </c:strCache>
            </c:strRef>
          </c:cat>
          <c:val>
            <c:numRef>
              <c:f>Sheet1!$G$2:$G$11</c:f>
              <c:numCache>
                <c:formatCode>General</c:formatCode>
                <c:ptCount val="10"/>
                <c:pt idx="0">
                  <c:v>15.0879</c:v>
                </c:pt>
                <c:pt idx="1">
                  <c:v>14.5391</c:v>
                </c:pt>
                <c:pt idx="2">
                  <c:v>12.3877</c:v>
                </c:pt>
                <c:pt idx="3">
                  <c:v>12.1571</c:v>
                </c:pt>
                <c:pt idx="4">
                  <c:v>11.064</c:v>
                </c:pt>
                <c:pt idx="5">
                  <c:v>5.5282</c:v>
                </c:pt>
                <c:pt idx="6">
                  <c:v>4.5975</c:v>
                </c:pt>
                <c:pt idx="7">
                  <c:v>4.0058</c:v>
                </c:pt>
                <c:pt idx="8">
                  <c:v>2.5095</c:v>
                </c:pt>
                <c:pt idx="9">
                  <c:v>2.2717</c:v>
                </c:pt>
              </c:numCache>
            </c:numRef>
          </c:val>
        </c:ser>
        <c:ser>
          <c:idx val="6"/>
          <c:order val="6"/>
          <c:tx>
            <c:strRef>
              <c:f>Sheet1!$H$1</c:f>
              <c:strCache>
                <c:ptCount val="1"/>
                <c:pt idx="0">
                  <c:v>11407</c:v>
                </c:pt>
              </c:strCache>
            </c:strRef>
          </c:tx>
          <c:cat>
            <c:strRef>
              <c:f>Sheet1!$A$2:$A$11</c:f>
              <c:strCache>
                <c:ptCount val="10"/>
                <c:pt idx="0">
                  <c:v>中國信託商業銀行</c:v>
                </c:pt>
                <c:pt idx="1">
                  <c:v>玉山商業銀行</c:v>
                </c:pt>
                <c:pt idx="2">
                  <c:v>台北富邦商業銀行</c:v>
                </c:pt>
                <c:pt idx="3">
                  <c:v>國泰世華商業銀行</c:v>
                </c:pt>
                <c:pt idx="4">
                  <c:v>台新國際商業銀行</c:v>
                </c:pt>
                <c:pt idx="5">
                  <c:v>星展(台灣)商業銀行</c:v>
                </c:pt>
                <c:pt idx="6">
                  <c:v>聯邦商業銀行</c:v>
                </c:pt>
                <c:pt idx="7">
                  <c:v>永豐商業銀行</c:v>
                </c:pt>
                <c:pt idx="8">
                  <c:v>第一商業銀行</c:v>
                </c:pt>
                <c:pt idx="9">
                  <c:v>遠東國際商業銀行</c:v>
                </c:pt>
              </c:strCache>
            </c:strRef>
          </c:cat>
          <c:val>
            <c:numRef>
              <c:f>Sheet1!$H$2:$H$11</c:f>
              <c:numCache>
                <c:formatCode>General</c:formatCode>
                <c:ptCount val="10"/>
                <c:pt idx="0">
                  <c:v>14.9955</c:v>
                </c:pt>
                <c:pt idx="1">
                  <c:v>14.5726</c:v>
                </c:pt>
                <c:pt idx="2">
                  <c:v>12.4129</c:v>
                </c:pt>
                <c:pt idx="3">
                  <c:v>12.1785</c:v>
                </c:pt>
                <c:pt idx="4">
                  <c:v>11.0524</c:v>
                </c:pt>
                <c:pt idx="5">
                  <c:v>5.5284</c:v>
                </c:pt>
                <c:pt idx="6">
                  <c:v>4.6033</c:v>
                </c:pt>
                <c:pt idx="7">
                  <c:v>4.0328</c:v>
                </c:pt>
                <c:pt idx="8">
                  <c:v>2.5172</c:v>
                </c:pt>
                <c:pt idx="9">
                  <c:v>2.2704</c:v>
                </c:pt>
              </c:numCache>
            </c:numRef>
          </c:val>
        </c:ser>
        <c:ser>
          <c:idx val="7"/>
          <c:order val="7"/>
          <c:tx>
            <c:strRef>
              <c:f>Sheet1!$I$1</c:f>
              <c:strCache>
                <c:ptCount val="1"/>
                <c:pt idx="0">
                  <c:v>11408</c:v>
                </c:pt>
              </c:strCache>
            </c:strRef>
          </c:tx>
          <c:cat>
            <c:strRef>
              <c:f>Sheet1!$A$2:$A$11</c:f>
              <c:strCache>
                <c:ptCount val="10"/>
                <c:pt idx="0">
                  <c:v>中國信託商業銀行</c:v>
                </c:pt>
                <c:pt idx="1">
                  <c:v>玉山商業銀行</c:v>
                </c:pt>
                <c:pt idx="2">
                  <c:v>台北富邦商業銀行</c:v>
                </c:pt>
                <c:pt idx="3">
                  <c:v>國泰世華商業銀行</c:v>
                </c:pt>
                <c:pt idx="4">
                  <c:v>台新國際商業銀行</c:v>
                </c:pt>
                <c:pt idx="5">
                  <c:v>星展(台灣)商業銀行</c:v>
                </c:pt>
                <c:pt idx="6">
                  <c:v>聯邦商業銀行</c:v>
                </c:pt>
                <c:pt idx="7">
                  <c:v>永豐商業銀行</c:v>
                </c:pt>
                <c:pt idx="8">
                  <c:v>第一商業銀行</c:v>
                </c:pt>
                <c:pt idx="9">
                  <c:v>遠東國際商業銀行</c:v>
                </c:pt>
              </c:strCache>
            </c:strRef>
          </c:cat>
          <c:val>
            <c:numRef>
              <c:f>Sheet1!$I$2:$I$11</c:f>
              <c:numCache>
                <c:formatCode>General</c:formatCode>
                <c:ptCount val="10"/>
                <c:pt idx="0">
                  <c:v>15.1404</c:v>
                </c:pt>
                <c:pt idx="1">
                  <c:v>14.638</c:v>
                </c:pt>
                <c:pt idx="2">
                  <c:v>12.4129</c:v>
                </c:pt>
                <c:pt idx="3">
                  <c:v>12.1627</c:v>
                </c:pt>
                <c:pt idx="4">
                  <c:v>11.0195</c:v>
                </c:pt>
                <c:pt idx="5">
                  <c:v>5.5188</c:v>
                </c:pt>
                <c:pt idx="6">
                  <c:v>4.5875</c:v>
                </c:pt>
                <c:pt idx="7">
                  <c:v>4.0435</c:v>
                </c:pt>
                <c:pt idx="8">
                  <c:v>2.5199</c:v>
                </c:pt>
                <c:pt idx="9">
                  <c:v>2.1527</c:v>
                </c:pt>
              </c:numCache>
            </c:numRef>
          </c:val>
        </c:ser>
        <c:ser>
          <c:idx val="8"/>
          <c:order val="8"/>
          <c:tx>
            <c:strRef>
              <c:f>Sheet1!$J$1</c:f>
              <c:strCache>
                <c:ptCount val="1"/>
                <c:pt idx="0">
                  <c:v>11409</c:v>
                </c:pt>
              </c:strCache>
            </c:strRef>
          </c:tx>
          <c:cat>
            <c:strRef>
              <c:f>Sheet1!$A$2:$A$11</c:f>
              <c:strCache>
                <c:ptCount val="10"/>
                <c:pt idx="0">
                  <c:v>中國信託商業銀行</c:v>
                </c:pt>
                <c:pt idx="1">
                  <c:v>玉山商業銀行</c:v>
                </c:pt>
                <c:pt idx="2">
                  <c:v>台北富邦商業銀行</c:v>
                </c:pt>
                <c:pt idx="3">
                  <c:v>國泰世華商業銀行</c:v>
                </c:pt>
                <c:pt idx="4">
                  <c:v>台新國際商業銀行</c:v>
                </c:pt>
                <c:pt idx="5">
                  <c:v>星展(台灣)商業銀行</c:v>
                </c:pt>
                <c:pt idx="6">
                  <c:v>聯邦商業銀行</c:v>
                </c:pt>
                <c:pt idx="7">
                  <c:v>永豐商業銀行</c:v>
                </c:pt>
                <c:pt idx="8">
                  <c:v>第一商業銀行</c:v>
                </c:pt>
                <c:pt idx="9">
                  <c:v>遠東國際商業銀行</c:v>
                </c:pt>
              </c:strCache>
            </c:strRef>
          </c:cat>
          <c:val>
            <c:numRef>
              <c:f>Sheet1!$J$2:$J$11</c:f>
              <c:numCache>
                <c:formatCode>General</c:formatCode>
                <c:ptCount val="10"/>
                <c:pt idx="0">
                  <c:v>15.4181</c:v>
                </c:pt>
                <c:pt idx="1">
                  <c:v>14.5016</c:v>
                </c:pt>
                <c:pt idx="2">
                  <c:v>12.4078</c:v>
                </c:pt>
                <c:pt idx="3">
                  <c:v>12.1507</c:v>
                </c:pt>
                <c:pt idx="4">
                  <c:v>10.9836</c:v>
                </c:pt>
                <c:pt idx="5">
                  <c:v>5.4942</c:v>
                </c:pt>
                <c:pt idx="6">
                  <c:v>4.5672</c:v>
                </c:pt>
                <c:pt idx="7">
                  <c:v>4.0529</c:v>
                </c:pt>
                <c:pt idx="8">
                  <c:v>2.5203</c:v>
                </c:pt>
                <c:pt idx="9">
                  <c:v>2.145</c:v>
                </c:pt>
              </c:numCache>
            </c:numRef>
          </c:val>
        </c:ser>
        <c:ser>
          <c:idx val="9"/>
          <c:order val="9"/>
          <c:tx>
            <c:strRef>
              <c:f>Sheet1!$K$1</c:f>
              <c:strCache>
                <c:ptCount val="1"/>
                <c:pt idx="0">
                  <c:v>11410</c:v>
                </c:pt>
              </c:strCache>
            </c:strRef>
          </c:tx>
          <c:cat>
            <c:strRef>
              <c:f>Sheet1!$A$2:$A$11</c:f>
              <c:strCache>
                <c:ptCount val="10"/>
                <c:pt idx="0">
                  <c:v>中國信託商業銀行</c:v>
                </c:pt>
                <c:pt idx="1">
                  <c:v>玉山商業銀行</c:v>
                </c:pt>
                <c:pt idx="2">
                  <c:v>台北富邦商業銀行</c:v>
                </c:pt>
                <c:pt idx="3">
                  <c:v>國泰世華商業銀行</c:v>
                </c:pt>
                <c:pt idx="4">
                  <c:v>台新國際商業銀行</c:v>
                </c:pt>
                <c:pt idx="5">
                  <c:v>星展(台灣)商業銀行</c:v>
                </c:pt>
                <c:pt idx="6">
                  <c:v>聯邦商業銀行</c:v>
                </c:pt>
                <c:pt idx="7">
                  <c:v>永豐商業銀行</c:v>
                </c:pt>
                <c:pt idx="8">
                  <c:v>第一商業銀行</c:v>
                </c:pt>
                <c:pt idx="9">
                  <c:v>遠東國際商業銀行</c:v>
                </c:pt>
              </c:strCache>
            </c:strRef>
          </c:cat>
          <c:val>
            <c:numRef>
              <c:f>Sheet1!$K$2:$K$11</c:f>
              <c:numCache>
                <c:formatCode>General</c:formatCode>
                <c:ptCount val="10"/>
                <c:pt idx="0">
                  <c:v>15.4807</c:v>
                </c:pt>
                <c:pt idx="1">
                  <c:v>14.4395</c:v>
                </c:pt>
                <c:pt idx="2">
                  <c:v>12.3866</c:v>
                </c:pt>
                <c:pt idx="3">
                  <c:v>12.1484</c:v>
                </c:pt>
                <c:pt idx="4">
                  <c:v>10.9651</c:v>
                </c:pt>
                <c:pt idx="5">
                  <c:v>5.5317</c:v>
                </c:pt>
                <c:pt idx="6">
                  <c:v>4.5504</c:v>
                </c:pt>
                <c:pt idx="7">
                  <c:v>4.0646</c:v>
                </c:pt>
                <c:pt idx="8">
                  <c:v>2.5223</c:v>
                </c:pt>
                <c:pt idx="9">
                  <c:v>2.1392</c:v>
                </c:pt>
              </c:numCache>
            </c:numRef>
          </c:val>
        </c:ser>
        <c:ser>
          <c:idx val="10"/>
          <c:order val="10"/>
          <c:tx>
            <c:strRef>
              <c:f>Sheet1!$L$1</c:f>
              <c:strCache>
                <c:ptCount val="1"/>
                <c:pt idx="0">
                  <c:v>11411</c:v>
                </c:pt>
              </c:strCache>
            </c:strRef>
          </c:tx>
          <c:cat>
            <c:strRef>
              <c:f>Sheet1!$A$2:$A$11</c:f>
              <c:strCache>
                <c:ptCount val="10"/>
                <c:pt idx="0">
                  <c:v>中國信託商業銀行</c:v>
                </c:pt>
                <c:pt idx="1">
                  <c:v>玉山商業銀行</c:v>
                </c:pt>
                <c:pt idx="2">
                  <c:v>台北富邦商業銀行</c:v>
                </c:pt>
                <c:pt idx="3">
                  <c:v>國泰世華商業銀行</c:v>
                </c:pt>
                <c:pt idx="4">
                  <c:v>台新國際商業銀行</c:v>
                </c:pt>
                <c:pt idx="5">
                  <c:v>星展(台灣)商業銀行</c:v>
                </c:pt>
                <c:pt idx="6">
                  <c:v>聯邦商業銀行</c:v>
                </c:pt>
                <c:pt idx="7">
                  <c:v>永豐商業銀行</c:v>
                </c:pt>
                <c:pt idx="8">
                  <c:v>第一商業銀行</c:v>
                </c:pt>
                <c:pt idx="9">
                  <c:v>遠東國際商業銀行</c:v>
                </c:pt>
              </c:strCache>
            </c:strRef>
          </c:cat>
          <c:val>
            <c:numRef>
              <c:f>Sheet1!$L$2:$L$11</c:f>
              <c:numCache>
                <c:formatCode>General</c:formatCode>
                <c:ptCount val="10"/>
                <c:pt idx="0">
                  <c:v>15.5622</c:v>
                </c:pt>
                <c:pt idx="1">
                  <c:v>14.4091</c:v>
                </c:pt>
                <c:pt idx="2">
                  <c:v>12.1952</c:v>
                </c:pt>
                <c:pt idx="3">
                  <c:v>12.2112</c:v>
                </c:pt>
                <c:pt idx="4">
                  <c:v>10.9774</c:v>
                </c:pt>
                <c:pt idx="5">
                  <c:v>5.5543</c:v>
                </c:pt>
                <c:pt idx="6">
                  <c:v>4.5088</c:v>
                </c:pt>
                <c:pt idx="7">
                  <c:v>4.0846</c:v>
                </c:pt>
                <c:pt idx="8">
                  <c:v>2.5303</c:v>
                </c:pt>
                <c:pt idx="9">
                  <c:v>2.1391</c:v>
                </c:pt>
              </c:numCache>
            </c:numRef>
          </c:val>
        </c:ser>
        <c:ser>
          <c:idx val="11"/>
          <c:order val="11"/>
          <c:tx>
            <c:strRef>
              <c:f>Sheet1!$M$1</c:f>
              <c:strCache>
                <c:ptCount val="1"/>
                <c:pt idx="0">
                  <c:v>11412</c:v>
                </c:pt>
              </c:strCache>
            </c:strRef>
          </c:tx>
          <c:cat>
            <c:strRef>
              <c:f>Sheet1!$A$2:$A$11</c:f>
              <c:strCache>
                <c:ptCount val="10"/>
                <c:pt idx="0">
                  <c:v>中國信託商業銀行</c:v>
                </c:pt>
                <c:pt idx="1">
                  <c:v>玉山商業銀行</c:v>
                </c:pt>
                <c:pt idx="2">
                  <c:v>台北富邦商業銀行</c:v>
                </c:pt>
                <c:pt idx="3">
                  <c:v>國泰世華商業銀行</c:v>
                </c:pt>
                <c:pt idx="4">
                  <c:v>台新國際商業銀行</c:v>
                </c:pt>
                <c:pt idx="5">
                  <c:v>星展(台灣)商業銀行</c:v>
                </c:pt>
                <c:pt idx="6">
                  <c:v>聯邦商業銀行</c:v>
                </c:pt>
                <c:pt idx="7">
                  <c:v>永豐商業銀行</c:v>
                </c:pt>
                <c:pt idx="8">
                  <c:v>第一商業銀行</c:v>
                </c:pt>
                <c:pt idx="9">
                  <c:v>遠東國際商業銀行</c:v>
                </c:pt>
              </c:strCache>
            </c:strRef>
          </c:cat>
          <c:val>
            <c:numRef>
              <c:f>Sheet1!$M$2:$M$11</c:f>
              <c:numCache>
                <c:formatCode>General</c:formatCode>
                <c:ptCount val="10"/>
                <c:pt idx="0">
                  <c:v>15.6369</c:v>
                </c:pt>
                <c:pt idx="1">
                  <c:v>14.463</c:v>
                </c:pt>
                <c:pt idx="2">
                  <c:v>12.2196</c:v>
                </c:pt>
                <c:pt idx="3">
                  <c:v>12.1305</c:v>
                </c:pt>
                <c:pt idx="4">
                  <c:v>10.9661</c:v>
                </c:pt>
                <c:pt idx="5">
                  <c:v>5.4964</c:v>
                </c:pt>
                <c:pt idx="6">
                  <c:v>4.5164</c:v>
                </c:pt>
                <c:pt idx="7">
                  <c:v>4.0978</c:v>
                </c:pt>
                <c:pt idx="8">
                  <c:v>2.5316</c:v>
                </c:pt>
                <c:pt idx="9">
                  <c:v>2.1328</c:v>
                </c:pt>
              </c:numCache>
            </c:numRef>
          </c:val>
        </c:ser>
        <c:axId val="-2068027336"/>
        <c:axId val="-2113994440"/>
      </c:barChart>
      <c:catAx>
        <c:axId val="-2068027336"/>
        <c:scaling>
          <c:orientation val="minMax"/>
        </c:scaling>
        <c:delete val="0"/>
        <c:axPos val="l"/>
        <c:majorTickMark val="out"/>
        <c:minorTickMark val="none"/>
        <c:tickLblPos val="nextTo"/>
        <c:crossAx val="-2113994440"/>
        <c:crosses val="autoZero"/>
        <c:auto val="1"/>
        <c:lblAlgn val="ctr"/>
        <c:lblOffset val="100"/>
        <c:noMultiLvlLbl val="0"/>
      </c:catAx>
      <c:valAx>
        <c:axId val="-2113994440"/>
        <c:scaling/>
        <c:delete val="0"/>
        <c:axPos val="b"/>
        <c:majorGridlines/>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title>
      <c:tx>
        <c:rich>
          <a:bodyPr/>
          <a:lstStyle/>
          <a:p>
            <a:r>
              <a:t>台新銀行有效卡數市場占比與同業競爭力分析</a:t>
            </a:r>
          </a:p>
        </c:rich>
      </c:tx>
      <c:layout/>
      <c:overlay val="0"/>
    </c:title>
    <c:autoTitleDeleted val="0"/>
    <c:plotArea>
      <c:barChart>
        <c:barDir val="bar"/>
        <c:grouping val="clustered"/>
        <c:ser>
          <c:idx val="0"/>
          <c:order val="0"/>
          <c:tx>
            <c:strRef>
              <c:f>Sheet1!$B$1</c:f>
              <c:strCache>
                <c:ptCount val="1"/>
                <c:pt idx="0">
                  <c:v>11401</c:v>
                </c:pt>
              </c:strCache>
            </c:strRef>
          </c:tx>
          <c:cat>
            <c:strRef>
              <c:f>Sheet1!$A$2:$A$11</c:f>
              <c:strCache>
                <c:ptCount val="10"/>
                <c:pt idx="0">
                  <c:v>中國信託商業銀行</c:v>
                </c:pt>
                <c:pt idx="1">
                  <c:v>台北富邦商業銀行</c:v>
                </c:pt>
                <c:pt idx="2">
                  <c:v>玉山商業銀行</c:v>
                </c:pt>
                <c:pt idx="3">
                  <c:v>國泰世華商業銀行</c:v>
                </c:pt>
                <c:pt idx="4">
                  <c:v>台新國際商業銀行</c:v>
                </c:pt>
                <c:pt idx="5">
                  <c:v>星展(台灣)商業銀行</c:v>
                </c:pt>
                <c:pt idx="6">
                  <c:v>聯邦商業銀行</c:v>
                </c:pt>
                <c:pt idx="7">
                  <c:v>永豐商業銀行</c:v>
                </c:pt>
                <c:pt idx="8">
                  <c:v>第一商業銀行</c:v>
                </c:pt>
                <c:pt idx="9">
                  <c:v>遠東國際商業銀行</c:v>
                </c:pt>
              </c:strCache>
            </c:strRef>
          </c:cat>
          <c:val>
            <c:numRef>
              <c:f>Sheet1!$B$2:$B$11</c:f>
              <c:numCache>
                <c:formatCode>General</c:formatCode>
                <c:ptCount val="10"/>
                <c:pt idx="0">
                  <c:v>15.3463</c:v>
                </c:pt>
                <c:pt idx="1">
                  <c:v>14.7086</c:v>
                </c:pt>
                <c:pt idx="2">
                  <c:v>12.7141</c:v>
                </c:pt>
                <c:pt idx="3">
                  <c:v>12.7934</c:v>
                </c:pt>
                <c:pt idx="4">
                  <c:v>12.3922</c:v>
                </c:pt>
                <c:pt idx="5">
                  <c:v>5.2594</c:v>
                </c:pt>
                <c:pt idx="6">
                  <c:v>4.7767</c:v>
                </c:pt>
                <c:pt idx="7">
                  <c:v>3.6013</c:v>
                </c:pt>
                <c:pt idx="8">
                  <c:v>2.3916</c:v>
                </c:pt>
                <c:pt idx="9">
                  <c:v>2.4242</c:v>
                </c:pt>
              </c:numCache>
            </c:numRef>
          </c:val>
        </c:ser>
        <c:ser>
          <c:idx val="1"/>
          <c:order val="1"/>
          <c:tx>
            <c:strRef>
              <c:f>Sheet1!$C$1</c:f>
              <c:strCache>
                <c:ptCount val="1"/>
                <c:pt idx="0">
                  <c:v>11402</c:v>
                </c:pt>
              </c:strCache>
            </c:strRef>
          </c:tx>
          <c:cat>
            <c:strRef>
              <c:f>Sheet1!$A$2:$A$11</c:f>
              <c:strCache>
                <c:ptCount val="10"/>
                <c:pt idx="0">
                  <c:v>中國信託商業銀行</c:v>
                </c:pt>
                <c:pt idx="1">
                  <c:v>台北富邦商業銀行</c:v>
                </c:pt>
                <c:pt idx="2">
                  <c:v>玉山商業銀行</c:v>
                </c:pt>
                <c:pt idx="3">
                  <c:v>國泰世華商業銀行</c:v>
                </c:pt>
                <c:pt idx="4">
                  <c:v>台新國際商業銀行</c:v>
                </c:pt>
                <c:pt idx="5">
                  <c:v>星展(台灣)商業銀行</c:v>
                </c:pt>
                <c:pt idx="6">
                  <c:v>聯邦商業銀行</c:v>
                </c:pt>
                <c:pt idx="7">
                  <c:v>永豐商業銀行</c:v>
                </c:pt>
                <c:pt idx="8">
                  <c:v>第一商業銀行</c:v>
                </c:pt>
                <c:pt idx="9">
                  <c:v>遠東國際商業銀行</c:v>
                </c:pt>
              </c:strCache>
            </c:strRef>
          </c:cat>
          <c:val>
            <c:numRef>
              <c:f>Sheet1!$C$2:$C$11</c:f>
              <c:numCache>
                <c:formatCode>General</c:formatCode>
                <c:ptCount val="10"/>
                <c:pt idx="0">
                  <c:v>15.3384</c:v>
                </c:pt>
                <c:pt idx="1">
                  <c:v>14.7094</c:v>
                </c:pt>
                <c:pt idx="2">
                  <c:v>12.7094</c:v>
                </c:pt>
                <c:pt idx="3">
                  <c:v>12.8006</c:v>
                </c:pt>
                <c:pt idx="4">
                  <c:v>12.3684</c:v>
                </c:pt>
                <c:pt idx="5">
                  <c:v>5.2091</c:v>
                </c:pt>
                <c:pt idx="6">
                  <c:v>4.7527</c:v>
                </c:pt>
                <c:pt idx="7">
                  <c:v>3.7296</c:v>
                </c:pt>
                <c:pt idx="8">
                  <c:v>2.399</c:v>
                </c:pt>
                <c:pt idx="9">
                  <c:v>2.4183</c:v>
                </c:pt>
              </c:numCache>
            </c:numRef>
          </c:val>
        </c:ser>
        <c:ser>
          <c:idx val="2"/>
          <c:order val="2"/>
          <c:tx>
            <c:strRef>
              <c:f>Sheet1!$D$1</c:f>
              <c:strCache>
                <c:ptCount val="1"/>
                <c:pt idx="0">
                  <c:v>11403</c:v>
                </c:pt>
              </c:strCache>
            </c:strRef>
          </c:tx>
          <c:cat>
            <c:strRef>
              <c:f>Sheet1!$A$2:$A$11</c:f>
              <c:strCache>
                <c:ptCount val="10"/>
                <c:pt idx="0">
                  <c:v>中國信託商業銀行</c:v>
                </c:pt>
                <c:pt idx="1">
                  <c:v>台北富邦商業銀行</c:v>
                </c:pt>
                <c:pt idx="2">
                  <c:v>玉山商業銀行</c:v>
                </c:pt>
                <c:pt idx="3">
                  <c:v>國泰世華商業銀行</c:v>
                </c:pt>
                <c:pt idx="4">
                  <c:v>台新國際商業銀行</c:v>
                </c:pt>
                <c:pt idx="5">
                  <c:v>星展(台灣)商業銀行</c:v>
                </c:pt>
                <c:pt idx="6">
                  <c:v>聯邦商業銀行</c:v>
                </c:pt>
                <c:pt idx="7">
                  <c:v>永豐商業銀行</c:v>
                </c:pt>
                <c:pt idx="8">
                  <c:v>第一商業銀行</c:v>
                </c:pt>
                <c:pt idx="9">
                  <c:v>遠東國際商業銀行</c:v>
                </c:pt>
              </c:strCache>
            </c:strRef>
          </c:cat>
          <c:val>
            <c:numRef>
              <c:f>Sheet1!$D$2:$D$11</c:f>
              <c:numCache>
                <c:formatCode>General</c:formatCode>
                <c:ptCount val="10"/>
                <c:pt idx="0">
                  <c:v>15.3444</c:v>
                </c:pt>
                <c:pt idx="1">
                  <c:v>14.7278</c:v>
                </c:pt>
                <c:pt idx="2">
                  <c:v>12.655</c:v>
                </c:pt>
                <c:pt idx="3">
                  <c:v>12.8386</c:v>
                </c:pt>
                <c:pt idx="4">
                  <c:v>12.3485</c:v>
                </c:pt>
                <c:pt idx="5">
                  <c:v>5.1994</c:v>
                </c:pt>
                <c:pt idx="6">
                  <c:v>4.7321</c:v>
                </c:pt>
                <c:pt idx="7">
                  <c:v>3.7816</c:v>
                </c:pt>
                <c:pt idx="8">
                  <c:v>2.4057</c:v>
                </c:pt>
                <c:pt idx="9">
                  <c:v>2.4127</c:v>
                </c:pt>
              </c:numCache>
            </c:numRef>
          </c:val>
        </c:ser>
        <c:ser>
          <c:idx val="3"/>
          <c:order val="3"/>
          <c:tx>
            <c:strRef>
              <c:f>Sheet1!$E$1</c:f>
              <c:strCache>
                <c:ptCount val="1"/>
                <c:pt idx="0">
                  <c:v>11404</c:v>
                </c:pt>
              </c:strCache>
            </c:strRef>
          </c:tx>
          <c:cat>
            <c:strRef>
              <c:f>Sheet1!$A$2:$A$11</c:f>
              <c:strCache>
                <c:ptCount val="10"/>
                <c:pt idx="0">
                  <c:v>中國信託商業銀行</c:v>
                </c:pt>
                <c:pt idx="1">
                  <c:v>台北富邦商業銀行</c:v>
                </c:pt>
                <c:pt idx="2">
                  <c:v>玉山商業銀行</c:v>
                </c:pt>
                <c:pt idx="3">
                  <c:v>國泰世華商業銀行</c:v>
                </c:pt>
                <c:pt idx="4">
                  <c:v>台新國際商業銀行</c:v>
                </c:pt>
                <c:pt idx="5">
                  <c:v>星展(台灣)商業銀行</c:v>
                </c:pt>
                <c:pt idx="6">
                  <c:v>聯邦商業銀行</c:v>
                </c:pt>
                <c:pt idx="7">
                  <c:v>永豐商業銀行</c:v>
                </c:pt>
                <c:pt idx="8">
                  <c:v>第一商業銀行</c:v>
                </c:pt>
                <c:pt idx="9">
                  <c:v>遠東國際商業銀行</c:v>
                </c:pt>
              </c:strCache>
            </c:strRef>
          </c:cat>
          <c:val>
            <c:numRef>
              <c:f>Sheet1!$E$2:$E$11</c:f>
              <c:numCache>
                <c:formatCode>General</c:formatCode>
                <c:ptCount val="10"/>
                <c:pt idx="0">
                  <c:v>15.3406</c:v>
                </c:pt>
                <c:pt idx="1">
                  <c:v>14.7129</c:v>
                </c:pt>
                <c:pt idx="2">
                  <c:v>12.8337</c:v>
                </c:pt>
                <c:pt idx="3">
                  <c:v>12.8494</c:v>
                </c:pt>
                <c:pt idx="4">
                  <c:v>12.3125</c:v>
                </c:pt>
                <c:pt idx="5">
                  <c:v>5.1686</c:v>
                </c:pt>
                <c:pt idx="6">
                  <c:v>4.7088</c:v>
                </c:pt>
                <c:pt idx="7">
                  <c:v>3.7932</c:v>
                </c:pt>
                <c:pt idx="8">
                  <c:v>2.4011</c:v>
                </c:pt>
                <c:pt idx="9">
                  <c:v>2.3968</c:v>
                </c:pt>
              </c:numCache>
            </c:numRef>
          </c:val>
        </c:ser>
        <c:ser>
          <c:idx val="4"/>
          <c:order val="4"/>
          <c:tx>
            <c:strRef>
              <c:f>Sheet1!$F$1</c:f>
              <c:strCache>
                <c:ptCount val="1"/>
                <c:pt idx="0">
                  <c:v>11405</c:v>
                </c:pt>
              </c:strCache>
            </c:strRef>
          </c:tx>
          <c:cat>
            <c:strRef>
              <c:f>Sheet1!$A$2:$A$11</c:f>
              <c:strCache>
                <c:ptCount val="10"/>
                <c:pt idx="0">
                  <c:v>中國信託商業銀行</c:v>
                </c:pt>
                <c:pt idx="1">
                  <c:v>台北富邦商業銀行</c:v>
                </c:pt>
                <c:pt idx="2">
                  <c:v>玉山商業銀行</c:v>
                </c:pt>
                <c:pt idx="3">
                  <c:v>國泰世華商業銀行</c:v>
                </c:pt>
                <c:pt idx="4">
                  <c:v>台新國際商業銀行</c:v>
                </c:pt>
                <c:pt idx="5">
                  <c:v>星展(台灣)商業銀行</c:v>
                </c:pt>
                <c:pt idx="6">
                  <c:v>聯邦商業銀行</c:v>
                </c:pt>
                <c:pt idx="7">
                  <c:v>永豐商業銀行</c:v>
                </c:pt>
                <c:pt idx="8">
                  <c:v>第一商業銀行</c:v>
                </c:pt>
                <c:pt idx="9">
                  <c:v>遠東國際商業銀行</c:v>
                </c:pt>
              </c:strCache>
            </c:strRef>
          </c:cat>
          <c:val>
            <c:numRef>
              <c:f>Sheet1!$F$2:$F$11</c:f>
              <c:numCache>
                <c:formatCode>General</c:formatCode>
                <c:ptCount val="10"/>
                <c:pt idx="0">
                  <c:v>15.3341</c:v>
                </c:pt>
                <c:pt idx="1">
                  <c:v>14.6586</c:v>
                </c:pt>
                <c:pt idx="2">
                  <c:v>13.0901</c:v>
                </c:pt>
                <c:pt idx="3">
                  <c:v>12.8515</c:v>
                </c:pt>
                <c:pt idx="4">
                  <c:v>12.2863</c:v>
                </c:pt>
                <c:pt idx="5">
                  <c:v>5.1487</c:v>
                </c:pt>
                <c:pt idx="6">
                  <c:v>4.6773</c:v>
                </c:pt>
                <c:pt idx="7">
                  <c:v>3.7989</c:v>
                </c:pt>
                <c:pt idx="8">
                  <c:v>2.3909</c:v>
                </c:pt>
                <c:pt idx="9">
                  <c:v>2.3841</c:v>
                </c:pt>
              </c:numCache>
            </c:numRef>
          </c:val>
        </c:ser>
        <c:ser>
          <c:idx val="5"/>
          <c:order val="5"/>
          <c:tx>
            <c:strRef>
              <c:f>Sheet1!$G$1</c:f>
              <c:strCache>
                <c:ptCount val="1"/>
                <c:pt idx="0">
                  <c:v>11406</c:v>
                </c:pt>
              </c:strCache>
            </c:strRef>
          </c:tx>
          <c:cat>
            <c:strRef>
              <c:f>Sheet1!$A$2:$A$11</c:f>
              <c:strCache>
                <c:ptCount val="10"/>
                <c:pt idx="0">
                  <c:v>中國信託商業銀行</c:v>
                </c:pt>
                <c:pt idx="1">
                  <c:v>台北富邦商業銀行</c:v>
                </c:pt>
                <c:pt idx="2">
                  <c:v>玉山商業銀行</c:v>
                </c:pt>
                <c:pt idx="3">
                  <c:v>國泰世華商業銀行</c:v>
                </c:pt>
                <c:pt idx="4">
                  <c:v>台新國際商業銀行</c:v>
                </c:pt>
                <c:pt idx="5">
                  <c:v>星展(台灣)商業銀行</c:v>
                </c:pt>
                <c:pt idx="6">
                  <c:v>聯邦商業銀行</c:v>
                </c:pt>
                <c:pt idx="7">
                  <c:v>永豐商業銀行</c:v>
                </c:pt>
                <c:pt idx="8">
                  <c:v>第一商業銀行</c:v>
                </c:pt>
                <c:pt idx="9">
                  <c:v>遠東國際商業銀行</c:v>
                </c:pt>
              </c:strCache>
            </c:strRef>
          </c:cat>
          <c:val>
            <c:numRef>
              <c:f>Sheet1!$G$2:$G$11</c:f>
              <c:numCache>
                <c:formatCode>General</c:formatCode>
                <c:ptCount val="10"/>
                <c:pt idx="0">
                  <c:v>15.3002</c:v>
                </c:pt>
                <c:pt idx="1">
                  <c:v>14.5524</c:v>
                </c:pt>
                <c:pt idx="2">
                  <c:v>13.3623</c:v>
                </c:pt>
                <c:pt idx="3">
                  <c:v>12.8663</c:v>
                </c:pt>
                <c:pt idx="4">
                  <c:v>12.3021</c:v>
                </c:pt>
                <c:pt idx="5">
                  <c:v>5.1272</c:v>
                </c:pt>
                <c:pt idx="6">
                  <c:v>4.6607</c:v>
                </c:pt>
                <c:pt idx="7">
                  <c:v>3.7954</c:v>
                </c:pt>
                <c:pt idx="8">
                  <c:v>2.3893</c:v>
                </c:pt>
                <c:pt idx="9">
                  <c:v>2.3604</c:v>
                </c:pt>
              </c:numCache>
            </c:numRef>
          </c:val>
        </c:ser>
        <c:ser>
          <c:idx val="6"/>
          <c:order val="6"/>
          <c:tx>
            <c:strRef>
              <c:f>Sheet1!$H$1</c:f>
              <c:strCache>
                <c:ptCount val="1"/>
                <c:pt idx="0">
                  <c:v>11407</c:v>
                </c:pt>
              </c:strCache>
            </c:strRef>
          </c:tx>
          <c:cat>
            <c:strRef>
              <c:f>Sheet1!$A$2:$A$11</c:f>
              <c:strCache>
                <c:ptCount val="10"/>
                <c:pt idx="0">
                  <c:v>中國信託商業銀行</c:v>
                </c:pt>
                <c:pt idx="1">
                  <c:v>台北富邦商業銀行</c:v>
                </c:pt>
                <c:pt idx="2">
                  <c:v>玉山商業銀行</c:v>
                </c:pt>
                <c:pt idx="3">
                  <c:v>國泰世華商業銀行</c:v>
                </c:pt>
                <c:pt idx="4">
                  <c:v>台新國際商業銀行</c:v>
                </c:pt>
                <c:pt idx="5">
                  <c:v>星展(台灣)商業銀行</c:v>
                </c:pt>
                <c:pt idx="6">
                  <c:v>聯邦商業銀行</c:v>
                </c:pt>
                <c:pt idx="7">
                  <c:v>永豐商業銀行</c:v>
                </c:pt>
                <c:pt idx="8">
                  <c:v>第一商業銀行</c:v>
                </c:pt>
                <c:pt idx="9">
                  <c:v>遠東國際商業銀行</c:v>
                </c:pt>
              </c:strCache>
            </c:strRef>
          </c:cat>
          <c:val>
            <c:numRef>
              <c:f>Sheet1!$H$2:$H$11</c:f>
              <c:numCache>
                <c:formatCode>General</c:formatCode>
                <c:ptCount val="10"/>
                <c:pt idx="0">
                  <c:v>15.3257</c:v>
                </c:pt>
                <c:pt idx="1">
                  <c:v>14.5427</c:v>
                </c:pt>
                <c:pt idx="2">
                  <c:v>13.5552</c:v>
                </c:pt>
                <c:pt idx="3">
                  <c:v>12.8624</c:v>
                </c:pt>
                <c:pt idx="4">
                  <c:v>12.2253</c:v>
                </c:pt>
                <c:pt idx="5">
                  <c:v>5.1073</c:v>
                </c:pt>
                <c:pt idx="6">
                  <c:v>4.6227</c:v>
                </c:pt>
                <c:pt idx="7">
                  <c:v>3.8197</c:v>
                </c:pt>
                <c:pt idx="8">
                  <c:v>2.3889</c:v>
                </c:pt>
                <c:pt idx="9">
                  <c:v>2.3452</c:v>
                </c:pt>
              </c:numCache>
            </c:numRef>
          </c:val>
        </c:ser>
        <c:ser>
          <c:idx val="7"/>
          <c:order val="7"/>
          <c:tx>
            <c:strRef>
              <c:f>Sheet1!$I$1</c:f>
              <c:strCache>
                <c:ptCount val="1"/>
                <c:pt idx="0">
                  <c:v>11408</c:v>
                </c:pt>
              </c:strCache>
            </c:strRef>
          </c:tx>
          <c:cat>
            <c:strRef>
              <c:f>Sheet1!$A$2:$A$11</c:f>
              <c:strCache>
                <c:ptCount val="10"/>
                <c:pt idx="0">
                  <c:v>中國信託商業銀行</c:v>
                </c:pt>
                <c:pt idx="1">
                  <c:v>台北富邦商業銀行</c:v>
                </c:pt>
                <c:pt idx="2">
                  <c:v>玉山商業銀行</c:v>
                </c:pt>
                <c:pt idx="3">
                  <c:v>國泰世華商業銀行</c:v>
                </c:pt>
                <c:pt idx="4">
                  <c:v>台新國際商業銀行</c:v>
                </c:pt>
                <c:pt idx="5">
                  <c:v>星展(台灣)商業銀行</c:v>
                </c:pt>
                <c:pt idx="6">
                  <c:v>聯邦商業銀行</c:v>
                </c:pt>
                <c:pt idx="7">
                  <c:v>永豐商業銀行</c:v>
                </c:pt>
                <c:pt idx="8">
                  <c:v>第一商業銀行</c:v>
                </c:pt>
                <c:pt idx="9">
                  <c:v>遠東國際商業銀行</c:v>
                </c:pt>
              </c:strCache>
            </c:strRef>
          </c:cat>
          <c:val>
            <c:numRef>
              <c:f>Sheet1!$I$2:$I$11</c:f>
              <c:numCache>
                <c:formatCode>General</c:formatCode>
                <c:ptCount val="10"/>
                <c:pt idx="0">
                  <c:v>15.3551</c:v>
                </c:pt>
                <c:pt idx="1">
                  <c:v>14.5229</c:v>
                </c:pt>
                <c:pt idx="2">
                  <c:v>13.5963</c:v>
                </c:pt>
                <c:pt idx="3">
                  <c:v>12.8725</c:v>
                </c:pt>
                <c:pt idx="4">
                  <c:v>12.2096</c:v>
                </c:pt>
                <c:pt idx="5">
                  <c:v>5.1268</c:v>
                </c:pt>
                <c:pt idx="6">
                  <c:v>4.6253</c:v>
                </c:pt>
                <c:pt idx="7">
                  <c:v>3.8201</c:v>
                </c:pt>
                <c:pt idx="8">
                  <c:v>2.3805</c:v>
                </c:pt>
                <c:pt idx="9">
                  <c:v>2.3208</c:v>
                </c:pt>
              </c:numCache>
            </c:numRef>
          </c:val>
        </c:ser>
        <c:ser>
          <c:idx val="8"/>
          <c:order val="8"/>
          <c:tx>
            <c:strRef>
              <c:f>Sheet1!$J$1</c:f>
              <c:strCache>
                <c:ptCount val="1"/>
                <c:pt idx="0">
                  <c:v>11409</c:v>
                </c:pt>
              </c:strCache>
            </c:strRef>
          </c:tx>
          <c:cat>
            <c:strRef>
              <c:f>Sheet1!$A$2:$A$11</c:f>
              <c:strCache>
                <c:ptCount val="10"/>
                <c:pt idx="0">
                  <c:v>中國信託商業銀行</c:v>
                </c:pt>
                <c:pt idx="1">
                  <c:v>台北富邦商業銀行</c:v>
                </c:pt>
                <c:pt idx="2">
                  <c:v>玉山商業銀行</c:v>
                </c:pt>
                <c:pt idx="3">
                  <c:v>國泰世華商業銀行</c:v>
                </c:pt>
                <c:pt idx="4">
                  <c:v>台新國際商業銀行</c:v>
                </c:pt>
                <c:pt idx="5">
                  <c:v>星展(台灣)商業銀行</c:v>
                </c:pt>
                <c:pt idx="6">
                  <c:v>聯邦商業銀行</c:v>
                </c:pt>
                <c:pt idx="7">
                  <c:v>永豐商業銀行</c:v>
                </c:pt>
                <c:pt idx="8">
                  <c:v>第一商業銀行</c:v>
                </c:pt>
                <c:pt idx="9">
                  <c:v>遠東國際商業銀行</c:v>
                </c:pt>
              </c:strCache>
            </c:strRef>
          </c:cat>
          <c:val>
            <c:numRef>
              <c:f>Sheet1!$J$2:$J$11</c:f>
              <c:numCache>
                <c:formatCode>General</c:formatCode>
                <c:ptCount val="10"/>
                <c:pt idx="0">
                  <c:v>15.8653</c:v>
                </c:pt>
                <c:pt idx="1">
                  <c:v>14.4412</c:v>
                </c:pt>
                <c:pt idx="2">
                  <c:v>13.5317</c:v>
                </c:pt>
                <c:pt idx="3">
                  <c:v>12.8652</c:v>
                </c:pt>
                <c:pt idx="4">
                  <c:v>12.0555</c:v>
                </c:pt>
                <c:pt idx="5">
                  <c:v>5.0934</c:v>
                </c:pt>
                <c:pt idx="6">
                  <c:v>4.6059</c:v>
                </c:pt>
                <c:pt idx="7">
                  <c:v>3.8046</c:v>
                </c:pt>
                <c:pt idx="8">
                  <c:v>2.3595</c:v>
                </c:pt>
                <c:pt idx="9">
                  <c:v>2.2893</c:v>
                </c:pt>
              </c:numCache>
            </c:numRef>
          </c:val>
        </c:ser>
        <c:ser>
          <c:idx val="9"/>
          <c:order val="9"/>
          <c:tx>
            <c:strRef>
              <c:f>Sheet1!$K$1</c:f>
              <c:strCache>
                <c:ptCount val="1"/>
                <c:pt idx="0">
                  <c:v>11410</c:v>
                </c:pt>
              </c:strCache>
            </c:strRef>
          </c:tx>
          <c:cat>
            <c:strRef>
              <c:f>Sheet1!$A$2:$A$11</c:f>
              <c:strCache>
                <c:ptCount val="10"/>
                <c:pt idx="0">
                  <c:v>中國信託商業銀行</c:v>
                </c:pt>
                <c:pt idx="1">
                  <c:v>台北富邦商業銀行</c:v>
                </c:pt>
                <c:pt idx="2">
                  <c:v>玉山商業銀行</c:v>
                </c:pt>
                <c:pt idx="3">
                  <c:v>國泰世華商業銀行</c:v>
                </c:pt>
                <c:pt idx="4">
                  <c:v>台新國際商業銀行</c:v>
                </c:pt>
                <c:pt idx="5">
                  <c:v>星展(台灣)商業銀行</c:v>
                </c:pt>
                <c:pt idx="6">
                  <c:v>聯邦商業銀行</c:v>
                </c:pt>
                <c:pt idx="7">
                  <c:v>永豐商業銀行</c:v>
                </c:pt>
                <c:pt idx="8">
                  <c:v>第一商業銀行</c:v>
                </c:pt>
                <c:pt idx="9">
                  <c:v>遠東國際商業銀行</c:v>
                </c:pt>
              </c:strCache>
            </c:strRef>
          </c:cat>
          <c:val>
            <c:numRef>
              <c:f>Sheet1!$K$2:$K$11</c:f>
              <c:numCache>
                <c:formatCode>General</c:formatCode>
                <c:ptCount val="10"/>
                <c:pt idx="0">
                  <c:v>16.1519</c:v>
                </c:pt>
                <c:pt idx="1">
                  <c:v>14.3824</c:v>
                </c:pt>
                <c:pt idx="2">
                  <c:v>13.4259</c:v>
                </c:pt>
                <c:pt idx="3">
                  <c:v>12.8464</c:v>
                </c:pt>
                <c:pt idx="4">
                  <c:v>12.0415</c:v>
                </c:pt>
                <c:pt idx="5">
                  <c:v>5.1169</c:v>
                </c:pt>
                <c:pt idx="6">
                  <c:v>4.5812</c:v>
                </c:pt>
                <c:pt idx="7">
                  <c:v>3.8105</c:v>
                </c:pt>
                <c:pt idx="8">
                  <c:v>2.3438</c:v>
                </c:pt>
                <c:pt idx="9">
                  <c:v>2.2678</c:v>
                </c:pt>
              </c:numCache>
            </c:numRef>
          </c:val>
        </c:ser>
        <c:ser>
          <c:idx val="10"/>
          <c:order val="10"/>
          <c:tx>
            <c:strRef>
              <c:f>Sheet1!$L$1</c:f>
              <c:strCache>
                <c:ptCount val="1"/>
                <c:pt idx="0">
                  <c:v>11411</c:v>
                </c:pt>
              </c:strCache>
            </c:strRef>
          </c:tx>
          <c:cat>
            <c:strRef>
              <c:f>Sheet1!$A$2:$A$11</c:f>
              <c:strCache>
                <c:ptCount val="10"/>
                <c:pt idx="0">
                  <c:v>中國信託商業銀行</c:v>
                </c:pt>
                <c:pt idx="1">
                  <c:v>台北富邦商業銀行</c:v>
                </c:pt>
                <c:pt idx="2">
                  <c:v>玉山商業銀行</c:v>
                </c:pt>
                <c:pt idx="3">
                  <c:v>國泰世華商業銀行</c:v>
                </c:pt>
                <c:pt idx="4">
                  <c:v>台新國際商業銀行</c:v>
                </c:pt>
                <c:pt idx="5">
                  <c:v>星展(台灣)商業銀行</c:v>
                </c:pt>
                <c:pt idx="6">
                  <c:v>聯邦商業銀行</c:v>
                </c:pt>
                <c:pt idx="7">
                  <c:v>永豐商業銀行</c:v>
                </c:pt>
                <c:pt idx="8">
                  <c:v>第一商業銀行</c:v>
                </c:pt>
                <c:pt idx="9">
                  <c:v>遠東國際商業銀行</c:v>
                </c:pt>
              </c:strCache>
            </c:strRef>
          </c:cat>
          <c:val>
            <c:numRef>
              <c:f>Sheet1!$L$2:$L$11</c:f>
              <c:numCache>
                <c:formatCode>General</c:formatCode>
                <c:ptCount val="10"/>
                <c:pt idx="0">
                  <c:v>16.313</c:v>
                </c:pt>
                <c:pt idx="1">
                  <c:v>14.4017</c:v>
                </c:pt>
                <c:pt idx="2">
                  <c:v>13.3133</c:v>
                </c:pt>
                <c:pt idx="3">
                  <c:v>12.8691</c:v>
                </c:pt>
                <c:pt idx="4">
                  <c:v>12.0127</c:v>
                </c:pt>
                <c:pt idx="5">
                  <c:v>5.115</c:v>
                </c:pt>
                <c:pt idx="6">
                  <c:v>4.575</c:v>
                </c:pt>
                <c:pt idx="7">
                  <c:v>3.8105</c:v>
                </c:pt>
                <c:pt idx="8">
                  <c:v>2.3442</c:v>
                </c:pt>
                <c:pt idx="9">
                  <c:v>2.2584</c:v>
                </c:pt>
              </c:numCache>
            </c:numRef>
          </c:val>
        </c:ser>
        <c:ser>
          <c:idx val="11"/>
          <c:order val="11"/>
          <c:tx>
            <c:strRef>
              <c:f>Sheet1!$M$1</c:f>
              <c:strCache>
                <c:ptCount val="1"/>
                <c:pt idx="0">
                  <c:v>11412</c:v>
                </c:pt>
              </c:strCache>
            </c:strRef>
          </c:tx>
          <c:cat>
            <c:strRef>
              <c:f>Sheet1!$A$2:$A$11</c:f>
              <c:strCache>
                <c:ptCount val="10"/>
                <c:pt idx="0">
                  <c:v>中國信託商業銀行</c:v>
                </c:pt>
                <c:pt idx="1">
                  <c:v>台北富邦商業銀行</c:v>
                </c:pt>
                <c:pt idx="2">
                  <c:v>玉山商業銀行</c:v>
                </c:pt>
                <c:pt idx="3">
                  <c:v>國泰世華商業銀行</c:v>
                </c:pt>
                <c:pt idx="4">
                  <c:v>台新國際商業銀行</c:v>
                </c:pt>
                <c:pt idx="5">
                  <c:v>星展(台灣)商業銀行</c:v>
                </c:pt>
                <c:pt idx="6">
                  <c:v>聯邦商業銀行</c:v>
                </c:pt>
                <c:pt idx="7">
                  <c:v>永豐商業銀行</c:v>
                </c:pt>
                <c:pt idx="8">
                  <c:v>第一商業銀行</c:v>
                </c:pt>
                <c:pt idx="9">
                  <c:v>遠東國際商業銀行</c:v>
                </c:pt>
              </c:strCache>
            </c:strRef>
          </c:cat>
          <c:val>
            <c:numRef>
              <c:f>Sheet1!$M$2:$M$11</c:f>
              <c:numCache>
                <c:formatCode>General</c:formatCode>
                <c:ptCount val="10"/>
                <c:pt idx="0">
                  <c:v>16.4861</c:v>
                </c:pt>
                <c:pt idx="1">
                  <c:v>14.4235</c:v>
                </c:pt>
                <c:pt idx="2">
                  <c:v>13.1688</c:v>
                </c:pt>
                <c:pt idx="3">
                  <c:v>12.845</c:v>
                </c:pt>
                <c:pt idx="4">
                  <c:v>11.9665</c:v>
                </c:pt>
                <c:pt idx="5">
                  <c:v>5.1474</c:v>
                </c:pt>
                <c:pt idx="6">
                  <c:v>4.5601</c:v>
                </c:pt>
                <c:pt idx="7">
                  <c:v>3.8115</c:v>
                </c:pt>
                <c:pt idx="8">
                  <c:v>2.3496</c:v>
                </c:pt>
                <c:pt idx="9">
                  <c:v>2.2442</c:v>
                </c:pt>
              </c:numCache>
            </c:numRef>
          </c:val>
        </c:ser>
        <c:axId val="-2068027336"/>
        <c:axId val="-2113994440"/>
      </c:barChart>
      <c:catAx>
        <c:axId val="-2068027336"/>
        <c:scaling>
          <c:orientation val="minMax"/>
        </c:scaling>
        <c:delete val="0"/>
        <c:axPos val="l"/>
        <c:majorTickMark val="out"/>
        <c:minorTickMark val="none"/>
        <c:tickLblPos val="nextTo"/>
        <c:crossAx val="-2113994440"/>
        <c:crosses val="autoZero"/>
        <c:auto val="1"/>
        <c:lblAlgn val="ctr"/>
        <c:lblOffset val="100"/>
        <c:noMultiLvlLbl val="0"/>
      </c:catAx>
      <c:valAx>
        <c:axId val="-2113994440"/>
        <c:scaling/>
        <c:delete val="0"/>
        <c:axPos val="b"/>
        <c:majorGridlines/>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title>
      <c:tx>
        <c:rich>
          <a:bodyPr/>
          <a:lstStyle/>
          <a:p>
            <a:r>
              <a:t>循環信用與分期付款餘額市場占比分析：台新銀行競爭地位概覽</a:t>
            </a:r>
          </a:p>
        </c:rich>
      </c:tx>
      <c:layout/>
      <c:overlay val="0"/>
    </c:title>
    <c:autoTitleDeleted val="0"/>
    <c:plotArea>
      <c:barChart>
        <c:barDir val="bar"/>
        <c:grouping val="clustered"/>
        <c:ser>
          <c:idx val="0"/>
          <c:order val="0"/>
          <c:tx>
            <c:strRef>
              <c:f>Sheet1!$B$1</c:f>
              <c:strCache>
                <c:ptCount val="1"/>
                <c:pt idx="0">
                  <c:v>11401</c:v>
                </c:pt>
              </c:strCache>
            </c:strRef>
          </c:tx>
          <c:cat>
            <c:strRef>
              <c:f>Sheet1!$A$2:$A$11</c:f>
              <c:strCache>
                <c:ptCount val="10"/>
                <c:pt idx="0">
                  <c:v>國泰世華商業銀行</c:v>
                </c:pt>
                <c:pt idx="1">
                  <c:v>玉山商業銀行</c:v>
                </c:pt>
                <c:pt idx="2">
                  <c:v>中國信託商業銀行</c:v>
                </c:pt>
                <c:pt idx="3">
                  <c:v>台北富邦商業銀行</c:v>
                </c:pt>
                <c:pt idx="4">
                  <c:v>台新國際商業銀行</c:v>
                </c:pt>
                <c:pt idx="5">
                  <c:v>星展(台灣)商業銀行</c:v>
                </c:pt>
                <c:pt idx="6">
                  <c:v>聯邦商業銀行</c:v>
                </c:pt>
                <c:pt idx="7">
                  <c:v>永豐商業銀行</c:v>
                </c:pt>
                <c:pt idx="8">
                  <c:v>遠東國際商業銀行</c:v>
                </c:pt>
                <c:pt idx="9">
                  <c:v>滙豐(台灣)商業銀行</c:v>
                </c:pt>
              </c:strCache>
            </c:strRef>
          </c:cat>
          <c:val>
            <c:numRef>
              <c:f>Sheet1!$B$2:$B$11</c:f>
              <c:numCache>
                <c:formatCode>General</c:formatCode>
                <c:ptCount val="10"/>
                <c:pt idx="0">
                  <c:v>17.8032</c:v>
                </c:pt>
                <c:pt idx="1">
                  <c:v>13.7973</c:v>
                </c:pt>
                <c:pt idx="2">
                  <c:v>15.2655</c:v>
                </c:pt>
                <c:pt idx="3">
                  <c:v>9.4324</c:v>
                </c:pt>
                <c:pt idx="4">
                  <c:v>9.7737</c:v>
                </c:pt>
                <c:pt idx="5">
                  <c:v>7.6706</c:v>
                </c:pt>
                <c:pt idx="6">
                  <c:v>5.5317</c:v>
                </c:pt>
                <c:pt idx="7">
                  <c:v>3.38</c:v>
                </c:pt>
                <c:pt idx="8">
                  <c:v>3.5134</c:v>
                </c:pt>
                <c:pt idx="9">
                  <c:v>1.9395</c:v>
                </c:pt>
              </c:numCache>
            </c:numRef>
          </c:val>
        </c:ser>
        <c:ser>
          <c:idx val="1"/>
          <c:order val="1"/>
          <c:tx>
            <c:strRef>
              <c:f>Sheet1!$C$1</c:f>
              <c:strCache>
                <c:ptCount val="1"/>
                <c:pt idx="0">
                  <c:v>11402</c:v>
                </c:pt>
              </c:strCache>
            </c:strRef>
          </c:tx>
          <c:cat>
            <c:strRef>
              <c:f>Sheet1!$A$2:$A$11</c:f>
              <c:strCache>
                <c:ptCount val="10"/>
                <c:pt idx="0">
                  <c:v>國泰世華商業銀行</c:v>
                </c:pt>
                <c:pt idx="1">
                  <c:v>玉山商業銀行</c:v>
                </c:pt>
                <c:pt idx="2">
                  <c:v>中國信託商業銀行</c:v>
                </c:pt>
                <c:pt idx="3">
                  <c:v>台北富邦商業銀行</c:v>
                </c:pt>
                <c:pt idx="4">
                  <c:v>台新國際商業銀行</c:v>
                </c:pt>
                <c:pt idx="5">
                  <c:v>星展(台灣)商業銀行</c:v>
                </c:pt>
                <c:pt idx="6">
                  <c:v>聯邦商業銀行</c:v>
                </c:pt>
                <c:pt idx="7">
                  <c:v>永豐商業銀行</c:v>
                </c:pt>
                <c:pt idx="8">
                  <c:v>遠東國際商業銀行</c:v>
                </c:pt>
                <c:pt idx="9">
                  <c:v>滙豐(台灣)商業銀行</c:v>
                </c:pt>
              </c:strCache>
            </c:strRef>
          </c:cat>
          <c:val>
            <c:numRef>
              <c:f>Sheet1!$C$2:$C$11</c:f>
              <c:numCache>
                <c:formatCode>General</c:formatCode>
                <c:ptCount val="10"/>
                <c:pt idx="0">
                  <c:v>18.8322</c:v>
                </c:pt>
                <c:pt idx="1">
                  <c:v>13.9095</c:v>
                </c:pt>
                <c:pt idx="2">
                  <c:v>15.0125</c:v>
                </c:pt>
                <c:pt idx="3">
                  <c:v>9.5719</c:v>
                </c:pt>
                <c:pt idx="4">
                  <c:v>9.6044</c:v>
                </c:pt>
                <c:pt idx="5">
                  <c:v>7.6641</c:v>
                </c:pt>
                <c:pt idx="6">
                  <c:v>5.5626</c:v>
                </c:pt>
                <c:pt idx="7">
                  <c:v>3.4183</c:v>
                </c:pt>
                <c:pt idx="8">
                  <c:v>2.87</c:v>
                </c:pt>
                <c:pt idx="9">
                  <c:v>1.8668</c:v>
                </c:pt>
              </c:numCache>
            </c:numRef>
          </c:val>
        </c:ser>
        <c:ser>
          <c:idx val="2"/>
          <c:order val="2"/>
          <c:tx>
            <c:strRef>
              <c:f>Sheet1!$D$1</c:f>
              <c:strCache>
                <c:ptCount val="1"/>
                <c:pt idx="0">
                  <c:v>11403</c:v>
                </c:pt>
              </c:strCache>
            </c:strRef>
          </c:tx>
          <c:cat>
            <c:strRef>
              <c:f>Sheet1!$A$2:$A$11</c:f>
              <c:strCache>
                <c:ptCount val="10"/>
                <c:pt idx="0">
                  <c:v>國泰世華商業銀行</c:v>
                </c:pt>
                <c:pt idx="1">
                  <c:v>玉山商業銀行</c:v>
                </c:pt>
                <c:pt idx="2">
                  <c:v>中國信託商業銀行</c:v>
                </c:pt>
                <c:pt idx="3">
                  <c:v>台北富邦商業銀行</c:v>
                </c:pt>
                <c:pt idx="4">
                  <c:v>台新國際商業銀行</c:v>
                </c:pt>
                <c:pt idx="5">
                  <c:v>星展(台灣)商業銀行</c:v>
                </c:pt>
                <c:pt idx="6">
                  <c:v>聯邦商業銀行</c:v>
                </c:pt>
                <c:pt idx="7">
                  <c:v>永豐商業銀行</c:v>
                </c:pt>
                <c:pt idx="8">
                  <c:v>遠東國際商業銀行</c:v>
                </c:pt>
                <c:pt idx="9">
                  <c:v>滙豐(台灣)商業銀行</c:v>
                </c:pt>
              </c:strCache>
            </c:strRef>
          </c:cat>
          <c:val>
            <c:numRef>
              <c:f>Sheet1!$D$2:$D$11</c:f>
              <c:numCache>
                <c:formatCode>General</c:formatCode>
                <c:ptCount val="10"/>
                <c:pt idx="0">
                  <c:v>18.0558</c:v>
                </c:pt>
                <c:pt idx="1">
                  <c:v>15.1567</c:v>
                </c:pt>
                <c:pt idx="2">
                  <c:v>15.1923</c:v>
                </c:pt>
                <c:pt idx="3">
                  <c:v>9.3472</c:v>
                </c:pt>
                <c:pt idx="4">
                  <c:v>9.5685</c:v>
                </c:pt>
                <c:pt idx="5">
                  <c:v>7.6113</c:v>
                </c:pt>
                <c:pt idx="6">
                  <c:v>5.5492</c:v>
                </c:pt>
                <c:pt idx="7">
                  <c:v>3.2428</c:v>
                </c:pt>
                <c:pt idx="8">
                  <c:v>2.8481</c:v>
                </c:pt>
                <c:pt idx="9">
                  <c:v>1.8045</c:v>
                </c:pt>
              </c:numCache>
            </c:numRef>
          </c:val>
        </c:ser>
        <c:ser>
          <c:idx val="3"/>
          <c:order val="3"/>
          <c:tx>
            <c:strRef>
              <c:f>Sheet1!$E$1</c:f>
              <c:strCache>
                <c:ptCount val="1"/>
                <c:pt idx="0">
                  <c:v>11404</c:v>
                </c:pt>
              </c:strCache>
            </c:strRef>
          </c:tx>
          <c:cat>
            <c:strRef>
              <c:f>Sheet1!$A$2:$A$11</c:f>
              <c:strCache>
                <c:ptCount val="10"/>
                <c:pt idx="0">
                  <c:v>國泰世華商業銀行</c:v>
                </c:pt>
                <c:pt idx="1">
                  <c:v>玉山商業銀行</c:v>
                </c:pt>
                <c:pt idx="2">
                  <c:v>中國信託商業銀行</c:v>
                </c:pt>
                <c:pt idx="3">
                  <c:v>台北富邦商業銀行</c:v>
                </c:pt>
                <c:pt idx="4">
                  <c:v>台新國際商業銀行</c:v>
                </c:pt>
                <c:pt idx="5">
                  <c:v>星展(台灣)商業銀行</c:v>
                </c:pt>
                <c:pt idx="6">
                  <c:v>聯邦商業銀行</c:v>
                </c:pt>
                <c:pt idx="7">
                  <c:v>永豐商業銀行</c:v>
                </c:pt>
                <c:pt idx="8">
                  <c:v>遠東國際商業銀行</c:v>
                </c:pt>
                <c:pt idx="9">
                  <c:v>滙豐(台灣)商業銀行</c:v>
                </c:pt>
              </c:strCache>
            </c:strRef>
          </c:cat>
          <c:val>
            <c:numRef>
              <c:f>Sheet1!$E$2:$E$11</c:f>
              <c:numCache>
                <c:formatCode>General</c:formatCode>
                <c:ptCount val="10"/>
                <c:pt idx="0">
                  <c:v>18.0253</c:v>
                </c:pt>
                <c:pt idx="1">
                  <c:v>15.863</c:v>
                </c:pt>
                <c:pt idx="2">
                  <c:v>14.9708</c:v>
                </c:pt>
                <c:pt idx="3">
                  <c:v>9.3239</c:v>
                </c:pt>
                <c:pt idx="4">
                  <c:v>9.4631</c:v>
                </c:pt>
                <c:pt idx="5">
                  <c:v>7.4855</c:v>
                </c:pt>
                <c:pt idx="6">
                  <c:v>5.5489</c:v>
                </c:pt>
                <c:pt idx="7">
                  <c:v>3.3072</c:v>
                </c:pt>
                <c:pt idx="8">
                  <c:v>2.7944</c:v>
                </c:pt>
                <c:pt idx="9">
                  <c:v>1.7013</c:v>
                </c:pt>
              </c:numCache>
            </c:numRef>
          </c:val>
        </c:ser>
        <c:ser>
          <c:idx val="4"/>
          <c:order val="4"/>
          <c:tx>
            <c:strRef>
              <c:f>Sheet1!$F$1</c:f>
              <c:strCache>
                <c:ptCount val="1"/>
                <c:pt idx="0">
                  <c:v>11405</c:v>
                </c:pt>
              </c:strCache>
            </c:strRef>
          </c:tx>
          <c:cat>
            <c:strRef>
              <c:f>Sheet1!$A$2:$A$11</c:f>
              <c:strCache>
                <c:ptCount val="10"/>
                <c:pt idx="0">
                  <c:v>國泰世華商業銀行</c:v>
                </c:pt>
                <c:pt idx="1">
                  <c:v>玉山商業銀行</c:v>
                </c:pt>
                <c:pt idx="2">
                  <c:v>中國信託商業銀行</c:v>
                </c:pt>
                <c:pt idx="3">
                  <c:v>台北富邦商業銀行</c:v>
                </c:pt>
                <c:pt idx="4">
                  <c:v>台新國際商業銀行</c:v>
                </c:pt>
                <c:pt idx="5">
                  <c:v>星展(台灣)商業銀行</c:v>
                </c:pt>
                <c:pt idx="6">
                  <c:v>聯邦商業銀行</c:v>
                </c:pt>
                <c:pt idx="7">
                  <c:v>永豐商業銀行</c:v>
                </c:pt>
                <c:pt idx="8">
                  <c:v>遠東國際商業銀行</c:v>
                </c:pt>
                <c:pt idx="9">
                  <c:v>滙豐(台灣)商業銀行</c:v>
                </c:pt>
              </c:strCache>
            </c:strRef>
          </c:cat>
          <c:val>
            <c:numRef>
              <c:f>Sheet1!$F$2:$F$11</c:f>
              <c:numCache>
                <c:formatCode>General</c:formatCode>
                <c:ptCount val="10"/>
                <c:pt idx="0">
                  <c:v>18.3456</c:v>
                </c:pt>
                <c:pt idx="1">
                  <c:v>14.8106</c:v>
                </c:pt>
                <c:pt idx="2">
                  <c:v>15.0946</c:v>
                </c:pt>
                <c:pt idx="3">
                  <c:v>9.4687</c:v>
                </c:pt>
                <c:pt idx="4">
                  <c:v>9.577</c:v>
                </c:pt>
                <c:pt idx="5">
                  <c:v>7.5916</c:v>
                </c:pt>
                <c:pt idx="6">
                  <c:v>5.564</c:v>
                </c:pt>
                <c:pt idx="7">
                  <c:v>3.4127</c:v>
                </c:pt>
                <c:pt idx="8">
                  <c:v>2.8638</c:v>
                </c:pt>
                <c:pt idx="9">
                  <c:v>1.6351</c:v>
                </c:pt>
              </c:numCache>
            </c:numRef>
          </c:val>
        </c:ser>
        <c:ser>
          <c:idx val="5"/>
          <c:order val="5"/>
          <c:tx>
            <c:strRef>
              <c:f>Sheet1!$G$1</c:f>
              <c:strCache>
                <c:ptCount val="1"/>
                <c:pt idx="0">
                  <c:v>11406</c:v>
                </c:pt>
              </c:strCache>
            </c:strRef>
          </c:tx>
          <c:cat>
            <c:strRef>
              <c:f>Sheet1!$A$2:$A$11</c:f>
              <c:strCache>
                <c:ptCount val="10"/>
                <c:pt idx="0">
                  <c:v>國泰世華商業銀行</c:v>
                </c:pt>
                <c:pt idx="1">
                  <c:v>玉山商業銀行</c:v>
                </c:pt>
                <c:pt idx="2">
                  <c:v>中國信託商業銀行</c:v>
                </c:pt>
                <c:pt idx="3">
                  <c:v>台北富邦商業銀行</c:v>
                </c:pt>
                <c:pt idx="4">
                  <c:v>台新國際商業銀行</c:v>
                </c:pt>
                <c:pt idx="5">
                  <c:v>星展(台灣)商業銀行</c:v>
                </c:pt>
                <c:pt idx="6">
                  <c:v>聯邦商業銀行</c:v>
                </c:pt>
                <c:pt idx="7">
                  <c:v>永豐商業銀行</c:v>
                </c:pt>
                <c:pt idx="8">
                  <c:v>遠東國際商業銀行</c:v>
                </c:pt>
                <c:pt idx="9">
                  <c:v>滙豐(台灣)商業銀行</c:v>
                </c:pt>
              </c:strCache>
            </c:strRef>
          </c:cat>
          <c:val>
            <c:numRef>
              <c:f>Sheet1!$G$2:$G$11</c:f>
              <c:numCache>
                <c:formatCode>General</c:formatCode>
                <c:ptCount val="10"/>
                <c:pt idx="0">
                  <c:v>18.4968</c:v>
                </c:pt>
                <c:pt idx="1">
                  <c:v>15.6471</c:v>
                </c:pt>
                <c:pt idx="2">
                  <c:v>14.8245</c:v>
                </c:pt>
                <c:pt idx="3">
                  <c:v>9.435</c:v>
                </c:pt>
                <c:pt idx="4">
                  <c:v>9.4467</c:v>
                </c:pt>
                <c:pt idx="5">
                  <c:v>7.4552</c:v>
                </c:pt>
                <c:pt idx="6">
                  <c:v>5.5404</c:v>
                </c:pt>
                <c:pt idx="7">
                  <c:v>3.3509</c:v>
                </c:pt>
                <c:pt idx="8">
                  <c:v>2.7878</c:v>
                </c:pt>
                <c:pt idx="9">
                  <c:v>1.5552</c:v>
                </c:pt>
              </c:numCache>
            </c:numRef>
          </c:val>
        </c:ser>
        <c:ser>
          <c:idx val="6"/>
          <c:order val="6"/>
          <c:tx>
            <c:strRef>
              <c:f>Sheet1!$H$1</c:f>
              <c:strCache>
                <c:ptCount val="1"/>
                <c:pt idx="0">
                  <c:v>11407</c:v>
                </c:pt>
              </c:strCache>
            </c:strRef>
          </c:tx>
          <c:cat>
            <c:strRef>
              <c:f>Sheet1!$A$2:$A$11</c:f>
              <c:strCache>
                <c:ptCount val="10"/>
                <c:pt idx="0">
                  <c:v>國泰世華商業銀行</c:v>
                </c:pt>
                <c:pt idx="1">
                  <c:v>玉山商業銀行</c:v>
                </c:pt>
                <c:pt idx="2">
                  <c:v>中國信託商業銀行</c:v>
                </c:pt>
                <c:pt idx="3">
                  <c:v>台北富邦商業銀行</c:v>
                </c:pt>
                <c:pt idx="4">
                  <c:v>台新國際商業銀行</c:v>
                </c:pt>
                <c:pt idx="5">
                  <c:v>星展(台灣)商業銀行</c:v>
                </c:pt>
                <c:pt idx="6">
                  <c:v>聯邦商業銀行</c:v>
                </c:pt>
                <c:pt idx="7">
                  <c:v>永豐商業銀行</c:v>
                </c:pt>
                <c:pt idx="8">
                  <c:v>遠東國際商業銀行</c:v>
                </c:pt>
                <c:pt idx="9">
                  <c:v>滙豐(台灣)商業銀行</c:v>
                </c:pt>
              </c:strCache>
            </c:strRef>
          </c:cat>
          <c:val>
            <c:numRef>
              <c:f>Sheet1!$H$2:$H$11</c:f>
              <c:numCache>
                <c:formatCode>General</c:formatCode>
                <c:ptCount val="10"/>
                <c:pt idx="0">
                  <c:v>18.7829</c:v>
                </c:pt>
                <c:pt idx="1">
                  <c:v>14.6271</c:v>
                </c:pt>
                <c:pt idx="2">
                  <c:v>15.1095</c:v>
                </c:pt>
                <c:pt idx="3">
                  <c:v>9.5394</c:v>
                </c:pt>
                <c:pt idx="4">
                  <c:v>9.5903</c:v>
                </c:pt>
                <c:pt idx="5">
                  <c:v>7.5184</c:v>
                </c:pt>
                <c:pt idx="6">
                  <c:v>5.6458</c:v>
                </c:pt>
                <c:pt idx="7">
                  <c:v>3.3184</c:v>
                </c:pt>
                <c:pt idx="8">
                  <c:v>2.7544</c:v>
                </c:pt>
                <c:pt idx="9">
                  <c:v>1.5018</c:v>
                </c:pt>
              </c:numCache>
            </c:numRef>
          </c:val>
        </c:ser>
        <c:ser>
          <c:idx val="7"/>
          <c:order val="7"/>
          <c:tx>
            <c:strRef>
              <c:f>Sheet1!$I$1</c:f>
              <c:strCache>
                <c:ptCount val="1"/>
                <c:pt idx="0">
                  <c:v>11408</c:v>
                </c:pt>
              </c:strCache>
            </c:strRef>
          </c:tx>
          <c:cat>
            <c:strRef>
              <c:f>Sheet1!$A$2:$A$11</c:f>
              <c:strCache>
                <c:ptCount val="10"/>
                <c:pt idx="0">
                  <c:v>國泰世華商業銀行</c:v>
                </c:pt>
                <c:pt idx="1">
                  <c:v>玉山商業銀行</c:v>
                </c:pt>
                <c:pt idx="2">
                  <c:v>中國信託商業銀行</c:v>
                </c:pt>
                <c:pt idx="3">
                  <c:v>台北富邦商業銀行</c:v>
                </c:pt>
                <c:pt idx="4">
                  <c:v>台新國際商業銀行</c:v>
                </c:pt>
                <c:pt idx="5">
                  <c:v>星展(台灣)商業銀行</c:v>
                </c:pt>
                <c:pt idx="6">
                  <c:v>聯邦商業銀行</c:v>
                </c:pt>
                <c:pt idx="7">
                  <c:v>永豐商業銀行</c:v>
                </c:pt>
                <c:pt idx="8">
                  <c:v>遠東國際商業銀行</c:v>
                </c:pt>
                <c:pt idx="9">
                  <c:v>滙豐(台灣)商業銀行</c:v>
                </c:pt>
              </c:strCache>
            </c:strRef>
          </c:cat>
          <c:val>
            <c:numRef>
              <c:f>Sheet1!$I$2:$I$11</c:f>
              <c:numCache>
                <c:formatCode>General</c:formatCode>
                <c:ptCount val="10"/>
                <c:pt idx="0">
                  <c:v>18.8905</c:v>
                </c:pt>
                <c:pt idx="1">
                  <c:v>14.0814</c:v>
                </c:pt>
                <c:pt idx="2">
                  <c:v>15.1096</c:v>
                </c:pt>
                <c:pt idx="3">
                  <c:v>9.6805</c:v>
                </c:pt>
                <c:pt idx="4">
                  <c:v>9.6127</c:v>
                </c:pt>
                <c:pt idx="5">
                  <c:v>7.5848</c:v>
                </c:pt>
                <c:pt idx="6">
                  <c:v>5.627</c:v>
                </c:pt>
                <c:pt idx="7">
                  <c:v>3.4335</c:v>
                </c:pt>
                <c:pt idx="8">
                  <c:v>2.8248</c:v>
                </c:pt>
                <c:pt idx="9">
                  <c:v>1.4644</c:v>
                </c:pt>
              </c:numCache>
            </c:numRef>
          </c:val>
        </c:ser>
        <c:ser>
          <c:idx val="8"/>
          <c:order val="8"/>
          <c:tx>
            <c:strRef>
              <c:f>Sheet1!$J$1</c:f>
              <c:strCache>
                <c:ptCount val="1"/>
                <c:pt idx="0">
                  <c:v>11409</c:v>
                </c:pt>
              </c:strCache>
            </c:strRef>
          </c:tx>
          <c:cat>
            <c:strRef>
              <c:f>Sheet1!$A$2:$A$11</c:f>
              <c:strCache>
                <c:ptCount val="10"/>
                <c:pt idx="0">
                  <c:v>國泰世華商業銀行</c:v>
                </c:pt>
                <c:pt idx="1">
                  <c:v>玉山商業銀行</c:v>
                </c:pt>
                <c:pt idx="2">
                  <c:v>中國信託商業銀行</c:v>
                </c:pt>
                <c:pt idx="3">
                  <c:v>台北富邦商業銀行</c:v>
                </c:pt>
                <c:pt idx="4">
                  <c:v>台新國際商業銀行</c:v>
                </c:pt>
                <c:pt idx="5">
                  <c:v>星展(台灣)商業銀行</c:v>
                </c:pt>
                <c:pt idx="6">
                  <c:v>聯邦商業銀行</c:v>
                </c:pt>
                <c:pt idx="7">
                  <c:v>永豐商業銀行</c:v>
                </c:pt>
                <c:pt idx="8">
                  <c:v>遠東國際商業銀行</c:v>
                </c:pt>
                <c:pt idx="9">
                  <c:v>滙豐(台灣)商業銀行</c:v>
                </c:pt>
              </c:strCache>
            </c:strRef>
          </c:cat>
          <c:val>
            <c:numRef>
              <c:f>Sheet1!$J$2:$J$11</c:f>
              <c:numCache>
                <c:formatCode>General</c:formatCode>
                <c:ptCount val="10"/>
                <c:pt idx="0">
                  <c:v>17.9265</c:v>
                </c:pt>
                <c:pt idx="1">
                  <c:v>15.7501</c:v>
                </c:pt>
                <c:pt idx="2">
                  <c:v>14.8852</c:v>
                </c:pt>
                <c:pt idx="3">
                  <c:v>9.7196</c:v>
                </c:pt>
                <c:pt idx="4">
                  <c:v>9.4905</c:v>
                </c:pt>
                <c:pt idx="5">
                  <c:v>7.494</c:v>
                </c:pt>
                <c:pt idx="6">
                  <c:v>5.5727</c:v>
                </c:pt>
                <c:pt idx="7">
                  <c:v>3.4527</c:v>
                </c:pt>
                <c:pt idx="8">
                  <c:v>2.7771</c:v>
                </c:pt>
                <c:pt idx="9">
                  <c:v>1.4034</c:v>
                </c:pt>
              </c:numCache>
            </c:numRef>
          </c:val>
        </c:ser>
        <c:ser>
          <c:idx val="9"/>
          <c:order val="9"/>
          <c:tx>
            <c:strRef>
              <c:f>Sheet1!$K$1</c:f>
              <c:strCache>
                <c:ptCount val="1"/>
                <c:pt idx="0">
                  <c:v>11410</c:v>
                </c:pt>
              </c:strCache>
            </c:strRef>
          </c:tx>
          <c:cat>
            <c:strRef>
              <c:f>Sheet1!$A$2:$A$11</c:f>
              <c:strCache>
                <c:ptCount val="10"/>
                <c:pt idx="0">
                  <c:v>國泰世華商業銀行</c:v>
                </c:pt>
                <c:pt idx="1">
                  <c:v>玉山商業銀行</c:v>
                </c:pt>
                <c:pt idx="2">
                  <c:v>中國信託商業銀行</c:v>
                </c:pt>
                <c:pt idx="3">
                  <c:v>台北富邦商業銀行</c:v>
                </c:pt>
                <c:pt idx="4">
                  <c:v>台新國際商業銀行</c:v>
                </c:pt>
                <c:pt idx="5">
                  <c:v>星展(台灣)商業銀行</c:v>
                </c:pt>
                <c:pt idx="6">
                  <c:v>聯邦商業銀行</c:v>
                </c:pt>
                <c:pt idx="7">
                  <c:v>永豐商業銀行</c:v>
                </c:pt>
                <c:pt idx="8">
                  <c:v>遠東國際商業銀行</c:v>
                </c:pt>
                <c:pt idx="9">
                  <c:v>滙豐(台灣)商業銀行</c:v>
                </c:pt>
              </c:strCache>
            </c:strRef>
          </c:cat>
          <c:val>
            <c:numRef>
              <c:f>Sheet1!$K$2:$K$11</c:f>
              <c:numCache>
                <c:formatCode>General</c:formatCode>
                <c:ptCount val="10"/>
                <c:pt idx="0">
                  <c:v>18.83</c:v>
                </c:pt>
                <c:pt idx="1">
                  <c:v>15.1286</c:v>
                </c:pt>
                <c:pt idx="2">
                  <c:v>15.0683</c:v>
                </c:pt>
                <c:pt idx="3">
                  <c:v>9.5235</c:v>
                </c:pt>
                <c:pt idx="4">
                  <c:v>9.5056</c:v>
                </c:pt>
                <c:pt idx="5">
                  <c:v>7.4875</c:v>
                </c:pt>
                <c:pt idx="6">
                  <c:v>5.5682</c:v>
                </c:pt>
                <c:pt idx="7">
                  <c:v>3.2786</c:v>
                </c:pt>
                <c:pt idx="8">
                  <c:v>2.695</c:v>
                </c:pt>
                <c:pt idx="9">
                  <c:v>1.444</c:v>
                </c:pt>
              </c:numCache>
            </c:numRef>
          </c:val>
        </c:ser>
        <c:ser>
          <c:idx val="10"/>
          <c:order val="10"/>
          <c:tx>
            <c:strRef>
              <c:f>Sheet1!$L$1</c:f>
              <c:strCache>
                <c:ptCount val="1"/>
                <c:pt idx="0">
                  <c:v>11411</c:v>
                </c:pt>
              </c:strCache>
            </c:strRef>
          </c:tx>
          <c:cat>
            <c:strRef>
              <c:f>Sheet1!$A$2:$A$11</c:f>
              <c:strCache>
                <c:ptCount val="10"/>
                <c:pt idx="0">
                  <c:v>國泰世華商業銀行</c:v>
                </c:pt>
                <c:pt idx="1">
                  <c:v>玉山商業銀行</c:v>
                </c:pt>
                <c:pt idx="2">
                  <c:v>中國信託商業銀行</c:v>
                </c:pt>
                <c:pt idx="3">
                  <c:v>台北富邦商業銀行</c:v>
                </c:pt>
                <c:pt idx="4">
                  <c:v>台新國際商業銀行</c:v>
                </c:pt>
                <c:pt idx="5">
                  <c:v>星展(台灣)商業銀行</c:v>
                </c:pt>
                <c:pt idx="6">
                  <c:v>聯邦商業銀行</c:v>
                </c:pt>
                <c:pt idx="7">
                  <c:v>永豐商業銀行</c:v>
                </c:pt>
                <c:pt idx="8">
                  <c:v>遠東國際商業銀行</c:v>
                </c:pt>
                <c:pt idx="9">
                  <c:v>滙豐(台灣)商業銀行</c:v>
                </c:pt>
              </c:strCache>
            </c:strRef>
          </c:cat>
          <c:val>
            <c:numRef>
              <c:f>Sheet1!$L$2:$L$11</c:f>
              <c:numCache>
                <c:formatCode>General</c:formatCode>
                <c:ptCount val="10"/>
                <c:pt idx="0">
                  <c:v>19.0215</c:v>
                </c:pt>
                <c:pt idx="1">
                  <c:v>14.4066</c:v>
                </c:pt>
                <c:pt idx="2">
                  <c:v>14.9449</c:v>
                </c:pt>
                <c:pt idx="3">
                  <c:v>9.7793</c:v>
                </c:pt>
                <c:pt idx="4">
                  <c:v>9.5576</c:v>
                </c:pt>
                <c:pt idx="5">
                  <c:v>7.5562</c:v>
                </c:pt>
                <c:pt idx="6">
                  <c:v>5.5503</c:v>
                </c:pt>
                <c:pt idx="7">
                  <c:v>3.2743</c:v>
                </c:pt>
                <c:pt idx="8">
                  <c:v>2.9891</c:v>
                </c:pt>
                <c:pt idx="9">
                  <c:v>1.4386</c:v>
                </c:pt>
              </c:numCache>
            </c:numRef>
          </c:val>
        </c:ser>
        <c:ser>
          <c:idx val="11"/>
          <c:order val="11"/>
          <c:tx>
            <c:strRef>
              <c:f>Sheet1!$M$1</c:f>
              <c:strCache>
                <c:ptCount val="1"/>
                <c:pt idx="0">
                  <c:v>11412</c:v>
                </c:pt>
              </c:strCache>
            </c:strRef>
          </c:tx>
          <c:cat>
            <c:strRef>
              <c:f>Sheet1!$A$2:$A$11</c:f>
              <c:strCache>
                <c:ptCount val="10"/>
                <c:pt idx="0">
                  <c:v>國泰世華商業銀行</c:v>
                </c:pt>
                <c:pt idx="1">
                  <c:v>玉山商業銀行</c:v>
                </c:pt>
                <c:pt idx="2">
                  <c:v>中國信託商業銀行</c:v>
                </c:pt>
                <c:pt idx="3">
                  <c:v>台北富邦商業銀行</c:v>
                </c:pt>
                <c:pt idx="4">
                  <c:v>台新國際商業銀行</c:v>
                </c:pt>
                <c:pt idx="5">
                  <c:v>星展(台灣)商業銀行</c:v>
                </c:pt>
                <c:pt idx="6">
                  <c:v>聯邦商業銀行</c:v>
                </c:pt>
                <c:pt idx="7">
                  <c:v>永豐商業銀行</c:v>
                </c:pt>
                <c:pt idx="8">
                  <c:v>遠東國際商業銀行</c:v>
                </c:pt>
                <c:pt idx="9">
                  <c:v>滙豐(台灣)商業銀行</c:v>
                </c:pt>
              </c:strCache>
            </c:strRef>
          </c:cat>
          <c:val>
            <c:numRef>
              <c:f>Sheet1!$M$2:$M$11</c:f>
              <c:numCache>
                <c:formatCode>General</c:formatCode>
                <c:ptCount val="10"/>
                <c:pt idx="0">
                  <c:v>18.696</c:v>
                </c:pt>
                <c:pt idx="1">
                  <c:v>15.1429</c:v>
                </c:pt>
                <c:pt idx="2">
                  <c:v>15.1041</c:v>
                </c:pt>
                <c:pt idx="3">
                  <c:v>9.6706</c:v>
                </c:pt>
                <c:pt idx="4">
                  <c:v>9.5411</c:v>
                </c:pt>
                <c:pt idx="5">
                  <c:v>7.5175</c:v>
                </c:pt>
                <c:pt idx="6">
                  <c:v>5.5591</c:v>
                </c:pt>
                <c:pt idx="7">
                  <c:v>3.2872</c:v>
                </c:pt>
                <c:pt idx="8">
                  <c:v>2.6864</c:v>
                </c:pt>
                <c:pt idx="9">
                  <c:v>1.443</c:v>
                </c:pt>
              </c:numCache>
            </c:numRef>
          </c:val>
        </c:ser>
        <c:axId val="-2068027336"/>
        <c:axId val="-2113994440"/>
      </c:barChart>
      <c:catAx>
        <c:axId val="-2068027336"/>
        <c:scaling>
          <c:orientation val="minMax"/>
        </c:scaling>
        <c:delete val="0"/>
        <c:axPos val="l"/>
        <c:majorTickMark val="out"/>
        <c:minorTickMark val="none"/>
        <c:tickLblPos val="nextTo"/>
        <c:crossAx val="-2113994440"/>
        <c:crosses val="autoZero"/>
        <c:auto val="1"/>
        <c:lblAlgn val="ctr"/>
        <c:lblOffset val="100"/>
        <c:noMultiLvlLbl val="0"/>
      </c:catAx>
      <c:valAx>
        <c:axId val="-2113994440"/>
        <c:scaling/>
        <c:delete val="0"/>
        <c:axPos val="b"/>
        <c:majorGridlines/>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title>
      <c:tx>
        <c:rich>
          <a:bodyPr/>
          <a:lstStyle/>
          <a:p>
            <a:r>
              <a:t>主要銀行轉銷呆帳金額占比排名：台新銀行風險曝險狀況分析</a:t>
            </a:r>
          </a:p>
        </c:rich>
      </c:tx>
      <c:layout/>
      <c:overlay val="0"/>
    </c:title>
    <c:autoTitleDeleted val="0"/>
    <c:plotArea>
      <c:barChart>
        <c:barDir val="bar"/>
        <c:grouping val="clustered"/>
        <c:ser>
          <c:idx val="0"/>
          <c:order val="0"/>
          <c:tx>
            <c:strRef>
              <c:f>Sheet1!$B$1</c:f>
              <c:strCache>
                <c:ptCount val="1"/>
                <c:pt idx="0">
                  <c:v>11401</c:v>
                </c:pt>
              </c:strCache>
            </c:strRef>
          </c:tx>
          <c:cat>
            <c:strRef>
              <c:f>Sheet1!$A$2:$A$11</c:f>
              <c:strCache>
                <c:ptCount val="10"/>
                <c:pt idx="0">
                  <c:v>台北富邦商業銀行</c:v>
                </c:pt>
                <c:pt idx="1">
                  <c:v>國泰世華商業銀行</c:v>
                </c:pt>
                <c:pt idx="2">
                  <c:v>中國信託商業銀行</c:v>
                </c:pt>
                <c:pt idx="3">
                  <c:v>玉山商業銀行</c:v>
                </c:pt>
                <c:pt idx="4">
                  <c:v>星展(台灣)商業銀行</c:v>
                </c:pt>
                <c:pt idx="5">
                  <c:v>台新國際商業銀行</c:v>
                </c:pt>
                <c:pt idx="6">
                  <c:v>華南商業銀行</c:v>
                </c:pt>
                <c:pt idx="7">
                  <c:v>聯邦商業銀行</c:v>
                </c:pt>
                <c:pt idx="8">
                  <c:v>永豐商業銀行</c:v>
                </c:pt>
                <c:pt idx="9">
                  <c:v>凱基商業銀行</c:v>
                </c:pt>
              </c:strCache>
            </c:strRef>
          </c:cat>
          <c:val>
            <c:numRef>
              <c:f>Sheet1!$B$2:$B$11</c:f>
              <c:numCache>
                <c:formatCode>General</c:formatCode>
                <c:ptCount val="10"/>
                <c:pt idx="0">
                  <c:v>18.1941</c:v>
                </c:pt>
                <c:pt idx="1">
                  <c:v>19.87</c:v>
                </c:pt>
                <c:pt idx="2">
                  <c:v>14.5339</c:v>
                </c:pt>
                <c:pt idx="3">
                  <c:v>7.4914</c:v>
                </c:pt>
                <c:pt idx="4">
                  <c:v>9.4444</c:v>
                </c:pt>
                <c:pt idx="5">
                  <c:v>9.5815</c:v>
                </c:pt>
                <c:pt idx="6">
                  <c:v>0.0</c:v>
                </c:pt>
                <c:pt idx="7">
                  <c:v>3.9623</c:v>
                </c:pt>
                <c:pt idx="8">
                  <c:v>2.8241</c:v>
                </c:pt>
                <c:pt idx="9">
                  <c:v>1.3967</c:v>
                </c:pt>
              </c:numCache>
            </c:numRef>
          </c:val>
        </c:ser>
        <c:ser>
          <c:idx val="1"/>
          <c:order val="1"/>
          <c:tx>
            <c:strRef>
              <c:f>Sheet1!$C$1</c:f>
              <c:strCache>
                <c:ptCount val="1"/>
                <c:pt idx="0">
                  <c:v>11402</c:v>
                </c:pt>
              </c:strCache>
            </c:strRef>
          </c:tx>
          <c:cat>
            <c:strRef>
              <c:f>Sheet1!$A$2:$A$11</c:f>
              <c:strCache>
                <c:ptCount val="10"/>
                <c:pt idx="0">
                  <c:v>台北富邦商業銀行</c:v>
                </c:pt>
                <c:pt idx="1">
                  <c:v>國泰世華商業銀行</c:v>
                </c:pt>
                <c:pt idx="2">
                  <c:v>中國信託商業銀行</c:v>
                </c:pt>
                <c:pt idx="3">
                  <c:v>玉山商業銀行</c:v>
                </c:pt>
                <c:pt idx="4">
                  <c:v>星展(台灣)商業銀行</c:v>
                </c:pt>
                <c:pt idx="5">
                  <c:v>台新國際商業銀行</c:v>
                </c:pt>
                <c:pt idx="6">
                  <c:v>華南商業銀行</c:v>
                </c:pt>
                <c:pt idx="7">
                  <c:v>聯邦商業銀行</c:v>
                </c:pt>
                <c:pt idx="8">
                  <c:v>永豐商業銀行</c:v>
                </c:pt>
                <c:pt idx="9">
                  <c:v>凱基商業銀行</c:v>
                </c:pt>
              </c:strCache>
            </c:strRef>
          </c:cat>
          <c:val>
            <c:numRef>
              <c:f>Sheet1!$C$2:$C$11</c:f>
              <c:numCache>
                <c:formatCode>General</c:formatCode>
                <c:ptCount val="10"/>
                <c:pt idx="0">
                  <c:v>16.591</c:v>
                </c:pt>
                <c:pt idx="1">
                  <c:v>17.6088</c:v>
                </c:pt>
                <c:pt idx="2">
                  <c:v>14.0693</c:v>
                </c:pt>
                <c:pt idx="3">
                  <c:v>7.9489</c:v>
                </c:pt>
                <c:pt idx="4">
                  <c:v>10.8082</c:v>
                </c:pt>
                <c:pt idx="5">
                  <c:v>7.8741</c:v>
                </c:pt>
                <c:pt idx="6">
                  <c:v>0.0</c:v>
                </c:pt>
                <c:pt idx="7">
                  <c:v>5.0454</c:v>
                </c:pt>
                <c:pt idx="8">
                  <c:v>3.1199</c:v>
                </c:pt>
                <c:pt idx="9">
                  <c:v>1.4089</c:v>
                </c:pt>
              </c:numCache>
            </c:numRef>
          </c:val>
        </c:ser>
        <c:ser>
          <c:idx val="2"/>
          <c:order val="2"/>
          <c:tx>
            <c:strRef>
              <c:f>Sheet1!$D$1</c:f>
              <c:strCache>
                <c:ptCount val="1"/>
                <c:pt idx="0">
                  <c:v>11403</c:v>
                </c:pt>
              </c:strCache>
            </c:strRef>
          </c:tx>
          <c:cat>
            <c:strRef>
              <c:f>Sheet1!$A$2:$A$11</c:f>
              <c:strCache>
                <c:ptCount val="10"/>
                <c:pt idx="0">
                  <c:v>台北富邦商業銀行</c:v>
                </c:pt>
                <c:pt idx="1">
                  <c:v>國泰世華商業銀行</c:v>
                </c:pt>
                <c:pt idx="2">
                  <c:v>中國信託商業銀行</c:v>
                </c:pt>
                <c:pt idx="3">
                  <c:v>玉山商業銀行</c:v>
                </c:pt>
                <c:pt idx="4">
                  <c:v>星展(台灣)商業銀行</c:v>
                </c:pt>
                <c:pt idx="5">
                  <c:v>台新國際商業銀行</c:v>
                </c:pt>
                <c:pt idx="6">
                  <c:v>華南商業銀行</c:v>
                </c:pt>
                <c:pt idx="7">
                  <c:v>聯邦商業銀行</c:v>
                </c:pt>
                <c:pt idx="8">
                  <c:v>永豐商業銀行</c:v>
                </c:pt>
                <c:pt idx="9">
                  <c:v>凱基商業銀行</c:v>
                </c:pt>
              </c:strCache>
            </c:strRef>
          </c:cat>
          <c:val>
            <c:numRef>
              <c:f>Sheet1!$D$2:$D$11</c:f>
              <c:numCache>
                <c:formatCode>General</c:formatCode>
                <c:ptCount val="10"/>
                <c:pt idx="0">
                  <c:v>14.5145</c:v>
                </c:pt>
                <c:pt idx="1">
                  <c:v>17.8379</c:v>
                </c:pt>
                <c:pt idx="2">
                  <c:v>14.3606</c:v>
                </c:pt>
                <c:pt idx="3">
                  <c:v>7.7281</c:v>
                </c:pt>
                <c:pt idx="4">
                  <c:v>8.0608</c:v>
                </c:pt>
                <c:pt idx="5">
                  <c:v>7.632</c:v>
                </c:pt>
                <c:pt idx="6">
                  <c:v>4.6284</c:v>
                </c:pt>
                <c:pt idx="7">
                  <c:v>4.8064</c:v>
                </c:pt>
                <c:pt idx="8">
                  <c:v>2.9488</c:v>
                </c:pt>
                <c:pt idx="9">
                  <c:v>1.5695</c:v>
                </c:pt>
              </c:numCache>
            </c:numRef>
          </c:val>
        </c:ser>
        <c:ser>
          <c:idx val="3"/>
          <c:order val="3"/>
          <c:tx>
            <c:strRef>
              <c:f>Sheet1!$E$1</c:f>
              <c:strCache>
                <c:ptCount val="1"/>
                <c:pt idx="0">
                  <c:v>11404</c:v>
                </c:pt>
              </c:strCache>
            </c:strRef>
          </c:tx>
          <c:cat>
            <c:strRef>
              <c:f>Sheet1!$A$2:$A$11</c:f>
              <c:strCache>
                <c:ptCount val="10"/>
                <c:pt idx="0">
                  <c:v>台北富邦商業銀行</c:v>
                </c:pt>
                <c:pt idx="1">
                  <c:v>國泰世華商業銀行</c:v>
                </c:pt>
                <c:pt idx="2">
                  <c:v>中國信託商業銀行</c:v>
                </c:pt>
                <c:pt idx="3">
                  <c:v>玉山商業銀行</c:v>
                </c:pt>
                <c:pt idx="4">
                  <c:v>星展(台灣)商業銀行</c:v>
                </c:pt>
                <c:pt idx="5">
                  <c:v>台新國際商業銀行</c:v>
                </c:pt>
                <c:pt idx="6">
                  <c:v>華南商業銀行</c:v>
                </c:pt>
                <c:pt idx="7">
                  <c:v>聯邦商業銀行</c:v>
                </c:pt>
                <c:pt idx="8">
                  <c:v>永豐商業銀行</c:v>
                </c:pt>
                <c:pt idx="9">
                  <c:v>凱基商業銀行</c:v>
                </c:pt>
              </c:strCache>
            </c:strRef>
          </c:cat>
          <c:val>
            <c:numRef>
              <c:f>Sheet1!$E$2:$E$11</c:f>
              <c:numCache>
                <c:formatCode>General</c:formatCode>
                <c:ptCount val="10"/>
                <c:pt idx="0">
                  <c:v>17.0933</c:v>
                </c:pt>
                <c:pt idx="1">
                  <c:v>18.581</c:v>
                </c:pt>
                <c:pt idx="2">
                  <c:v>14.8059</c:v>
                </c:pt>
                <c:pt idx="3">
                  <c:v>9.6917</c:v>
                </c:pt>
                <c:pt idx="4">
                  <c:v>9.7022</c:v>
                </c:pt>
                <c:pt idx="5">
                  <c:v>7.0492</c:v>
                </c:pt>
                <c:pt idx="6">
                  <c:v>0.0</c:v>
                </c:pt>
                <c:pt idx="7">
                  <c:v>4.6393</c:v>
                </c:pt>
                <c:pt idx="8">
                  <c:v>2.7729</c:v>
                </c:pt>
                <c:pt idx="9">
                  <c:v>1.6621</c:v>
                </c:pt>
              </c:numCache>
            </c:numRef>
          </c:val>
        </c:ser>
        <c:ser>
          <c:idx val="4"/>
          <c:order val="4"/>
          <c:tx>
            <c:strRef>
              <c:f>Sheet1!$F$1</c:f>
              <c:strCache>
                <c:ptCount val="1"/>
                <c:pt idx="0">
                  <c:v>11405</c:v>
                </c:pt>
              </c:strCache>
            </c:strRef>
          </c:tx>
          <c:cat>
            <c:strRef>
              <c:f>Sheet1!$A$2:$A$11</c:f>
              <c:strCache>
                <c:ptCount val="10"/>
                <c:pt idx="0">
                  <c:v>台北富邦商業銀行</c:v>
                </c:pt>
                <c:pt idx="1">
                  <c:v>國泰世華商業銀行</c:v>
                </c:pt>
                <c:pt idx="2">
                  <c:v>中國信託商業銀行</c:v>
                </c:pt>
                <c:pt idx="3">
                  <c:v>玉山商業銀行</c:v>
                </c:pt>
                <c:pt idx="4">
                  <c:v>星展(台灣)商業銀行</c:v>
                </c:pt>
                <c:pt idx="5">
                  <c:v>台新國際商業銀行</c:v>
                </c:pt>
                <c:pt idx="6">
                  <c:v>華南商業銀行</c:v>
                </c:pt>
                <c:pt idx="7">
                  <c:v>聯邦商業銀行</c:v>
                </c:pt>
                <c:pt idx="8">
                  <c:v>永豐商業銀行</c:v>
                </c:pt>
                <c:pt idx="9">
                  <c:v>凱基商業銀行</c:v>
                </c:pt>
              </c:strCache>
            </c:strRef>
          </c:cat>
          <c:val>
            <c:numRef>
              <c:f>Sheet1!$F$2:$F$11</c:f>
              <c:numCache>
                <c:formatCode>General</c:formatCode>
                <c:ptCount val="10"/>
                <c:pt idx="0">
                  <c:v>15.3702</c:v>
                </c:pt>
                <c:pt idx="1">
                  <c:v>17.3123</c:v>
                </c:pt>
                <c:pt idx="2">
                  <c:v>14.9801</c:v>
                </c:pt>
                <c:pt idx="3">
                  <c:v>10.314</c:v>
                </c:pt>
                <c:pt idx="4">
                  <c:v>10.6325</c:v>
                </c:pt>
                <c:pt idx="5">
                  <c:v>7.3653</c:v>
                </c:pt>
                <c:pt idx="6">
                  <c:v>0.0</c:v>
                </c:pt>
                <c:pt idx="7">
                  <c:v>3.9897</c:v>
                </c:pt>
                <c:pt idx="8">
                  <c:v>3.075</c:v>
                </c:pt>
                <c:pt idx="9">
                  <c:v>1.4896</c:v>
                </c:pt>
              </c:numCache>
            </c:numRef>
          </c:val>
        </c:ser>
        <c:ser>
          <c:idx val="5"/>
          <c:order val="5"/>
          <c:tx>
            <c:strRef>
              <c:f>Sheet1!$G$1</c:f>
              <c:strCache>
                <c:ptCount val="1"/>
                <c:pt idx="0">
                  <c:v>11406</c:v>
                </c:pt>
              </c:strCache>
            </c:strRef>
          </c:tx>
          <c:cat>
            <c:strRef>
              <c:f>Sheet1!$A$2:$A$11</c:f>
              <c:strCache>
                <c:ptCount val="10"/>
                <c:pt idx="0">
                  <c:v>台北富邦商業銀行</c:v>
                </c:pt>
                <c:pt idx="1">
                  <c:v>國泰世華商業銀行</c:v>
                </c:pt>
                <c:pt idx="2">
                  <c:v>中國信託商業銀行</c:v>
                </c:pt>
                <c:pt idx="3">
                  <c:v>玉山商業銀行</c:v>
                </c:pt>
                <c:pt idx="4">
                  <c:v>星展(台灣)商業銀行</c:v>
                </c:pt>
                <c:pt idx="5">
                  <c:v>台新國際商業銀行</c:v>
                </c:pt>
                <c:pt idx="6">
                  <c:v>華南商業銀行</c:v>
                </c:pt>
                <c:pt idx="7">
                  <c:v>聯邦商業銀行</c:v>
                </c:pt>
                <c:pt idx="8">
                  <c:v>永豐商業銀行</c:v>
                </c:pt>
                <c:pt idx="9">
                  <c:v>凱基商業銀行</c:v>
                </c:pt>
              </c:strCache>
            </c:strRef>
          </c:cat>
          <c:val>
            <c:numRef>
              <c:f>Sheet1!$G$2:$G$11</c:f>
              <c:numCache>
                <c:formatCode>General</c:formatCode>
                <c:ptCount val="10"/>
                <c:pt idx="0">
                  <c:v>14.3419</c:v>
                </c:pt>
                <c:pt idx="1">
                  <c:v>14.2397</c:v>
                </c:pt>
                <c:pt idx="2">
                  <c:v>15.5846</c:v>
                </c:pt>
                <c:pt idx="3">
                  <c:v>12.0919</c:v>
                </c:pt>
                <c:pt idx="4">
                  <c:v>9.3522</c:v>
                </c:pt>
                <c:pt idx="5">
                  <c:v>8.1936</c:v>
                </c:pt>
                <c:pt idx="6">
                  <c:v>4.1434</c:v>
                </c:pt>
                <c:pt idx="7">
                  <c:v>3.6332</c:v>
                </c:pt>
                <c:pt idx="8">
                  <c:v>3.1975</c:v>
                </c:pt>
                <c:pt idx="9">
                  <c:v>1.5053</c:v>
                </c:pt>
              </c:numCache>
            </c:numRef>
          </c:val>
        </c:ser>
        <c:ser>
          <c:idx val="6"/>
          <c:order val="6"/>
          <c:tx>
            <c:strRef>
              <c:f>Sheet1!$H$1</c:f>
              <c:strCache>
                <c:ptCount val="1"/>
                <c:pt idx="0">
                  <c:v>11407</c:v>
                </c:pt>
              </c:strCache>
            </c:strRef>
          </c:tx>
          <c:cat>
            <c:strRef>
              <c:f>Sheet1!$A$2:$A$11</c:f>
              <c:strCache>
                <c:ptCount val="10"/>
                <c:pt idx="0">
                  <c:v>台北富邦商業銀行</c:v>
                </c:pt>
                <c:pt idx="1">
                  <c:v>國泰世華商業銀行</c:v>
                </c:pt>
                <c:pt idx="2">
                  <c:v>中國信託商業銀行</c:v>
                </c:pt>
                <c:pt idx="3">
                  <c:v>玉山商業銀行</c:v>
                </c:pt>
                <c:pt idx="4">
                  <c:v>星展(台灣)商業銀行</c:v>
                </c:pt>
                <c:pt idx="5">
                  <c:v>台新國際商業銀行</c:v>
                </c:pt>
                <c:pt idx="6">
                  <c:v>華南商業銀行</c:v>
                </c:pt>
                <c:pt idx="7">
                  <c:v>聯邦商業銀行</c:v>
                </c:pt>
                <c:pt idx="8">
                  <c:v>永豐商業銀行</c:v>
                </c:pt>
                <c:pt idx="9">
                  <c:v>凱基商業銀行</c:v>
                </c:pt>
              </c:strCache>
            </c:strRef>
          </c:cat>
          <c:val>
            <c:numRef>
              <c:f>Sheet1!$H$2:$H$11</c:f>
              <c:numCache>
                <c:formatCode>General</c:formatCode>
                <c:ptCount val="10"/>
                <c:pt idx="0">
                  <c:v>15.1201</c:v>
                </c:pt>
                <c:pt idx="1">
                  <c:v>15.7563</c:v>
                </c:pt>
                <c:pt idx="2">
                  <c:v>15.0425</c:v>
                </c:pt>
                <c:pt idx="3">
                  <c:v>14.7787</c:v>
                </c:pt>
                <c:pt idx="4">
                  <c:v>8.5559</c:v>
                </c:pt>
                <c:pt idx="5">
                  <c:v>7.8384</c:v>
                </c:pt>
                <c:pt idx="6">
                  <c:v>0.0</c:v>
                </c:pt>
                <c:pt idx="7">
                  <c:v>4.012</c:v>
                </c:pt>
                <c:pt idx="8">
                  <c:v>2.5158</c:v>
                </c:pt>
                <c:pt idx="9">
                  <c:v>1.3463</c:v>
                </c:pt>
              </c:numCache>
            </c:numRef>
          </c:val>
        </c:ser>
        <c:ser>
          <c:idx val="7"/>
          <c:order val="7"/>
          <c:tx>
            <c:strRef>
              <c:f>Sheet1!$I$1</c:f>
              <c:strCache>
                <c:ptCount val="1"/>
                <c:pt idx="0">
                  <c:v>11408</c:v>
                </c:pt>
              </c:strCache>
            </c:strRef>
          </c:tx>
          <c:cat>
            <c:strRef>
              <c:f>Sheet1!$A$2:$A$11</c:f>
              <c:strCache>
                <c:ptCount val="10"/>
                <c:pt idx="0">
                  <c:v>台北富邦商業銀行</c:v>
                </c:pt>
                <c:pt idx="1">
                  <c:v>國泰世華商業銀行</c:v>
                </c:pt>
                <c:pt idx="2">
                  <c:v>中國信託商業銀行</c:v>
                </c:pt>
                <c:pt idx="3">
                  <c:v>玉山商業銀行</c:v>
                </c:pt>
                <c:pt idx="4">
                  <c:v>星展(台灣)商業銀行</c:v>
                </c:pt>
                <c:pt idx="5">
                  <c:v>台新國際商業銀行</c:v>
                </c:pt>
                <c:pt idx="6">
                  <c:v>華南商業銀行</c:v>
                </c:pt>
                <c:pt idx="7">
                  <c:v>聯邦商業銀行</c:v>
                </c:pt>
                <c:pt idx="8">
                  <c:v>永豐商業銀行</c:v>
                </c:pt>
                <c:pt idx="9">
                  <c:v>凱基商業銀行</c:v>
                </c:pt>
              </c:strCache>
            </c:strRef>
          </c:cat>
          <c:val>
            <c:numRef>
              <c:f>Sheet1!$I$2:$I$11</c:f>
              <c:numCache>
                <c:formatCode>General</c:formatCode>
                <c:ptCount val="10"/>
                <c:pt idx="0">
                  <c:v>13.8953</c:v>
                </c:pt>
                <c:pt idx="1">
                  <c:v>16.093</c:v>
                </c:pt>
                <c:pt idx="2">
                  <c:v>15.0324</c:v>
                </c:pt>
                <c:pt idx="3">
                  <c:v>15.321</c:v>
                </c:pt>
                <c:pt idx="4">
                  <c:v>8.4689</c:v>
                </c:pt>
                <c:pt idx="5">
                  <c:v>7.6189</c:v>
                </c:pt>
                <c:pt idx="6">
                  <c:v>0.0</c:v>
                </c:pt>
                <c:pt idx="7">
                  <c:v>3.9993</c:v>
                </c:pt>
                <c:pt idx="8">
                  <c:v>3.7211</c:v>
                </c:pt>
                <c:pt idx="9">
                  <c:v>1.5163</c:v>
                </c:pt>
              </c:numCache>
            </c:numRef>
          </c:val>
        </c:ser>
        <c:ser>
          <c:idx val="8"/>
          <c:order val="8"/>
          <c:tx>
            <c:strRef>
              <c:f>Sheet1!$J$1</c:f>
              <c:strCache>
                <c:ptCount val="1"/>
                <c:pt idx="0">
                  <c:v>11409</c:v>
                </c:pt>
              </c:strCache>
            </c:strRef>
          </c:tx>
          <c:cat>
            <c:strRef>
              <c:f>Sheet1!$A$2:$A$11</c:f>
              <c:strCache>
                <c:ptCount val="10"/>
                <c:pt idx="0">
                  <c:v>台北富邦商業銀行</c:v>
                </c:pt>
                <c:pt idx="1">
                  <c:v>國泰世華商業銀行</c:v>
                </c:pt>
                <c:pt idx="2">
                  <c:v>中國信託商業銀行</c:v>
                </c:pt>
                <c:pt idx="3">
                  <c:v>玉山商業銀行</c:v>
                </c:pt>
                <c:pt idx="4">
                  <c:v>星展(台灣)商業銀行</c:v>
                </c:pt>
                <c:pt idx="5">
                  <c:v>台新國際商業銀行</c:v>
                </c:pt>
                <c:pt idx="6">
                  <c:v>華南商業銀行</c:v>
                </c:pt>
                <c:pt idx="7">
                  <c:v>聯邦商業銀行</c:v>
                </c:pt>
                <c:pt idx="8">
                  <c:v>永豐商業銀行</c:v>
                </c:pt>
                <c:pt idx="9">
                  <c:v>凱基商業銀行</c:v>
                </c:pt>
              </c:strCache>
            </c:strRef>
          </c:cat>
          <c:val>
            <c:numRef>
              <c:f>Sheet1!$J$2:$J$11</c:f>
              <c:numCache>
                <c:formatCode>General</c:formatCode>
                <c:ptCount val="10"/>
                <c:pt idx="0">
                  <c:v>14.1636</c:v>
                </c:pt>
                <c:pt idx="1">
                  <c:v>15.1867</c:v>
                </c:pt>
                <c:pt idx="2">
                  <c:v>13.7856</c:v>
                </c:pt>
                <c:pt idx="3">
                  <c:v>13.5275</c:v>
                </c:pt>
                <c:pt idx="4">
                  <c:v>9.766</c:v>
                </c:pt>
                <c:pt idx="5">
                  <c:v>7.5741</c:v>
                </c:pt>
                <c:pt idx="6">
                  <c:v>3.8079</c:v>
                </c:pt>
                <c:pt idx="7">
                  <c:v>3.9173</c:v>
                </c:pt>
                <c:pt idx="8">
                  <c:v>2.8993</c:v>
                </c:pt>
                <c:pt idx="9">
                  <c:v>1.6099</c:v>
                </c:pt>
              </c:numCache>
            </c:numRef>
          </c:val>
        </c:ser>
        <c:ser>
          <c:idx val="9"/>
          <c:order val="9"/>
          <c:tx>
            <c:strRef>
              <c:f>Sheet1!$K$1</c:f>
              <c:strCache>
                <c:ptCount val="1"/>
                <c:pt idx="0">
                  <c:v>11410</c:v>
                </c:pt>
              </c:strCache>
            </c:strRef>
          </c:tx>
          <c:cat>
            <c:strRef>
              <c:f>Sheet1!$A$2:$A$11</c:f>
              <c:strCache>
                <c:ptCount val="10"/>
                <c:pt idx="0">
                  <c:v>台北富邦商業銀行</c:v>
                </c:pt>
                <c:pt idx="1">
                  <c:v>國泰世華商業銀行</c:v>
                </c:pt>
                <c:pt idx="2">
                  <c:v>中國信託商業銀行</c:v>
                </c:pt>
                <c:pt idx="3">
                  <c:v>玉山商業銀行</c:v>
                </c:pt>
                <c:pt idx="4">
                  <c:v>星展(台灣)商業銀行</c:v>
                </c:pt>
                <c:pt idx="5">
                  <c:v>台新國際商業銀行</c:v>
                </c:pt>
                <c:pt idx="6">
                  <c:v>華南商業銀行</c:v>
                </c:pt>
                <c:pt idx="7">
                  <c:v>聯邦商業銀行</c:v>
                </c:pt>
                <c:pt idx="8">
                  <c:v>永豐商業銀行</c:v>
                </c:pt>
                <c:pt idx="9">
                  <c:v>凱基商業銀行</c:v>
                </c:pt>
              </c:strCache>
            </c:strRef>
          </c:cat>
          <c:val>
            <c:numRef>
              <c:f>Sheet1!$K$2:$K$11</c:f>
              <c:numCache>
                <c:formatCode>General</c:formatCode>
                <c:ptCount val="10"/>
                <c:pt idx="0">
                  <c:v>15.8355</c:v>
                </c:pt>
                <c:pt idx="1">
                  <c:v>15.9892</c:v>
                </c:pt>
                <c:pt idx="2">
                  <c:v>14.3304</c:v>
                </c:pt>
                <c:pt idx="3">
                  <c:v>13.6092</c:v>
                </c:pt>
                <c:pt idx="4">
                  <c:v>7.6058</c:v>
                </c:pt>
                <c:pt idx="5">
                  <c:v>7.1582</c:v>
                </c:pt>
                <c:pt idx="6">
                  <c:v>0.0</c:v>
                </c:pt>
                <c:pt idx="7">
                  <c:v>4.417</c:v>
                </c:pt>
                <c:pt idx="8">
                  <c:v>3.7774</c:v>
                </c:pt>
                <c:pt idx="9">
                  <c:v>1.3727</c:v>
                </c:pt>
              </c:numCache>
            </c:numRef>
          </c:val>
        </c:ser>
        <c:ser>
          <c:idx val="10"/>
          <c:order val="10"/>
          <c:tx>
            <c:strRef>
              <c:f>Sheet1!$L$1</c:f>
              <c:strCache>
                <c:ptCount val="1"/>
                <c:pt idx="0">
                  <c:v>11411</c:v>
                </c:pt>
              </c:strCache>
            </c:strRef>
          </c:tx>
          <c:cat>
            <c:strRef>
              <c:f>Sheet1!$A$2:$A$11</c:f>
              <c:strCache>
                <c:ptCount val="10"/>
                <c:pt idx="0">
                  <c:v>台北富邦商業銀行</c:v>
                </c:pt>
                <c:pt idx="1">
                  <c:v>國泰世華商業銀行</c:v>
                </c:pt>
                <c:pt idx="2">
                  <c:v>中國信託商業銀行</c:v>
                </c:pt>
                <c:pt idx="3">
                  <c:v>玉山商業銀行</c:v>
                </c:pt>
                <c:pt idx="4">
                  <c:v>星展(台灣)商業銀行</c:v>
                </c:pt>
                <c:pt idx="5">
                  <c:v>台新國際商業銀行</c:v>
                </c:pt>
                <c:pt idx="6">
                  <c:v>華南商業銀行</c:v>
                </c:pt>
                <c:pt idx="7">
                  <c:v>聯邦商業銀行</c:v>
                </c:pt>
                <c:pt idx="8">
                  <c:v>永豐商業銀行</c:v>
                </c:pt>
                <c:pt idx="9">
                  <c:v>凱基商業銀行</c:v>
                </c:pt>
              </c:strCache>
            </c:strRef>
          </c:cat>
          <c:val>
            <c:numRef>
              <c:f>Sheet1!$L$2:$L$11</c:f>
              <c:numCache>
                <c:formatCode>General</c:formatCode>
                <c:ptCount val="10"/>
                <c:pt idx="0">
                  <c:v>14.6015</c:v>
                </c:pt>
                <c:pt idx="1">
                  <c:v>15.8772</c:v>
                </c:pt>
                <c:pt idx="2">
                  <c:v>16.0118</c:v>
                </c:pt>
                <c:pt idx="3">
                  <c:v>14.2021</c:v>
                </c:pt>
                <c:pt idx="4">
                  <c:v>7.7665</c:v>
                </c:pt>
                <c:pt idx="5">
                  <c:v>7.838</c:v>
                </c:pt>
                <c:pt idx="6">
                  <c:v>0.0</c:v>
                </c:pt>
                <c:pt idx="7">
                  <c:v>4.5872</c:v>
                </c:pt>
                <c:pt idx="8">
                  <c:v>3.2193</c:v>
                </c:pt>
                <c:pt idx="9">
                  <c:v>1.4973</c:v>
                </c:pt>
              </c:numCache>
            </c:numRef>
          </c:val>
        </c:ser>
        <c:ser>
          <c:idx val="11"/>
          <c:order val="11"/>
          <c:tx>
            <c:strRef>
              <c:f>Sheet1!$M$1</c:f>
              <c:strCache>
                <c:ptCount val="1"/>
                <c:pt idx="0">
                  <c:v>11412</c:v>
                </c:pt>
              </c:strCache>
            </c:strRef>
          </c:tx>
          <c:cat>
            <c:strRef>
              <c:f>Sheet1!$A$2:$A$11</c:f>
              <c:strCache>
                <c:ptCount val="10"/>
                <c:pt idx="0">
                  <c:v>台北富邦商業銀行</c:v>
                </c:pt>
                <c:pt idx="1">
                  <c:v>國泰世華商業銀行</c:v>
                </c:pt>
                <c:pt idx="2">
                  <c:v>中國信託商業銀行</c:v>
                </c:pt>
                <c:pt idx="3">
                  <c:v>玉山商業銀行</c:v>
                </c:pt>
                <c:pt idx="4">
                  <c:v>星展(台灣)商業銀行</c:v>
                </c:pt>
                <c:pt idx="5">
                  <c:v>台新國際商業銀行</c:v>
                </c:pt>
                <c:pt idx="6">
                  <c:v>華南商業銀行</c:v>
                </c:pt>
                <c:pt idx="7">
                  <c:v>聯邦商業銀行</c:v>
                </c:pt>
                <c:pt idx="8">
                  <c:v>永豐商業銀行</c:v>
                </c:pt>
                <c:pt idx="9">
                  <c:v>凱基商業銀行</c:v>
                </c:pt>
              </c:strCache>
            </c:strRef>
          </c:cat>
          <c:val>
            <c:numRef>
              <c:f>Sheet1!$M$2:$M$11</c:f>
              <c:numCache>
                <c:formatCode>General</c:formatCode>
                <c:ptCount val="10"/>
                <c:pt idx="0">
                  <c:v>14.7773</c:v>
                </c:pt>
                <c:pt idx="1">
                  <c:v>14.6736</c:v>
                </c:pt>
                <c:pt idx="2">
                  <c:v>14.3304</c:v>
                </c:pt>
                <c:pt idx="3">
                  <c:v>13.0249</c:v>
                </c:pt>
                <c:pt idx="4">
                  <c:v>9.0144</c:v>
                </c:pt>
                <c:pt idx="5">
                  <c:v>6.643</c:v>
                </c:pt>
                <c:pt idx="6">
                  <c:v>4.6039</c:v>
                </c:pt>
                <c:pt idx="7">
                  <c:v>4.3975</c:v>
                </c:pt>
                <c:pt idx="8">
                  <c:v>2.7167</c:v>
                </c:pt>
                <c:pt idx="9">
                  <c:v>2.136</c:v>
                </c:pt>
              </c:numCache>
            </c:numRef>
          </c:val>
        </c:ser>
        <c:axId val="-2068027336"/>
        <c:axId val="-2113994440"/>
      </c:barChart>
      <c:catAx>
        <c:axId val="-2068027336"/>
        <c:scaling>
          <c:orientation val="minMax"/>
        </c:scaling>
        <c:delete val="0"/>
        <c:axPos val="l"/>
        <c:majorTickMark val="out"/>
        <c:minorTickMark val="none"/>
        <c:tickLblPos val="nextTo"/>
        <c:crossAx val="-2113994440"/>
        <c:crosses val="autoZero"/>
        <c:auto val="1"/>
        <c:lblAlgn val="ctr"/>
        <c:lblOffset val="100"/>
        <c:noMultiLvlLbl val="0"/>
      </c:catAx>
      <c:valAx>
        <c:axId val="-2113994440"/>
        <c:scaling/>
        <c:delete val="0"/>
        <c:axPos val="b"/>
        <c:majorGridlines/>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chart>
    <c:title>
      <c:tx>
        <c:rich>
          <a:bodyPr/>
          <a:lstStyle/>
          <a:p>
            <a:r>
              <a:t>市場業務指標未來趨勢預測（流通卡數、簽帳金額與呆帳風險）</a:t>
            </a:r>
          </a:p>
        </c:rich>
      </c:tx>
      <c:layout/>
      <c:overlay val="0"/>
    </c:title>
    <c:autoTitleDeleted val="0"/>
    <c:plotArea>
      <c:lineChart>
        <c:grouping val="standard"/>
        <c:varyColors val="0"/>
        <c:ser>
          <c:idx val="0"/>
          <c:order val="0"/>
          <c:tx>
            <c:strRef>
              <c:f>Sheet1!$B$1</c:f>
              <c:strCache>
                <c:ptCount val="1"/>
                <c:pt idx="0">
                  <c:v>流通卡數</c:v>
                </c:pt>
              </c:strCache>
            </c:strRef>
          </c:tx>
          <c:cat>
            <c:strRef>
              <c:f>Sheet1!$A$2:$A$16</c:f>
              <c:strCache>
                <c:ptCount val="15"/>
                <c:pt idx="0">
                  <c:v>11401</c:v>
                </c:pt>
                <c:pt idx="1">
                  <c:v>11402</c:v>
                </c:pt>
                <c:pt idx="2">
                  <c:v>11403</c:v>
                </c:pt>
                <c:pt idx="3">
                  <c:v>11404</c:v>
                </c:pt>
                <c:pt idx="4">
                  <c:v>11405</c:v>
                </c:pt>
                <c:pt idx="5">
                  <c:v>11406</c:v>
                </c:pt>
                <c:pt idx="6">
                  <c:v>11407</c:v>
                </c:pt>
                <c:pt idx="7">
                  <c:v>11408</c:v>
                </c:pt>
                <c:pt idx="8">
                  <c:v>11409</c:v>
                </c:pt>
                <c:pt idx="9">
                  <c:v>11410</c:v>
                </c:pt>
                <c:pt idx="10">
                  <c:v>11411</c:v>
                </c:pt>
                <c:pt idx="11">
                  <c:v>11412</c:v>
                </c:pt>
                <c:pt idx="12">
                  <c:v>預測+1</c:v>
                </c:pt>
                <c:pt idx="13">
                  <c:v>預測+2</c:v>
                </c:pt>
                <c:pt idx="14">
                  <c:v>預測+3</c:v>
                </c:pt>
              </c:strCache>
            </c:strRef>
          </c:cat>
          <c:val>
            <c:numRef>
              <c:f>Sheet1!$B$2:$B$16</c:f>
              <c:numCache>
                <c:formatCode>General</c:formatCode>
                <c:ptCount val="15"/>
                <c:pt idx="0">
                  <c:v>58654745.0</c:v>
                </c:pt>
                <c:pt idx="1">
                  <c:v>58747562.0</c:v>
                </c:pt>
                <c:pt idx="2">
                  <c:v>58994262.0</c:v>
                </c:pt>
                <c:pt idx="3">
                  <c:v>59388667.0</c:v>
                </c:pt>
                <c:pt idx="4">
                  <c:v>59795907.0</c:v>
                </c:pt>
                <c:pt idx="5">
                  <c:v>59869255.0</c:v>
                </c:pt>
                <c:pt idx="6">
                  <c:v>59947219.0</c:v>
                </c:pt>
                <c:pt idx="7">
                  <c:v>60149284.0</c:v>
                </c:pt>
                <c:pt idx="8">
                  <c:v>60354497.0</c:v>
                </c:pt>
                <c:pt idx="9">
                  <c:v>60479206.0</c:v>
                </c:pt>
                <c:pt idx="10">
                  <c:v>60424521.0</c:v>
                </c:pt>
                <c:pt idx="11">
                  <c:v>60485911.0</c:v>
                </c:pt>
                <c:pt idx="12">
                  <c:v>60946919.1364</c:v>
                </c:pt>
                <c:pt idx="13">
                  <c:v>61127329.3112</c:v>
                </c:pt>
                <c:pt idx="14">
                  <c:v>61307739.486</c:v>
                </c:pt>
              </c:numCache>
            </c:numRef>
          </c:val>
          <c:smooth val="0"/>
        </c:ser>
        <c:ser>
          <c:idx val="1"/>
          <c:order val="1"/>
          <c:tx>
            <c:strRef>
              <c:f>Sheet1!$C$1</c:f>
              <c:strCache>
                <c:ptCount val="1"/>
                <c:pt idx="0">
                  <c:v>當月簽帳金額</c:v>
                </c:pt>
              </c:strCache>
            </c:strRef>
          </c:tx>
          <c:cat>
            <c:strRef>
              <c:f>Sheet1!$A$2:$A$16</c:f>
              <c:strCache>
                <c:ptCount val="15"/>
                <c:pt idx="0">
                  <c:v>11401</c:v>
                </c:pt>
                <c:pt idx="1">
                  <c:v>11402</c:v>
                </c:pt>
                <c:pt idx="2">
                  <c:v>11403</c:v>
                </c:pt>
                <c:pt idx="3">
                  <c:v>11404</c:v>
                </c:pt>
                <c:pt idx="4">
                  <c:v>11405</c:v>
                </c:pt>
                <c:pt idx="5">
                  <c:v>11406</c:v>
                </c:pt>
                <c:pt idx="6">
                  <c:v>11407</c:v>
                </c:pt>
                <c:pt idx="7">
                  <c:v>11408</c:v>
                </c:pt>
                <c:pt idx="8">
                  <c:v>11409</c:v>
                </c:pt>
                <c:pt idx="9">
                  <c:v>11410</c:v>
                </c:pt>
                <c:pt idx="10">
                  <c:v>11411</c:v>
                </c:pt>
                <c:pt idx="11">
                  <c:v>11412</c:v>
                </c:pt>
                <c:pt idx="12">
                  <c:v>預測+1</c:v>
                </c:pt>
                <c:pt idx="13">
                  <c:v>預測+2</c:v>
                </c:pt>
                <c:pt idx="14">
                  <c:v>預測+3</c:v>
                </c:pt>
              </c:strCache>
            </c:strRef>
          </c:cat>
          <c:val>
            <c:numRef>
              <c:f>Sheet1!$C$2:$C$16</c:f>
              <c:numCache>
                <c:formatCode>General</c:formatCode>
                <c:ptCount val="15"/>
                <c:pt idx="0">
                  <c:v>338561389.0</c:v>
                </c:pt>
                <c:pt idx="1">
                  <c:v>395294658.0</c:v>
                </c:pt>
                <c:pt idx="2">
                  <c:v>377172642.0</c:v>
                </c:pt>
                <c:pt idx="3">
                  <c:v>373344235.0</c:v>
                </c:pt>
                <c:pt idx="4">
                  <c:v>371785303.0</c:v>
                </c:pt>
                <c:pt idx="5">
                  <c:v>393715829.0</c:v>
                </c:pt>
                <c:pt idx="6">
                  <c:v>653264628.0</c:v>
                </c:pt>
                <c:pt idx="7">
                  <c:v>376250456.0</c:v>
                </c:pt>
                <c:pt idx="8">
                  <c:v>403174279.0</c:v>
                </c:pt>
                <c:pt idx="9">
                  <c:v>453412126.0</c:v>
                </c:pt>
                <c:pt idx="10">
                  <c:v>396704763.0</c:v>
                </c:pt>
                <c:pt idx="11">
                  <c:v>453663538.0</c:v>
                </c:pt>
                <c:pt idx="12">
                  <c:v>466314686.7879</c:v>
                </c:pt>
                <c:pt idx="13">
                  <c:v>474127922.627</c:v>
                </c:pt>
                <c:pt idx="14">
                  <c:v>481941158.4662</c:v>
                </c:pt>
              </c:numCache>
            </c:numRef>
          </c:val>
          <c:smooth val="0"/>
        </c:ser>
        <c:ser>
          <c:idx val="2"/>
          <c:order val="2"/>
          <c:tx>
            <c:strRef>
              <c:f>Sheet1!$D$1</c:f>
              <c:strCache>
                <c:ptCount val="1"/>
                <c:pt idx="0">
                  <c:v>當月轉銷呆帳金額</c:v>
                </c:pt>
              </c:strCache>
            </c:strRef>
          </c:tx>
          <c:cat>
            <c:strRef>
              <c:f>Sheet1!$A$2:$A$16</c:f>
              <c:strCache>
                <c:ptCount val="15"/>
                <c:pt idx="0">
                  <c:v>11401</c:v>
                </c:pt>
                <c:pt idx="1">
                  <c:v>11402</c:v>
                </c:pt>
                <c:pt idx="2">
                  <c:v>11403</c:v>
                </c:pt>
                <c:pt idx="3">
                  <c:v>11404</c:v>
                </c:pt>
                <c:pt idx="4">
                  <c:v>11405</c:v>
                </c:pt>
                <c:pt idx="5">
                  <c:v>11406</c:v>
                </c:pt>
                <c:pt idx="6">
                  <c:v>11407</c:v>
                </c:pt>
                <c:pt idx="7">
                  <c:v>11408</c:v>
                </c:pt>
                <c:pt idx="8">
                  <c:v>11409</c:v>
                </c:pt>
                <c:pt idx="9">
                  <c:v>11410</c:v>
                </c:pt>
                <c:pt idx="10">
                  <c:v>11411</c:v>
                </c:pt>
                <c:pt idx="11">
                  <c:v>11412</c:v>
                </c:pt>
                <c:pt idx="12">
                  <c:v>預測+1</c:v>
                </c:pt>
                <c:pt idx="13">
                  <c:v>預測+2</c:v>
                </c:pt>
                <c:pt idx="14">
                  <c:v>預測+3</c:v>
                </c:pt>
              </c:strCache>
            </c:strRef>
          </c:cat>
          <c:val>
            <c:numRef>
              <c:f>Sheet1!$D$2:$D$16</c:f>
              <c:numCache>
                <c:formatCode>General</c:formatCode>
                <c:ptCount val="15"/>
                <c:pt idx="0">
                  <c:v>654750.0</c:v>
                </c:pt>
                <c:pt idx="1">
                  <c:v>611054.0</c:v>
                </c:pt>
                <c:pt idx="2">
                  <c:v>641539.0</c:v>
                </c:pt>
                <c:pt idx="3">
                  <c:v>615972.0</c:v>
                </c:pt>
                <c:pt idx="4">
                  <c:v>600844.0</c:v>
                </c:pt>
                <c:pt idx="5">
                  <c:v>617225.0</c:v>
                </c:pt>
                <c:pt idx="6">
                  <c:v>589078.0</c:v>
                </c:pt>
                <c:pt idx="7">
                  <c:v>572496.0</c:v>
                </c:pt>
                <c:pt idx="8">
                  <c:v>632705.0</c:v>
                </c:pt>
                <c:pt idx="9">
                  <c:v>623815.0</c:v>
                </c:pt>
                <c:pt idx="10">
                  <c:v>601876.0</c:v>
                </c:pt>
                <c:pt idx="11">
                  <c:v>645165.0</c:v>
                </c:pt>
                <c:pt idx="12">
                  <c:v>609445.5758</c:v>
                </c:pt>
                <c:pt idx="13">
                  <c:v>608251.0618</c:v>
                </c:pt>
                <c:pt idx="14">
                  <c:v>607056.5478</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crossAx val="2140495176"/>
        <c:crosses val="autoZero"/>
        <c:auto val="1"/>
        <c:lblAlgn val="ctr"/>
        <c:lblOffset val="100"/>
        <c:noMultiLvlLbl val="0"/>
      </c:catAx>
      <c:valAx>
        <c:axId val="2140495176"/>
        <c:scaling/>
        <c:delete val="0"/>
        <c:axPos val="l"/>
        <c:majorGridlines/>
        <c:majorTickMark val="out"/>
        <c:minorTickMark val="none"/>
        <c:tickLblPos val="nextTo"/>
        <c:crossAx val="2118791784"/>
        <c:crosses val="autoZero"/>
      </c:valAx>
    </c:plotArea>
    <c:legend>
      <c:legendPos val="r"/>
      <c:layout/>
      <c:overlay val="0"/>
    </c:legend>
    <c:plotVisOnly val="1"/>
    <c:dispBlanksAs val="gap"/>
    <c:showDLblsOverMax val="0"/>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標題投影片" preserve="1">
  <p:cSld name="標題投影片">
    <p:spTree>
      <p:nvGrpSpPr>
        <p:cNvPr id="1" name="Shape 13"/>
        <p:cNvGrpSpPr/>
        <p:nvPr/>
      </p:nvGrpSpPr>
      <p:grpSpPr>
        <a:xfrm>
          <a:off x="0" y="0"/>
          <a:ext cx="0" cy="0"/>
          <a:chOff x="0" y="0"/>
          <a:chExt cx="0" cy="0"/>
        </a:xfrm>
      </p:grpSpPr>
      <p:pic>
        <p:nvPicPr>
          <p:cNvPr id="3" name="圖片 2" descr="一張含有 圖形 的圖片&#10;&#10;AI 產生的內容可能不正確。">
            <a:extLst>
              <a:ext uri="{FF2B5EF4-FFF2-40B4-BE49-F238E27FC236}">
                <a16:creationId xmlns:a16="http://schemas.microsoft.com/office/drawing/2014/main" id="{026A16C4-3BD0-72DB-C8B5-239F03494B4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467" y="0"/>
            <a:ext cx="12187066" cy="6858000"/>
          </a:xfrm>
          <a:prstGeom prst="rect">
            <a:avLst/>
          </a:prstGeom>
        </p:spPr>
      </p:pic>
      <p:sp>
        <p:nvSpPr>
          <p:cNvPr id="14" name="Google Shape;14;p7"/>
          <p:cNvSpPr txBox="1">
            <a:spLocks noGrp="1"/>
          </p:cNvSpPr>
          <p:nvPr>
            <p:ph type="title"/>
          </p:nvPr>
        </p:nvSpPr>
        <p:spPr>
          <a:xfrm>
            <a:off x="1114515" y="1278736"/>
            <a:ext cx="9962700" cy="759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4F4F4F"/>
              </a:buClr>
              <a:buSzPts val="3000"/>
              <a:buNone/>
              <a:defRPr sz="3000" i="0">
                <a:solidFill>
                  <a:srgbClr val="4F4F4F"/>
                </a:solidFill>
              </a:defRPr>
            </a:lvl1pPr>
            <a:lvl2pPr lvl="1" algn="l">
              <a:lnSpc>
                <a:spcPct val="100000"/>
              </a:lnSpc>
              <a:spcBef>
                <a:spcPts val="0"/>
              </a:spcBef>
              <a:spcAft>
                <a:spcPts val="0"/>
              </a:spcAft>
              <a:buSzPts val="1400"/>
              <a:buNone/>
              <a:defRPr b="1"/>
            </a:lvl2pPr>
            <a:lvl3pPr lvl="2" algn="l">
              <a:lnSpc>
                <a:spcPct val="100000"/>
              </a:lnSpc>
              <a:spcBef>
                <a:spcPts val="0"/>
              </a:spcBef>
              <a:spcAft>
                <a:spcPts val="0"/>
              </a:spcAft>
              <a:buSzPts val="1400"/>
              <a:buNone/>
              <a:defRPr b="1"/>
            </a:lvl3pPr>
            <a:lvl4pPr lvl="3" algn="l">
              <a:lnSpc>
                <a:spcPct val="100000"/>
              </a:lnSpc>
              <a:spcBef>
                <a:spcPts val="0"/>
              </a:spcBef>
              <a:spcAft>
                <a:spcPts val="0"/>
              </a:spcAft>
              <a:buSzPts val="1400"/>
              <a:buNone/>
              <a:defRPr b="1"/>
            </a:lvl4pPr>
            <a:lvl5pPr lvl="4" algn="l">
              <a:lnSpc>
                <a:spcPct val="100000"/>
              </a:lnSpc>
              <a:spcBef>
                <a:spcPts val="0"/>
              </a:spcBef>
              <a:spcAft>
                <a:spcPts val="0"/>
              </a:spcAft>
              <a:buSzPts val="1400"/>
              <a:buNone/>
              <a:defRPr b="1"/>
            </a:lvl5pPr>
            <a:lvl6pPr lvl="5" algn="l">
              <a:lnSpc>
                <a:spcPct val="100000"/>
              </a:lnSpc>
              <a:spcBef>
                <a:spcPts val="0"/>
              </a:spcBef>
              <a:spcAft>
                <a:spcPts val="0"/>
              </a:spcAft>
              <a:buSzPts val="1400"/>
              <a:buNone/>
              <a:defRPr b="1"/>
            </a:lvl6pPr>
            <a:lvl7pPr lvl="6" algn="l">
              <a:lnSpc>
                <a:spcPct val="100000"/>
              </a:lnSpc>
              <a:spcBef>
                <a:spcPts val="0"/>
              </a:spcBef>
              <a:spcAft>
                <a:spcPts val="0"/>
              </a:spcAft>
              <a:buSzPts val="1400"/>
              <a:buNone/>
              <a:defRPr b="1"/>
            </a:lvl7pPr>
            <a:lvl8pPr lvl="7" algn="l">
              <a:lnSpc>
                <a:spcPct val="100000"/>
              </a:lnSpc>
              <a:spcBef>
                <a:spcPts val="0"/>
              </a:spcBef>
              <a:spcAft>
                <a:spcPts val="0"/>
              </a:spcAft>
              <a:buSzPts val="1400"/>
              <a:buNone/>
              <a:defRPr b="1"/>
            </a:lvl8pPr>
            <a:lvl9pPr lvl="8" algn="l">
              <a:lnSpc>
                <a:spcPct val="100000"/>
              </a:lnSpc>
              <a:spcBef>
                <a:spcPts val="0"/>
              </a:spcBef>
              <a:spcAft>
                <a:spcPts val="0"/>
              </a:spcAft>
              <a:buSzPts val="1400"/>
              <a:buNone/>
              <a:defRPr b="1"/>
            </a:lvl9pPr>
          </a:lstStyle>
          <a:p>
            <a:endParaRPr/>
          </a:p>
        </p:txBody>
      </p:sp>
      <p:sp>
        <p:nvSpPr>
          <p:cNvPr id="15" name="Google Shape;15;p7"/>
          <p:cNvSpPr txBox="1">
            <a:spLocks noGrp="1"/>
          </p:cNvSpPr>
          <p:nvPr>
            <p:ph type="body" idx="1"/>
          </p:nvPr>
        </p:nvSpPr>
        <p:spPr>
          <a:xfrm>
            <a:off x="1114350" y="2394796"/>
            <a:ext cx="9963300" cy="3084000"/>
          </a:xfrm>
          <a:prstGeom prst="rect">
            <a:avLst/>
          </a:prstGeom>
          <a:noFill/>
          <a:ln>
            <a:noFill/>
          </a:ln>
        </p:spPr>
        <p:txBody>
          <a:bodyPr spcFirstLastPara="1" wrap="square" lIns="91425" tIns="45700" rIns="91425" bIns="45700" anchor="t" anchorCtr="0">
            <a:normAutofit/>
          </a:bodyPr>
          <a:lstStyle>
            <a:lvl1pPr marL="457200" lvl="0" indent="-381000" algn="l">
              <a:lnSpc>
                <a:spcPct val="90000"/>
              </a:lnSpc>
              <a:spcBef>
                <a:spcPts val="1000"/>
              </a:spcBef>
              <a:spcAft>
                <a:spcPts val="0"/>
              </a:spcAft>
              <a:buClr>
                <a:srgbClr val="BE171B"/>
              </a:buClr>
              <a:buSzPts val="2400"/>
              <a:buChar char="●"/>
              <a:defRPr i="0">
                <a:solidFill>
                  <a:srgbClr val="4F4F4F"/>
                </a:solidFill>
              </a:defRPr>
            </a:lvl1pPr>
            <a:lvl2pPr marL="914400" marR="0" lvl="1" indent="-355600" algn="l">
              <a:lnSpc>
                <a:spcPct val="100000"/>
              </a:lnSpc>
              <a:spcBef>
                <a:spcPts val="500"/>
              </a:spcBef>
              <a:spcAft>
                <a:spcPts val="0"/>
              </a:spcAft>
              <a:buClr>
                <a:srgbClr val="CC181D"/>
              </a:buClr>
              <a:buSzPts val="2000"/>
              <a:buChar char="●"/>
              <a:defRPr i="0">
                <a:solidFill>
                  <a:srgbClr val="4F4F4F"/>
                </a:solidFill>
              </a:defRPr>
            </a:lvl2pPr>
            <a:lvl3pPr marL="1371600" lvl="2" indent="-342900" algn="l">
              <a:lnSpc>
                <a:spcPct val="90000"/>
              </a:lnSpc>
              <a:spcBef>
                <a:spcPts val="500"/>
              </a:spcBef>
              <a:spcAft>
                <a:spcPts val="0"/>
              </a:spcAft>
              <a:buClr>
                <a:srgbClr val="BE171B"/>
              </a:buClr>
              <a:buSzPts val="1800"/>
              <a:buChar char="■"/>
              <a:defRPr/>
            </a:lvl3pPr>
            <a:lvl4pPr marL="1828800" lvl="3" indent="-228600" algn="l">
              <a:lnSpc>
                <a:spcPct val="90000"/>
              </a:lnSpc>
              <a:spcBef>
                <a:spcPts val="500"/>
              </a:spcBef>
              <a:spcAft>
                <a:spcPts val="0"/>
              </a:spcAft>
              <a:buClr>
                <a:srgbClr val="BE171B"/>
              </a:buClr>
              <a:buSzPts val="1800"/>
              <a:buNone/>
              <a:defRPr b="1"/>
            </a:lvl4pPr>
            <a:lvl5pPr marL="2286000" lvl="4" indent="-323850" algn="l">
              <a:lnSpc>
                <a:spcPct val="90000"/>
              </a:lnSpc>
              <a:spcBef>
                <a:spcPts val="500"/>
              </a:spcBef>
              <a:spcAft>
                <a:spcPts val="0"/>
              </a:spcAft>
              <a:buClr>
                <a:srgbClr val="BE171B"/>
              </a:buClr>
              <a:buSzPts val="1500"/>
              <a:buChar char="•"/>
              <a:defRPr sz="1500" b="1"/>
            </a:lvl5pPr>
            <a:lvl6pPr marL="2743200" lvl="5" indent="-317500" algn="l">
              <a:lnSpc>
                <a:spcPct val="90000"/>
              </a:lnSpc>
              <a:spcBef>
                <a:spcPts val="500"/>
              </a:spcBef>
              <a:spcAft>
                <a:spcPts val="0"/>
              </a:spcAft>
              <a:buClr>
                <a:srgbClr val="BE171B"/>
              </a:buClr>
              <a:buSzPts val="1400"/>
              <a:buChar char="•"/>
              <a:defRPr sz="1400" b="1">
                <a:solidFill>
                  <a:srgbClr val="464444"/>
                </a:solidFill>
              </a:defRPr>
            </a:lvl6pPr>
            <a:lvl7pPr marL="3200400" lvl="6" indent="-304800" algn="l">
              <a:lnSpc>
                <a:spcPct val="90000"/>
              </a:lnSpc>
              <a:spcBef>
                <a:spcPts val="500"/>
              </a:spcBef>
              <a:spcAft>
                <a:spcPts val="0"/>
              </a:spcAft>
              <a:buClr>
                <a:srgbClr val="BE171B"/>
              </a:buClr>
              <a:buSzPts val="1200"/>
              <a:buChar char="•"/>
              <a:defRPr sz="1200" b="1">
                <a:solidFill>
                  <a:srgbClr val="464444"/>
                </a:solidFill>
              </a:defRPr>
            </a:lvl7pPr>
            <a:lvl8pPr marL="3657600" lvl="7" indent="-292100" algn="l">
              <a:lnSpc>
                <a:spcPct val="90000"/>
              </a:lnSpc>
              <a:spcBef>
                <a:spcPts val="500"/>
              </a:spcBef>
              <a:spcAft>
                <a:spcPts val="0"/>
              </a:spcAft>
              <a:buClr>
                <a:srgbClr val="BE171B"/>
              </a:buClr>
              <a:buSzPts val="1000"/>
              <a:buChar char="•"/>
              <a:defRPr sz="1000" b="1">
                <a:solidFill>
                  <a:srgbClr val="464444"/>
                </a:solidFill>
              </a:defRPr>
            </a:lvl8pPr>
            <a:lvl9pPr marL="4114800" lvl="8" indent="-279400" algn="l">
              <a:lnSpc>
                <a:spcPct val="90000"/>
              </a:lnSpc>
              <a:spcBef>
                <a:spcPts val="500"/>
              </a:spcBef>
              <a:spcAft>
                <a:spcPts val="0"/>
              </a:spcAft>
              <a:buClr>
                <a:srgbClr val="BE171B"/>
              </a:buClr>
              <a:buSzPts val="800"/>
              <a:buChar char="•"/>
              <a:defRPr sz="800" b="1">
                <a:solidFill>
                  <a:srgbClr val="464444"/>
                </a:solidFill>
              </a:defRPr>
            </a:lvl9pPr>
          </a:lstStyle>
          <a:p>
            <a:endParaRPr/>
          </a:p>
        </p:txBody>
      </p:sp>
      <p:cxnSp>
        <p:nvCxnSpPr>
          <p:cNvPr id="16" name="Google Shape;16;p7"/>
          <p:cNvCxnSpPr/>
          <p:nvPr/>
        </p:nvCxnSpPr>
        <p:spPr>
          <a:xfrm>
            <a:off x="1114515" y="2056042"/>
            <a:ext cx="9962700" cy="0"/>
          </a:xfrm>
          <a:prstGeom prst="straightConnector1">
            <a:avLst/>
          </a:prstGeom>
          <a:noFill/>
          <a:ln w="19050" cap="flat" cmpd="sng">
            <a:solidFill>
              <a:srgbClr val="A5A5A5"/>
            </a:solidFill>
            <a:prstDash val="solid"/>
            <a:miter lim="800000"/>
            <a:headEnd type="none" w="sm" len="sm"/>
            <a:tailEnd type="none" w="sm" len="sm"/>
          </a:ln>
        </p:spPr>
      </p:cxnSp>
      <p:pic>
        <p:nvPicPr>
          <p:cNvPr id="17" name="Google Shape;17;p7" title="金控_中_白.png"/>
          <p:cNvPicPr preferRelativeResize="0"/>
          <p:nvPr/>
        </p:nvPicPr>
        <p:blipFill>
          <a:blip r:embed="rId3">
            <a:alphaModFix/>
          </a:blip>
          <a:stretch>
            <a:fillRect/>
          </a:stretch>
        </p:blipFill>
        <p:spPr>
          <a:xfrm>
            <a:off x="4680600" y="5618832"/>
            <a:ext cx="2830550" cy="1077051"/>
          </a:xfrm>
          <a:prstGeom prst="rect">
            <a:avLst/>
          </a:prstGeom>
          <a:noFill/>
          <a:ln>
            <a:noFill/>
          </a:ln>
        </p:spPr>
      </p:pic>
    </p:spTree>
    <p:extLst>
      <p:ext uri="{BB962C8B-B14F-4D97-AF65-F5344CB8AC3E}">
        <p14:creationId xmlns:p14="http://schemas.microsoft.com/office/powerpoint/2010/main" val="31204880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2_標題投影片" preserve="1">
  <p:cSld name="2_標題投影片">
    <p:spTree>
      <p:nvGrpSpPr>
        <p:cNvPr id="1" name="Shape 18"/>
        <p:cNvGrpSpPr/>
        <p:nvPr/>
      </p:nvGrpSpPr>
      <p:grpSpPr>
        <a:xfrm>
          <a:off x="0" y="0"/>
          <a:ext cx="0" cy="0"/>
          <a:chOff x="0" y="0"/>
          <a:chExt cx="0" cy="0"/>
        </a:xfrm>
      </p:grpSpPr>
      <p:pic>
        <p:nvPicPr>
          <p:cNvPr id="3" name="圖片 2" descr="一張含有 圖形 的圖片&#10;&#10;AI 產生的內容可能不正確。">
            <a:extLst>
              <a:ext uri="{FF2B5EF4-FFF2-40B4-BE49-F238E27FC236}">
                <a16:creationId xmlns:a16="http://schemas.microsoft.com/office/drawing/2014/main" id="{E912A1DA-C32A-79BA-3D45-A52103A38DF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467" y="0"/>
            <a:ext cx="12187066" cy="6858000"/>
          </a:xfrm>
          <a:prstGeom prst="rect">
            <a:avLst/>
          </a:prstGeom>
        </p:spPr>
      </p:pic>
      <p:pic>
        <p:nvPicPr>
          <p:cNvPr id="19" name="Google Shape;19;p8" title="金控_中_白.png"/>
          <p:cNvPicPr preferRelativeResize="0"/>
          <p:nvPr/>
        </p:nvPicPr>
        <p:blipFill>
          <a:blip r:embed="rId3">
            <a:alphaModFix/>
          </a:blip>
          <a:stretch>
            <a:fillRect/>
          </a:stretch>
        </p:blipFill>
        <p:spPr>
          <a:xfrm>
            <a:off x="4680600" y="5618832"/>
            <a:ext cx="2830550" cy="1077051"/>
          </a:xfrm>
          <a:prstGeom prst="rect">
            <a:avLst/>
          </a:prstGeom>
          <a:noFill/>
          <a:ln>
            <a:noFill/>
          </a:ln>
        </p:spPr>
      </p:pic>
      <p:sp>
        <p:nvSpPr>
          <p:cNvPr id="20" name="Google Shape;20;p8"/>
          <p:cNvSpPr txBox="1">
            <a:spLocks noGrp="1"/>
          </p:cNvSpPr>
          <p:nvPr>
            <p:ph type="title"/>
          </p:nvPr>
        </p:nvSpPr>
        <p:spPr>
          <a:xfrm>
            <a:off x="1114531" y="1640061"/>
            <a:ext cx="9962700" cy="2142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4F4F4F"/>
              </a:buClr>
              <a:buSzPts val="4400"/>
              <a:buNone/>
              <a:defRPr sz="4400" i="0">
                <a:solidFill>
                  <a:srgbClr val="4F4F4F"/>
                </a:solidFill>
              </a:defRPr>
            </a:lvl1pPr>
            <a:lvl2pPr lvl="1" algn="l">
              <a:lnSpc>
                <a:spcPct val="100000"/>
              </a:lnSpc>
              <a:spcBef>
                <a:spcPts val="0"/>
              </a:spcBef>
              <a:spcAft>
                <a:spcPts val="0"/>
              </a:spcAft>
              <a:buSzPts val="1400"/>
              <a:buNone/>
              <a:defRPr b="1"/>
            </a:lvl2pPr>
            <a:lvl3pPr lvl="2" algn="l">
              <a:lnSpc>
                <a:spcPct val="100000"/>
              </a:lnSpc>
              <a:spcBef>
                <a:spcPts val="0"/>
              </a:spcBef>
              <a:spcAft>
                <a:spcPts val="0"/>
              </a:spcAft>
              <a:buSzPts val="1400"/>
              <a:buNone/>
              <a:defRPr b="1"/>
            </a:lvl3pPr>
            <a:lvl4pPr lvl="3" algn="l">
              <a:lnSpc>
                <a:spcPct val="100000"/>
              </a:lnSpc>
              <a:spcBef>
                <a:spcPts val="0"/>
              </a:spcBef>
              <a:spcAft>
                <a:spcPts val="0"/>
              </a:spcAft>
              <a:buSzPts val="1400"/>
              <a:buNone/>
              <a:defRPr b="1"/>
            </a:lvl4pPr>
            <a:lvl5pPr lvl="4" algn="l">
              <a:lnSpc>
                <a:spcPct val="100000"/>
              </a:lnSpc>
              <a:spcBef>
                <a:spcPts val="0"/>
              </a:spcBef>
              <a:spcAft>
                <a:spcPts val="0"/>
              </a:spcAft>
              <a:buSzPts val="1400"/>
              <a:buNone/>
              <a:defRPr b="1"/>
            </a:lvl5pPr>
            <a:lvl6pPr lvl="5" algn="l">
              <a:lnSpc>
                <a:spcPct val="100000"/>
              </a:lnSpc>
              <a:spcBef>
                <a:spcPts val="0"/>
              </a:spcBef>
              <a:spcAft>
                <a:spcPts val="0"/>
              </a:spcAft>
              <a:buSzPts val="1400"/>
              <a:buNone/>
              <a:defRPr b="1"/>
            </a:lvl6pPr>
            <a:lvl7pPr lvl="6" algn="l">
              <a:lnSpc>
                <a:spcPct val="100000"/>
              </a:lnSpc>
              <a:spcBef>
                <a:spcPts val="0"/>
              </a:spcBef>
              <a:spcAft>
                <a:spcPts val="0"/>
              </a:spcAft>
              <a:buSzPts val="1400"/>
              <a:buNone/>
              <a:defRPr b="1"/>
            </a:lvl7pPr>
            <a:lvl8pPr lvl="7" algn="l">
              <a:lnSpc>
                <a:spcPct val="100000"/>
              </a:lnSpc>
              <a:spcBef>
                <a:spcPts val="0"/>
              </a:spcBef>
              <a:spcAft>
                <a:spcPts val="0"/>
              </a:spcAft>
              <a:buSzPts val="1400"/>
              <a:buNone/>
              <a:defRPr b="1"/>
            </a:lvl8pPr>
            <a:lvl9pPr lvl="8" algn="l">
              <a:lnSpc>
                <a:spcPct val="100000"/>
              </a:lnSpc>
              <a:spcBef>
                <a:spcPts val="0"/>
              </a:spcBef>
              <a:spcAft>
                <a:spcPts val="0"/>
              </a:spcAft>
              <a:buSzPts val="1400"/>
              <a:buNone/>
              <a:defRPr b="1"/>
            </a:lvl9pPr>
          </a:lstStyle>
          <a:p>
            <a:endParaRPr/>
          </a:p>
        </p:txBody>
      </p:sp>
    </p:spTree>
    <p:extLst>
      <p:ext uri="{BB962C8B-B14F-4D97-AF65-F5344CB8AC3E}">
        <p14:creationId xmlns:p14="http://schemas.microsoft.com/office/powerpoint/2010/main" val="1344605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3_標題投影片" preserve="1">
  <p:cSld name="3_標題投影片">
    <p:spTree>
      <p:nvGrpSpPr>
        <p:cNvPr id="1" name="Shape 21"/>
        <p:cNvGrpSpPr/>
        <p:nvPr/>
      </p:nvGrpSpPr>
      <p:grpSpPr>
        <a:xfrm>
          <a:off x="0" y="0"/>
          <a:ext cx="0" cy="0"/>
          <a:chOff x="0" y="0"/>
          <a:chExt cx="0" cy="0"/>
        </a:xfrm>
      </p:grpSpPr>
      <p:pic>
        <p:nvPicPr>
          <p:cNvPr id="3" name="圖片 2" descr="一張含有 圖形, 設計 的圖片&#10;&#10;AI 產生的內容可能不正確。">
            <a:extLst>
              <a:ext uri="{FF2B5EF4-FFF2-40B4-BE49-F238E27FC236}">
                <a16:creationId xmlns:a16="http://schemas.microsoft.com/office/drawing/2014/main" id="{C649EEB2-B486-967D-A023-BE167D421EC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467" y="0"/>
            <a:ext cx="12187066" cy="6858000"/>
          </a:xfrm>
          <a:prstGeom prst="rect">
            <a:avLst/>
          </a:prstGeom>
        </p:spPr>
      </p:pic>
      <p:pic>
        <p:nvPicPr>
          <p:cNvPr id="22" name="Google Shape;22;p9" title="金控_中_白.png"/>
          <p:cNvPicPr preferRelativeResize="0"/>
          <p:nvPr/>
        </p:nvPicPr>
        <p:blipFill>
          <a:blip r:embed="rId3">
            <a:alphaModFix/>
          </a:blip>
          <a:stretch>
            <a:fillRect/>
          </a:stretch>
        </p:blipFill>
        <p:spPr>
          <a:xfrm>
            <a:off x="4680600" y="5618832"/>
            <a:ext cx="2830550" cy="1077051"/>
          </a:xfrm>
          <a:prstGeom prst="rect">
            <a:avLst/>
          </a:prstGeom>
          <a:noFill/>
          <a:ln>
            <a:noFill/>
          </a:ln>
        </p:spPr>
      </p:pic>
      <p:sp>
        <p:nvSpPr>
          <p:cNvPr id="23" name="Google Shape;23;p9"/>
          <p:cNvSpPr txBox="1">
            <a:spLocks noGrp="1"/>
          </p:cNvSpPr>
          <p:nvPr>
            <p:ph type="title"/>
          </p:nvPr>
        </p:nvSpPr>
        <p:spPr>
          <a:xfrm>
            <a:off x="1114531" y="1640061"/>
            <a:ext cx="9962700" cy="2142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4F4F4F"/>
              </a:buClr>
              <a:buSzPts val="4400"/>
              <a:buNone/>
              <a:defRPr sz="4400" i="0">
                <a:solidFill>
                  <a:srgbClr val="4F4F4F"/>
                </a:solidFill>
              </a:defRPr>
            </a:lvl1pPr>
            <a:lvl2pPr lvl="1" algn="l">
              <a:lnSpc>
                <a:spcPct val="100000"/>
              </a:lnSpc>
              <a:spcBef>
                <a:spcPts val="0"/>
              </a:spcBef>
              <a:spcAft>
                <a:spcPts val="0"/>
              </a:spcAft>
              <a:buSzPts val="1400"/>
              <a:buNone/>
              <a:defRPr b="1"/>
            </a:lvl2pPr>
            <a:lvl3pPr lvl="2" algn="l">
              <a:lnSpc>
                <a:spcPct val="100000"/>
              </a:lnSpc>
              <a:spcBef>
                <a:spcPts val="0"/>
              </a:spcBef>
              <a:spcAft>
                <a:spcPts val="0"/>
              </a:spcAft>
              <a:buSzPts val="1400"/>
              <a:buNone/>
              <a:defRPr b="1"/>
            </a:lvl3pPr>
            <a:lvl4pPr lvl="3" algn="l">
              <a:lnSpc>
                <a:spcPct val="100000"/>
              </a:lnSpc>
              <a:spcBef>
                <a:spcPts val="0"/>
              </a:spcBef>
              <a:spcAft>
                <a:spcPts val="0"/>
              </a:spcAft>
              <a:buSzPts val="1400"/>
              <a:buNone/>
              <a:defRPr b="1"/>
            </a:lvl4pPr>
            <a:lvl5pPr lvl="4" algn="l">
              <a:lnSpc>
                <a:spcPct val="100000"/>
              </a:lnSpc>
              <a:spcBef>
                <a:spcPts val="0"/>
              </a:spcBef>
              <a:spcAft>
                <a:spcPts val="0"/>
              </a:spcAft>
              <a:buSzPts val="1400"/>
              <a:buNone/>
              <a:defRPr b="1"/>
            </a:lvl5pPr>
            <a:lvl6pPr lvl="5" algn="l">
              <a:lnSpc>
                <a:spcPct val="100000"/>
              </a:lnSpc>
              <a:spcBef>
                <a:spcPts val="0"/>
              </a:spcBef>
              <a:spcAft>
                <a:spcPts val="0"/>
              </a:spcAft>
              <a:buSzPts val="1400"/>
              <a:buNone/>
              <a:defRPr b="1"/>
            </a:lvl6pPr>
            <a:lvl7pPr lvl="6" algn="l">
              <a:lnSpc>
                <a:spcPct val="100000"/>
              </a:lnSpc>
              <a:spcBef>
                <a:spcPts val="0"/>
              </a:spcBef>
              <a:spcAft>
                <a:spcPts val="0"/>
              </a:spcAft>
              <a:buSzPts val="1400"/>
              <a:buNone/>
              <a:defRPr b="1"/>
            </a:lvl7pPr>
            <a:lvl8pPr lvl="7" algn="l">
              <a:lnSpc>
                <a:spcPct val="100000"/>
              </a:lnSpc>
              <a:spcBef>
                <a:spcPts val="0"/>
              </a:spcBef>
              <a:spcAft>
                <a:spcPts val="0"/>
              </a:spcAft>
              <a:buSzPts val="1400"/>
              <a:buNone/>
              <a:defRPr b="1"/>
            </a:lvl8pPr>
            <a:lvl9pPr lvl="8" algn="l">
              <a:lnSpc>
                <a:spcPct val="100000"/>
              </a:lnSpc>
              <a:spcBef>
                <a:spcPts val="0"/>
              </a:spcBef>
              <a:spcAft>
                <a:spcPts val="0"/>
              </a:spcAft>
              <a:buSzPts val="1400"/>
              <a:buNone/>
              <a:defRPr b="1"/>
            </a:lvl9pPr>
          </a:lstStyle>
          <a:p>
            <a:endParaRPr/>
          </a:p>
        </p:txBody>
      </p:sp>
    </p:spTree>
    <p:extLst>
      <p:ext uri="{BB962C8B-B14F-4D97-AF65-F5344CB8AC3E}">
        <p14:creationId xmlns:p14="http://schemas.microsoft.com/office/powerpoint/2010/main" val="22136617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1_標題及內容" preserve="1">
  <p:cSld name="1_標題及內容">
    <p:spTree>
      <p:nvGrpSpPr>
        <p:cNvPr id="1" name="Shape 24"/>
        <p:cNvGrpSpPr/>
        <p:nvPr/>
      </p:nvGrpSpPr>
      <p:grpSpPr>
        <a:xfrm>
          <a:off x="0" y="0"/>
          <a:ext cx="0" cy="0"/>
          <a:chOff x="0" y="0"/>
          <a:chExt cx="0" cy="0"/>
        </a:xfrm>
      </p:grpSpPr>
      <p:sp>
        <p:nvSpPr>
          <p:cNvPr id="25" name="Google Shape;25;p10"/>
          <p:cNvSpPr txBox="1">
            <a:spLocks noGrp="1"/>
          </p:cNvSpPr>
          <p:nvPr>
            <p:ph type="body" idx="1"/>
          </p:nvPr>
        </p:nvSpPr>
        <p:spPr>
          <a:xfrm>
            <a:off x="368595" y="1247553"/>
            <a:ext cx="11242500" cy="4880100"/>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1000"/>
              </a:spcBef>
              <a:spcAft>
                <a:spcPts val="0"/>
              </a:spcAft>
              <a:buClr>
                <a:srgbClr val="CC181D"/>
              </a:buClr>
              <a:buSzPts val="2400"/>
              <a:buFont typeface="Noto Sans Symbols"/>
              <a:buChar char="■"/>
              <a:defRPr sz="2400" b="1"/>
            </a:lvl1pPr>
            <a:lvl2pPr marL="914400" lvl="1" indent="-355600" algn="l">
              <a:lnSpc>
                <a:spcPct val="100000"/>
              </a:lnSpc>
              <a:spcBef>
                <a:spcPts val="500"/>
              </a:spcBef>
              <a:spcAft>
                <a:spcPts val="0"/>
              </a:spcAft>
              <a:buClr>
                <a:srgbClr val="CC181D"/>
              </a:buClr>
              <a:buSzPts val="2000"/>
              <a:buFont typeface="Noto Sans Symbols"/>
              <a:buChar char="●"/>
              <a:defRPr sz="2000" b="1"/>
            </a:lvl2pPr>
            <a:lvl3pPr marL="1371600" lvl="2" indent="-330200" algn="l">
              <a:lnSpc>
                <a:spcPct val="100000"/>
              </a:lnSpc>
              <a:spcBef>
                <a:spcPts val="500"/>
              </a:spcBef>
              <a:spcAft>
                <a:spcPts val="0"/>
              </a:spcAft>
              <a:buClr>
                <a:srgbClr val="CC181D"/>
              </a:buClr>
              <a:buSzPts val="1600"/>
              <a:buFont typeface="Noto Sans Symbols"/>
              <a:buChar char="●"/>
              <a:defRPr sz="1600" b="1"/>
            </a:lvl3pPr>
            <a:lvl4pPr marL="1828800" lvl="3" indent="-304800" algn="l">
              <a:lnSpc>
                <a:spcPct val="100000"/>
              </a:lnSpc>
              <a:spcBef>
                <a:spcPts val="500"/>
              </a:spcBef>
              <a:spcAft>
                <a:spcPts val="0"/>
              </a:spcAft>
              <a:buClr>
                <a:srgbClr val="CC181D"/>
              </a:buClr>
              <a:buSzPts val="1200"/>
              <a:buFont typeface="Arial"/>
              <a:buChar char="•"/>
              <a:defRPr sz="1200" b="1"/>
            </a:lvl4pPr>
            <a:lvl5pPr marL="2286000" lvl="4" indent="-314325" algn="l">
              <a:lnSpc>
                <a:spcPct val="90000"/>
              </a:lnSpc>
              <a:spcBef>
                <a:spcPts val="500"/>
              </a:spcBef>
              <a:spcAft>
                <a:spcPts val="0"/>
              </a:spcAft>
              <a:buClr>
                <a:srgbClr val="CC181D"/>
              </a:buClr>
              <a:buSzPts val="1350"/>
              <a:buFont typeface="Noto Sans Symbols"/>
              <a:buChar char="●"/>
              <a:defRPr sz="1350" b="1"/>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6" name="Google Shape;26;p10"/>
          <p:cNvSpPr txBox="1">
            <a:spLocks noGrp="1"/>
          </p:cNvSpPr>
          <p:nvPr>
            <p:ph type="title"/>
          </p:nvPr>
        </p:nvSpPr>
        <p:spPr>
          <a:xfrm>
            <a:off x="349956" y="259072"/>
            <a:ext cx="11261019" cy="75988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464444"/>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 name="Google Shape;27;p10"/>
          <p:cNvSpPr txBox="1">
            <a:spLocks noGrp="1"/>
          </p:cNvSpPr>
          <p:nvPr>
            <p:ph type="sldNum" idx="12"/>
          </p:nvPr>
        </p:nvSpPr>
        <p:spPr>
          <a:xfrm flipH="1">
            <a:off x="11397425" y="6394525"/>
            <a:ext cx="651300" cy="327000"/>
          </a:xfrm>
          <a:prstGeom prst="rect">
            <a:avLst/>
          </a:prstGeom>
          <a:noFill/>
          <a:ln>
            <a:noFill/>
          </a:ln>
        </p:spPr>
        <p:txBody>
          <a:bodyPr spcFirstLastPara="1" wrap="square" lIns="91425" tIns="45700" rIns="91425" bIns="45700" anchor="b" anchorCtr="0">
            <a:noAutofit/>
          </a:bodyPr>
          <a:lstStyle>
            <a:lvl1pPr marL="0" marR="0" lvl="0" indent="0" algn="r">
              <a:lnSpc>
                <a:spcPct val="100000"/>
              </a:lnSpc>
              <a:spcBef>
                <a:spcPts val="0"/>
              </a:spcBef>
              <a:spcAft>
                <a:spcPts val="0"/>
              </a:spcAft>
              <a:buClr>
                <a:srgbClr val="000000"/>
              </a:buClr>
              <a:buSzPts val="1100"/>
              <a:buFont typeface="Arial"/>
              <a:buNone/>
              <a:defRPr sz="1100" b="0" i="0" u="none" strike="noStrike" cap="none">
                <a:solidFill>
                  <a:srgbClr val="656565"/>
                </a:solidFill>
                <a:latin typeface="Noto Sans"/>
                <a:ea typeface="Noto Sans"/>
                <a:cs typeface="Noto Sans"/>
                <a:sym typeface="Noto Sans"/>
              </a:defRPr>
            </a:lvl1pPr>
            <a:lvl2pPr marL="0" marR="0" lvl="1" indent="0" algn="r">
              <a:lnSpc>
                <a:spcPct val="100000"/>
              </a:lnSpc>
              <a:spcBef>
                <a:spcPts val="0"/>
              </a:spcBef>
              <a:spcAft>
                <a:spcPts val="0"/>
              </a:spcAft>
              <a:buClr>
                <a:srgbClr val="000000"/>
              </a:buClr>
              <a:buSzPts val="1100"/>
              <a:buFont typeface="Arial"/>
              <a:buNone/>
              <a:defRPr sz="1100" b="0" i="0" u="none" strike="noStrike" cap="none">
                <a:solidFill>
                  <a:srgbClr val="656565"/>
                </a:solidFill>
                <a:latin typeface="Noto Sans"/>
                <a:ea typeface="Noto Sans"/>
                <a:cs typeface="Noto Sans"/>
                <a:sym typeface="Noto Sans"/>
              </a:defRPr>
            </a:lvl2pPr>
            <a:lvl3pPr marL="0" marR="0" lvl="2" indent="0" algn="r">
              <a:lnSpc>
                <a:spcPct val="100000"/>
              </a:lnSpc>
              <a:spcBef>
                <a:spcPts val="0"/>
              </a:spcBef>
              <a:spcAft>
                <a:spcPts val="0"/>
              </a:spcAft>
              <a:buClr>
                <a:srgbClr val="000000"/>
              </a:buClr>
              <a:buSzPts val="1100"/>
              <a:buFont typeface="Arial"/>
              <a:buNone/>
              <a:defRPr sz="1100" b="0" i="0" u="none" strike="noStrike" cap="none">
                <a:solidFill>
                  <a:srgbClr val="656565"/>
                </a:solidFill>
                <a:latin typeface="Noto Sans"/>
                <a:ea typeface="Noto Sans"/>
                <a:cs typeface="Noto Sans"/>
                <a:sym typeface="Noto Sans"/>
              </a:defRPr>
            </a:lvl3pPr>
            <a:lvl4pPr marL="0" marR="0" lvl="3" indent="0" algn="r">
              <a:lnSpc>
                <a:spcPct val="100000"/>
              </a:lnSpc>
              <a:spcBef>
                <a:spcPts val="0"/>
              </a:spcBef>
              <a:spcAft>
                <a:spcPts val="0"/>
              </a:spcAft>
              <a:buClr>
                <a:srgbClr val="000000"/>
              </a:buClr>
              <a:buSzPts val="1100"/>
              <a:buFont typeface="Arial"/>
              <a:buNone/>
              <a:defRPr sz="1100" b="0" i="0" u="none" strike="noStrike" cap="none">
                <a:solidFill>
                  <a:srgbClr val="656565"/>
                </a:solidFill>
                <a:latin typeface="Noto Sans"/>
                <a:ea typeface="Noto Sans"/>
                <a:cs typeface="Noto Sans"/>
                <a:sym typeface="Noto Sans"/>
              </a:defRPr>
            </a:lvl4pPr>
            <a:lvl5pPr marL="0" marR="0" lvl="4" indent="0" algn="r">
              <a:lnSpc>
                <a:spcPct val="100000"/>
              </a:lnSpc>
              <a:spcBef>
                <a:spcPts val="0"/>
              </a:spcBef>
              <a:spcAft>
                <a:spcPts val="0"/>
              </a:spcAft>
              <a:buClr>
                <a:srgbClr val="000000"/>
              </a:buClr>
              <a:buSzPts val="1100"/>
              <a:buFont typeface="Arial"/>
              <a:buNone/>
              <a:defRPr sz="1100" b="0" i="0" u="none" strike="noStrike" cap="none">
                <a:solidFill>
                  <a:srgbClr val="656565"/>
                </a:solidFill>
                <a:latin typeface="Noto Sans"/>
                <a:ea typeface="Noto Sans"/>
                <a:cs typeface="Noto Sans"/>
                <a:sym typeface="Noto Sans"/>
              </a:defRPr>
            </a:lvl5pPr>
            <a:lvl6pPr marL="0" marR="0" lvl="5" indent="0" algn="r">
              <a:lnSpc>
                <a:spcPct val="100000"/>
              </a:lnSpc>
              <a:spcBef>
                <a:spcPts val="0"/>
              </a:spcBef>
              <a:spcAft>
                <a:spcPts val="0"/>
              </a:spcAft>
              <a:buClr>
                <a:srgbClr val="000000"/>
              </a:buClr>
              <a:buSzPts val="1100"/>
              <a:buFont typeface="Arial"/>
              <a:buNone/>
              <a:defRPr sz="1100" b="0" i="0" u="none" strike="noStrike" cap="none">
                <a:solidFill>
                  <a:srgbClr val="656565"/>
                </a:solidFill>
                <a:latin typeface="Noto Sans"/>
                <a:ea typeface="Noto Sans"/>
                <a:cs typeface="Noto Sans"/>
                <a:sym typeface="Noto Sans"/>
              </a:defRPr>
            </a:lvl6pPr>
            <a:lvl7pPr marL="0" marR="0" lvl="6" indent="0" algn="r">
              <a:lnSpc>
                <a:spcPct val="100000"/>
              </a:lnSpc>
              <a:spcBef>
                <a:spcPts val="0"/>
              </a:spcBef>
              <a:spcAft>
                <a:spcPts val="0"/>
              </a:spcAft>
              <a:buClr>
                <a:srgbClr val="000000"/>
              </a:buClr>
              <a:buSzPts val="1100"/>
              <a:buFont typeface="Arial"/>
              <a:buNone/>
              <a:defRPr sz="1100" b="0" i="0" u="none" strike="noStrike" cap="none">
                <a:solidFill>
                  <a:srgbClr val="656565"/>
                </a:solidFill>
                <a:latin typeface="Noto Sans"/>
                <a:ea typeface="Noto Sans"/>
                <a:cs typeface="Noto Sans"/>
                <a:sym typeface="Noto Sans"/>
              </a:defRPr>
            </a:lvl7pPr>
            <a:lvl8pPr marL="0" marR="0" lvl="7" indent="0" algn="r">
              <a:lnSpc>
                <a:spcPct val="100000"/>
              </a:lnSpc>
              <a:spcBef>
                <a:spcPts val="0"/>
              </a:spcBef>
              <a:spcAft>
                <a:spcPts val="0"/>
              </a:spcAft>
              <a:buClr>
                <a:srgbClr val="000000"/>
              </a:buClr>
              <a:buSzPts val="1100"/>
              <a:buFont typeface="Arial"/>
              <a:buNone/>
              <a:defRPr sz="1100" b="0" i="0" u="none" strike="noStrike" cap="none">
                <a:solidFill>
                  <a:srgbClr val="656565"/>
                </a:solidFill>
                <a:latin typeface="Noto Sans"/>
                <a:ea typeface="Noto Sans"/>
                <a:cs typeface="Noto Sans"/>
                <a:sym typeface="Noto Sans"/>
              </a:defRPr>
            </a:lvl8pPr>
            <a:lvl9pPr marL="0" marR="0" lvl="8" indent="0" algn="r">
              <a:lnSpc>
                <a:spcPct val="100000"/>
              </a:lnSpc>
              <a:spcBef>
                <a:spcPts val="0"/>
              </a:spcBef>
              <a:spcAft>
                <a:spcPts val="0"/>
              </a:spcAft>
              <a:buClr>
                <a:srgbClr val="000000"/>
              </a:buClr>
              <a:buSzPts val="1100"/>
              <a:buFont typeface="Arial"/>
              <a:buNone/>
              <a:defRPr sz="1100" b="0" i="0" u="none" strike="noStrike" cap="none">
                <a:solidFill>
                  <a:srgbClr val="656565"/>
                </a:solidFill>
                <a:latin typeface="Noto Sans"/>
                <a:ea typeface="Noto Sans"/>
                <a:cs typeface="Noto Sans"/>
                <a:sym typeface="Noto Sans"/>
              </a:defRPr>
            </a:lvl9pPr>
          </a:lstStyle>
          <a:p>
            <a:pPr marL="0" lvl="0" indent="0" algn="r" rtl="0">
              <a:spcBef>
                <a:spcPts val="0"/>
              </a:spcBef>
              <a:spcAft>
                <a:spcPts val="0"/>
              </a:spcAft>
              <a:buNone/>
            </a:pPr>
            <a:fld id="{00000000-1234-1234-1234-123412341234}" type="slidenum">
              <a:rPr lang="zh-TW"/>
              <a:t>‹#›</a:t>
            </a:fld>
            <a:endParaRPr/>
          </a:p>
        </p:txBody>
      </p:sp>
      <p:sp>
        <p:nvSpPr>
          <p:cNvPr id="28" name="Google Shape;28;p10"/>
          <p:cNvSpPr txBox="1"/>
          <p:nvPr/>
        </p:nvSpPr>
        <p:spPr>
          <a:xfrm>
            <a:off x="-2146501" y="-1235899"/>
            <a:ext cx="11261019" cy="759883"/>
          </a:xfrm>
          <a:prstGeom prst="rect">
            <a:avLst/>
          </a:prstGeom>
          <a:noFill/>
          <a:ln>
            <a:noFill/>
          </a:ln>
        </p:spPr>
        <p:txBody>
          <a:bodyPr spcFirstLastPara="1" wrap="square" lIns="91425" tIns="45700" rIns="91425" bIns="45700" anchor="ctr" anchorCtr="0">
            <a:normAutofit/>
          </a:bodyPr>
          <a:lstStyle/>
          <a:p>
            <a:pPr marL="0" marR="0" lvl="0" indent="0" algn="l" rtl="0">
              <a:lnSpc>
                <a:spcPct val="90000"/>
              </a:lnSpc>
              <a:spcBef>
                <a:spcPts val="0"/>
              </a:spcBef>
              <a:spcAft>
                <a:spcPts val="0"/>
              </a:spcAft>
              <a:buClr>
                <a:srgbClr val="464444"/>
              </a:buClr>
              <a:buSzPts val="3000"/>
              <a:buFont typeface="Noto Sans"/>
              <a:buNone/>
            </a:pPr>
            <a:endParaRPr sz="3000" b="1" i="0" u="none" strike="noStrike" cap="none">
              <a:solidFill>
                <a:srgbClr val="464444"/>
              </a:solidFill>
              <a:latin typeface="Noto Sans"/>
              <a:ea typeface="Noto Sans"/>
              <a:cs typeface="Noto Sans"/>
              <a:sym typeface="Noto Sans"/>
            </a:endParaRPr>
          </a:p>
        </p:txBody>
      </p:sp>
      <p:pic>
        <p:nvPicPr>
          <p:cNvPr id="29" name="Google Shape;29;p10" title="標語_中.png"/>
          <p:cNvPicPr preferRelativeResize="0"/>
          <p:nvPr/>
        </p:nvPicPr>
        <p:blipFill>
          <a:blip r:embed="rId2">
            <a:alphaModFix/>
          </a:blip>
          <a:stretch>
            <a:fillRect/>
          </a:stretch>
        </p:blipFill>
        <p:spPr>
          <a:xfrm>
            <a:off x="10311550" y="6534225"/>
            <a:ext cx="1071550" cy="128575"/>
          </a:xfrm>
          <a:prstGeom prst="rect">
            <a:avLst/>
          </a:prstGeom>
          <a:noFill/>
          <a:ln>
            <a:noFill/>
          </a:ln>
        </p:spPr>
      </p:pic>
      <p:pic>
        <p:nvPicPr>
          <p:cNvPr id="30" name="Google Shape;30;p10" title="金控_中_彩.png"/>
          <p:cNvPicPr preferRelativeResize="0"/>
          <p:nvPr/>
        </p:nvPicPr>
        <p:blipFill>
          <a:blip r:embed="rId3">
            <a:alphaModFix/>
          </a:blip>
          <a:stretch>
            <a:fillRect/>
          </a:stretch>
        </p:blipFill>
        <p:spPr>
          <a:xfrm>
            <a:off x="0" y="6248175"/>
            <a:ext cx="1602775" cy="609825"/>
          </a:xfrm>
          <a:prstGeom prst="rect">
            <a:avLst/>
          </a:prstGeom>
          <a:noFill/>
          <a:ln>
            <a:noFill/>
          </a:ln>
        </p:spPr>
      </p:pic>
      <p:cxnSp>
        <p:nvCxnSpPr>
          <p:cNvPr id="31" name="Google Shape;31;p10"/>
          <p:cNvCxnSpPr/>
          <p:nvPr/>
        </p:nvCxnSpPr>
        <p:spPr>
          <a:xfrm>
            <a:off x="1597301" y="6445831"/>
            <a:ext cx="8341800" cy="0"/>
          </a:xfrm>
          <a:prstGeom prst="straightConnector1">
            <a:avLst/>
          </a:prstGeom>
          <a:noFill/>
          <a:ln w="19050" cap="flat" cmpd="sng">
            <a:solidFill>
              <a:srgbClr val="D70C18"/>
            </a:solidFill>
            <a:prstDash val="solid"/>
            <a:round/>
            <a:headEnd type="none" w="med" len="med"/>
            <a:tailEnd type="none" w="med" len="med"/>
          </a:ln>
        </p:spPr>
      </p:cxnSp>
      <p:cxnSp>
        <p:nvCxnSpPr>
          <p:cNvPr id="32" name="Google Shape;32;p10"/>
          <p:cNvCxnSpPr/>
          <p:nvPr/>
        </p:nvCxnSpPr>
        <p:spPr>
          <a:xfrm rot="10800000">
            <a:off x="9939225" y="6445838"/>
            <a:ext cx="1446600" cy="0"/>
          </a:xfrm>
          <a:prstGeom prst="straightConnector1">
            <a:avLst/>
          </a:prstGeom>
          <a:noFill/>
          <a:ln w="19050" cap="flat" cmpd="sng">
            <a:solidFill>
              <a:srgbClr val="D8D8D8"/>
            </a:solidFill>
            <a:prstDash val="solid"/>
            <a:round/>
            <a:headEnd type="none" w="med" len="med"/>
            <a:tailEnd type="none" w="med" len="med"/>
          </a:ln>
        </p:spPr>
      </p:cxnSp>
    </p:spTree>
    <p:extLst>
      <p:ext uri="{BB962C8B-B14F-4D97-AF65-F5344CB8AC3E}">
        <p14:creationId xmlns:p14="http://schemas.microsoft.com/office/powerpoint/2010/main" val="35196433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2_章節標題" preserve="1">
  <p:cSld name="2_章節標題">
    <p:spTree>
      <p:nvGrpSpPr>
        <p:cNvPr id="1" name="Shape 33"/>
        <p:cNvGrpSpPr/>
        <p:nvPr/>
      </p:nvGrpSpPr>
      <p:grpSpPr>
        <a:xfrm>
          <a:off x="0" y="0"/>
          <a:ext cx="0" cy="0"/>
          <a:chOff x="0" y="0"/>
          <a:chExt cx="0" cy="0"/>
        </a:xfrm>
      </p:grpSpPr>
      <p:pic>
        <p:nvPicPr>
          <p:cNvPr id="3" name="圖片 2" descr="一張含有 設計 的圖片&#10;&#10;AI 產生的內容可能不正確。">
            <a:extLst>
              <a:ext uri="{FF2B5EF4-FFF2-40B4-BE49-F238E27FC236}">
                <a16:creationId xmlns:a16="http://schemas.microsoft.com/office/drawing/2014/main" id="{3B5AF3D8-B199-5417-755A-9D51D04F6ED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467" y="0"/>
            <a:ext cx="12187066" cy="6858000"/>
          </a:xfrm>
          <a:prstGeom prst="rect">
            <a:avLst/>
          </a:prstGeom>
        </p:spPr>
      </p:pic>
      <p:sp>
        <p:nvSpPr>
          <p:cNvPr id="34" name="Google Shape;34;p11"/>
          <p:cNvSpPr txBox="1">
            <a:spLocks noGrp="1"/>
          </p:cNvSpPr>
          <p:nvPr>
            <p:ph type="title"/>
          </p:nvPr>
        </p:nvSpPr>
        <p:spPr>
          <a:xfrm>
            <a:off x="831851" y="4128475"/>
            <a:ext cx="10515600" cy="16086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464444"/>
              </a:buClr>
              <a:buSzPts val="4800"/>
              <a:buNone/>
              <a:defRPr sz="4800" i="0">
                <a:solidFill>
                  <a:srgbClr val="464444"/>
                </a:solidFill>
              </a:defRPr>
            </a:lvl1pPr>
            <a:lvl2pPr lvl="1" algn="ctr">
              <a:lnSpc>
                <a:spcPct val="100000"/>
              </a:lnSpc>
              <a:spcBef>
                <a:spcPts val="0"/>
              </a:spcBef>
              <a:spcAft>
                <a:spcPts val="0"/>
              </a:spcAft>
              <a:buSzPts val="1400"/>
              <a:buNone/>
              <a:defRPr b="1"/>
            </a:lvl2pPr>
            <a:lvl3pPr lvl="2" algn="ctr">
              <a:lnSpc>
                <a:spcPct val="100000"/>
              </a:lnSpc>
              <a:spcBef>
                <a:spcPts val="0"/>
              </a:spcBef>
              <a:spcAft>
                <a:spcPts val="0"/>
              </a:spcAft>
              <a:buSzPts val="1400"/>
              <a:buNone/>
              <a:defRPr b="1"/>
            </a:lvl3pPr>
            <a:lvl4pPr lvl="3" algn="ctr">
              <a:lnSpc>
                <a:spcPct val="100000"/>
              </a:lnSpc>
              <a:spcBef>
                <a:spcPts val="0"/>
              </a:spcBef>
              <a:spcAft>
                <a:spcPts val="0"/>
              </a:spcAft>
              <a:buSzPts val="1400"/>
              <a:buNone/>
              <a:defRPr b="1"/>
            </a:lvl4pPr>
            <a:lvl5pPr lvl="4" algn="ctr">
              <a:lnSpc>
                <a:spcPct val="100000"/>
              </a:lnSpc>
              <a:spcBef>
                <a:spcPts val="0"/>
              </a:spcBef>
              <a:spcAft>
                <a:spcPts val="0"/>
              </a:spcAft>
              <a:buSzPts val="1400"/>
              <a:buNone/>
              <a:defRPr b="1"/>
            </a:lvl5pPr>
            <a:lvl6pPr lvl="5" algn="ctr">
              <a:lnSpc>
                <a:spcPct val="100000"/>
              </a:lnSpc>
              <a:spcBef>
                <a:spcPts val="0"/>
              </a:spcBef>
              <a:spcAft>
                <a:spcPts val="0"/>
              </a:spcAft>
              <a:buSzPts val="1400"/>
              <a:buNone/>
              <a:defRPr b="1"/>
            </a:lvl6pPr>
            <a:lvl7pPr lvl="6" algn="ctr">
              <a:lnSpc>
                <a:spcPct val="100000"/>
              </a:lnSpc>
              <a:spcBef>
                <a:spcPts val="0"/>
              </a:spcBef>
              <a:spcAft>
                <a:spcPts val="0"/>
              </a:spcAft>
              <a:buSzPts val="1400"/>
              <a:buNone/>
              <a:defRPr b="1"/>
            </a:lvl7pPr>
            <a:lvl8pPr lvl="7" algn="ctr">
              <a:lnSpc>
                <a:spcPct val="100000"/>
              </a:lnSpc>
              <a:spcBef>
                <a:spcPts val="0"/>
              </a:spcBef>
              <a:spcAft>
                <a:spcPts val="0"/>
              </a:spcAft>
              <a:buSzPts val="1400"/>
              <a:buNone/>
              <a:defRPr b="1"/>
            </a:lvl8pPr>
            <a:lvl9pPr lvl="8" algn="ctr">
              <a:lnSpc>
                <a:spcPct val="100000"/>
              </a:lnSpc>
              <a:spcBef>
                <a:spcPts val="0"/>
              </a:spcBef>
              <a:spcAft>
                <a:spcPts val="0"/>
              </a:spcAft>
              <a:buSzPts val="1400"/>
              <a:buNone/>
              <a:defRPr b="1"/>
            </a:lvl9pPr>
          </a:lstStyle>
          <a:p>
            <a:endParaRPr/>
          </a:p>
        </p:txBody>
      </p:sp>
      <p:pic>
        <p:nvPicPr>
          <p:cNvPr id="35" name="Google Shape;35;p11" title="金控_中_白.png"/>
          <p:cNvPicPr preferRelativeResize="0"/>
          <p:nvPr/>
        </p:nvPicPr>
        <p:blipFill>
          <a:blip r:embed="rId3">
            <a:alphaModFix/>
          </a:blip>
          <a:stretch>
            <a:fillRect/>
          </a:stretch>
        </p:blipFill>
        <p:spPr>
          <a:xfrm>
            <a:off x="3308100" y="688548"/>
            <a:ext cx="5575550" cy="2121525"/>
          </a:xfrm>
          <a:prstGeom prst="rect">
            <a:avLst/>
          </a:prstGeom>
          <a:noFill/>
          <a:ln>
            <a:noFill/>
          </a:ln>
        </p:spPr>
      </p:pic>
    </p:spTree>
    <p:extLst>
      <p:ext uri="{BB962C8B-B14F-4D97-AF65-F5344CB8AC3E}">
        <p14:creationId xmlns:p14="http://schemas.microsoft.com/office/powerpoint/2010/main" val="9748605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cSld name="1_標題投影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CD00B95-F112-B8B7-381C-1E417E4AB95D}"/>
              </a:ext>
            </a:extLst>
          </p:cNvPr>
          <p:cNvSpPr>
            <a:spLocks noGrp="1"/>
          </p:cNvSpPr>
          <p:nvPr>
            <p:ph type="ctrTitle"/>
          </p:nvPr>
        </p:nvSpPr>
        <p:spPr>
          <a:xfrm>
            <a:off x="1524000" y="1122363"/>
            <a:ext cx="9144000" cy="2387600"/>
          </a:xfrm>
        </p:spPr>
        <p:txBody>
          <a:bodyPr anchor="b"/>
          <a:lstStyle>
            <a:lvl1pPr algn="ctr">
              <a:defRPr sz="6000"/>
            </a:lvl1pPr>
          </a:lstStyle>
          <a:p>
            <a:r>
              <a:rPr kumimoji="1" lang="zh-TW" altLang="en-US"/>
              <a:t>按一下以編輯母片標題樣式</a:t>
            </a:r>
          </a:p>
        </p:txBody>
      </p:sp>
      <p:sp>
        <p:nvSpPr>
          <p:cNvPr id="3" name="副標題 2">
            <a:extLst>
              <a:ext uri="{FF2B5EF4-FFF2-40B4-BE49-F238E27FC236}">
                <a16:creationId xmlns:a16="http://schemas.microsoft.com/office/drawing/2014/main" id="{97BE2AAC-90E4-D32C-C2EC-A159487F552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zh-TW" altLang="en-US"/>
              <a:t>按一下以編輯母片子標題樣式</a:t>
            </a:r>
          </a:p>
        </p:txBody>
      </p:sp>
      <p:sp>
        <p:nvSpPr>
          <p:cNvPr id="4" name="日期版面配置區 3">
            <a:extLst>
              <a:ext uri="{FF2B5EF4-FFF2-40B4-BE49-F238E27FC236}">
                <a16:creationId xmlns:a16="http://schemas.microsoft.com/office/drawing/2014/main" id="{D8B5046B-CF36-90D5-96AF-C53DBA745A58}"/>
              </a:ext>
            </a:extLst>
          </p:cNvPr>
          <p:cNvSpPr>
            <a:spLocks noGrp="1"/>
          </p:cNvSpPr>
          <p:nvPr>
            <p:ph type="dt" sz="half" idx="10"/>
          </p:nvPr>
        </p:nvSpPr>
        <p:spPr/>
        <p:txBody>
          <a:bodyPr/>
          <a:lstStyle/>
          <a:p>
            <a:fld id="{CDBF5755-7018-4945-A46B-2B4DE79FC767}" type="datetimeFigureOut">
              <a:rPr kumimoji="1" lang="zh-TW" altLang="en-US" smtClean="0"/>
              <a:t>2026/5/26</a:t>
            </a:fld>
            <a:endParaRPr kumimoji="1" lang="zh-TW" altLang="en-US"/>
          </a:p>
        </p:txBody>
      </p:sp>
      <p:sp>
        <p:nvSpPr>
          <p:cNvPr id="5" name="頁尾版面配置區 4">
            <a:extLst>
              <a:ext uri="{FF2B5EF4-FFF2-40B4-BE49-F238E27FC236}">
                <a16:creationId xmlns:a16="http://schemas.microsoft.com/office/drawing/2014/main" id="{7C4874EB-7423-DBD2-1C7B-424E851D8E7F}"/>
              </a:ext>
            </a:extLst>
          </p:cNvPr>
          <p:cNvSpPr>
            <a:spLocks noGrp="1"/>
          </p:cNvSpPr>
          <p:nvPr>
            <p:ph type="ftr" sz="quarter" idx="11"/>
          </p:nvPr>
        </p:nvSpPr>
        <p:spPr/>
        <p:txBody>
          <a:bodyPr/>
          <a:lstStyle/>
          <a:p>
            <a:endParaRPr kumimoji="1" lang="zh-TW" altLang="en-US"/>
          </a:p>
        </p:txBody>
      </p:sp>
      <p:sp>
        <p:nvSpPr>
          <p:cNvPr id="6" name="投影片編號版面配置區 5">
            <a:extLst>
              <a:ext uri="{FF2B5EF4-FFF2-40B4-BE49-F238E27FC236}">
                <a16:creationId xmlns:a16="http://schemas.microsoft.com/office/drawing/2014/main" id="{C530B08D-6B26-34AE-92D0-8D2AB1E7F8C4}"/>
              </a:ext>
            </a:extLst>
          </p:cNvPr>
          <p:cNvSpPr>
            <a:spLocks noGrp="1"/>
          </p:cNvSpPr>
          <p:nvPr>
            <p:ph type="sldNum" sz="quarter" idx="12"/>
          </p:nvPr>
        </p:nvSpPr>
        <p:spPr/>
        <p:txBody>
          <a:bodyPr/>
          <a:lstStyle/>
          <a:p>
            <a:fld id="{A207DD83-9373-1C49-B3EB-CD40710A3CCF}" type="slidenum">
              <a:rPr kumimoji="1" lang="zh-TW" altLang="en-US" smtClean="0"/>
              <a:t>‹#›</a:t>
            </a:fld>
            <a:endParaRPr kumimoji="1" lang="zh-TW" altLang="en-US"/>
          </a:p>
        </p:txBody>
      </p:sp>
    </p:spTree>
    <p:extLst>
      <p:ext uri="{BB962C8B-B14F-4D97-AF65-F5344CB8AC3E}">
        <p14:creationId xmlns:p14="http://schemas.microsoft.com/office/powerpoint/2010/main" val="1962667945"/>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Shape 9"/>
        <p:cNvGrpSpPr/>
        <p:nvPr/>
      </p:nvGrpSpPr>
      <p:grpSpPr>
        <a:xfrm>
          <a:off x="0" y="0"/>
          <a:ext cx="0" cy="0"/>
          <a:chOff x="0" y="0"/>
          <a:chExt cx="0" cy="0"/>
        </a:xfrm>
      </p:grpSpPr>
      <p:sp>
        <p:nvSpPr>
          <p:cNvPr id="10" name="Google Shape;10;p6"/>
          <p:cNvSpPr txBox="1">
            <a:spLocks noGrp="1"/>
          </p:cNvSpPr>
          <p:nvPr>
            <p:ph type="body" idx="1"/>
          </p:nvPr>
        </p:nvSpPr>
        <p:spPr>
          <a:xfrm>
            <a:off x="519290" y="1176425"/>
            <a:ext cx="11091600" cy="5000400"/>
          </a:xfrm>
          <a:prstGeom prst="rect">
            <a:avLst/>
          </a:prstGeom>
          <a:noFill/>
          <a:ln>
            <a:noFill/>
          </a:ln>
        </p:spPr>
        <p:txBody>
          <a:bodyPr spcFirstLastPara="1" wrap="square" lIns="91425" tIns="45700" rIns="91425" bIns="45700" anchor="t" anchorCtr="0">
            <a:normAutofit/>
          </a:bodyPr>
          <a:lstStyle>
            <a:lvl1pPr marL="457200" marR="0" lvl="0" indent="-381000" algn="l" rtl="0">
              <a:lnSpc>
                <a:spcPct val="90000"/>
              </a:lnSpc>
              <a:spcBef>
                <a:spcPts val="1000"/>
              </a:spcBef>
              <a:spcAft>
                <a:spcPts val="0"/>
              </a:spcAft>
              <a:buClr>
                <a:srgbClr val="EF0000"/>
              </a:buClr>
              <a:buSzPts val="2400"/>
              <a:buFont typeface="Microsoft JhengHei"/>
              <a:buChar char="■"/>
              <a:defRPr sz="2400" b="1" i="0" u="none" strike="noStrike" cap="none">
                <a:solidFill>
                  <a:srgbClr val="464444"/>
                </a:solidFill>
                <a:latin typeface="Microsoft JhengHei"/>
                <a:ea typeface="Microsoft JhengHei"/>
                <a:cs typeface="Microsoft JhengHei"/>
                <a:sym typeface="Microsoft JhengHei"/>
              </a:defRPr>
            </a:lvl1pPr>
            <a:lvl2pPr marL="914400" marR="0" lvl="1" indent="-355600" algn="l" rtl="0">
              <a:lnSpc>
                <a:spcPct val="90000"/>
              </a:lnSpc>
              <a:spcBef>
                <a:spcPts val="500"/>
              </a:spcBef>
              <a:spcAft>
                <a:spcPts val="0"/>
              </a:spcAft>
              <a:buClr>
                <a:srgbClr val="EF0000"/>
              </a:buClr>
              <a:buSzPts val="2000"/>
              <a:buFont typeface="Microsoft JhengHei"/>
              <a:buChar char="■"/>
              <a:defRPr sz="2000" b="1" i="0" u="none" strike="noStrike" cap="none">
                <a:solidFill>
                  <a:srgbClr val="464444"/>
                </a:solidFill>
                <a:latin typeface="Microsoft JhengHei"/>
                <a:ea typeface="Microsoft JhengHei"/>
                <a:cs typeface="Microsoft JhengHei"/>
                <a:sym typeface="Microsoft JhengHei"/>
              </a:defRPr>
            </a:lvl2pPr>
            <a:lvl3pPr marL="1371600" marR="0" lvl="2" indent="-330200" algn="l" rtl="0">
              <a:lnSpc>
                <a:spcPct val="90000"/>
              </a:lnSpc>
              <a:spcBef>
                <a:spcPts val="500"/>
              </a:spcBef>
              <a:spcAft>
                <a:spcPts val="0"/>
              </a:spcAft>
              <a:buClr>
                <a:srgbClr val="EF0000"/>
              </a:buClr>
              <a:buSzPts val="1600"/>
              <a:buFont typeface="Microsoft JhengHei"/>
              <a:buChar char="■"/>
              <a:defRPr sz="1600" b="1" i="0" u="none" strike="noStrike" cap="none">
                <a:solidFill>
                  <a:srgbClr val="464444"/>
                </a:solidFill>
                <a:latin typeface="Microsoft JhengHei"/>
                <a:ea typeface="Microsoft JhengHei"/>
                <a:cs typeface="Microsoft JhengHei"/>
                <a:sym typeface="Microsoft JhengHei"/>
              </a:defRPr>
            </a:lvl3pPr>
            <a:lvl4pPr marL="1828800" marR="0" lvl="3" indent="-228600" algn="l" rtl="0">
              <a:lnSpc>
                <a:spcPct val="90000"/>
              </a:lnSpc>
              <a:spcBef>
                <a:spcPts val="500"/>
              </a:spcBef>
              <a:spcAft>
                <a:spcPts val="0"/>
              </a:spcAft>
              <a:buClr>
                <a:srgbClr val="464444"/>
              </a:buClr>
              <a:buSzPts val="1600"/>
              <a:buFont typeface="Microsoft JhengHei"/>
              <a:buNone/>
              <a:defRPr sz="1600" b="1" i="0" u="none" strike="noStrike" cap="none">
                <a:solidFill>
                  <a:srgbClr val="464444"/>
                </a:solidFill>
                <a:latin typeface="Microsoft JhengHei"/>
                <a:ea typeface="Microsoft JhengHei"/>
                <a:cs typeface="Microsoft JhengHei"/>
                <a:sym typeface="Microsoft JhengHei"/>
              </a:defRPr>
            </a:lvl4pPr>
            <a:lvl5pPr marL="2286000" marR="0" lvl="4" indent="-381000" algn="l" rtl="0">
              <a:lnSpc>
                <a:spcPct val="90000"/>
              </a:lnSpc>
              <a:spcBef>
                <a:spcPts val="500"/>
              </a:spcBef>
              <a:spcAft>
                <a:spcPts val="0"/>
              </a:spcAft>
              <a:buClr>
                <a:srgbClr val="464444"/>
              </a:buClr>
              <a:buSzPts val="2400"/>
              <a:buFont typeface="Microsoft JhengHei"/>
              <a:buChar char="•"/>
              <a:defRPr sz="2400" b="1" i="0" u="none" strike="noStrike" cap="none">
                <a:solidFill>
                  <a:srgbClr val="464444"/>
                </a:solidFill>
                <a:latin typeface="Microsoft JhengHei"/>
                <a:ea typeface="Microsoft JhengHei"/>
                <a:cs typeface="Microsoft JhengHei"/>
                <a:sym typeface="Microsoft JhengHei"/>
              </a:defRPr>
            </a:lvl5pPr>
            <a:lvl6pPr marL="2743200" marR="0" lvl="5" indent="-342900" algn="l" rtl="0">
              <a:lnSpc>
                <a:spcPct val="90000"/>
              </a:lnSpc>
              <a:spcBef>
                <a:spcPts val="500"/>
              </a:spcBef>
              <a:spcAft>
                <a:spcPts val="0"/>
              </a:spcAft>
              <a:buClr>
                <a:schemeClr val="dk1"/>
              </a:buClr>
              <a:buSzPts val="1800"/>
              <a:buFont typeface="Microsoft JhengHei"/>
              <a:buChar char="•"/>
              <a:defRPr sz="1800" b="1" i="0" u="none" strike="noStrike" cap="none">
                <a:solidFill>
                  <a:schemeClr val="dk1"/>
                </a:solidFill>
                <a:latin typeface="Microsoft JhengHei"/>
                <a:ea typeface="Microsoft JhengHei"/>
                <a:cs typeface="Microsoft JhengHei"/>
                <a:sym typeface="Microsoft JhengHei"/>
              </a:defRPr>
            </a:lvl6pPr>
            <a:lvl7pPr marL="3200400" marR="0" lvl="6" indent="-342900" algn="l" rtl="0">
              <a:lnSpc>
                <a:spcPct val="90000"/>
              </a:lnSpc>
              <a:spcBef>
                <a:spcPts val="500"/>
              </a:spcBef>
              <a:spcAft>
                <a:spcPts val="0"/>
              </a:spcAft>
              <a:buClr>
                <a:schemeClr val="dk1"/>
              </a:buClr>
              <a:buSzPts val="1800"/>
              <a:buFont typeface="Microsoft JhengHei"/>
              <a:buChar char="•"/>
              <a:defRPr sz="1800" b="1" i="0" u="none" strike="noStrike" cap="none">
                <a:solidFill>
                  <a:schemeClr val="dk1"/>
                </a:solidFill>
                <a:latin typeface="Microsoft JhengHei"/>
                <a:ea typeface="Microsoft JhengHei"/>
                <a:cs typeface="Microsoft JhengHei"/>
                <a:sym typeface="Microsoft JhengHei"/>
              </a:defRPr>
            </a:lvl7pPr>
            <a:lvl8pPr marL="3657600" marR="0" lvl="7" indent="-342900" algn="l" rtl="0">
              <a:lnSpc>
                <a:spcPct val="90000"/>
              </a:lnSpc>
              <a:spcBef>
                <a:spcPts val="500"/>
              </a:spcBef>
              <a:spcAft>
                <a:spcPts val="0"/>
              </a:spcAft>
              <a:buClr>
                <a:schemeClr val="dk1"/>
              </a:buClr>
              <a:buSzPts val="1800"/>
              <a:buFont typeface="Microsoft JhengHei"/>
              <a:buChar char="•"/>
              <a:defRPr sz="1800" b="1" i="0" u="none" strike="noStrike" cap="none">
                <a:solidFill>
                  <a:schemeClr val="dk1"/>
                </a:solidFill>
                <a:latin typeface="Microsoft JhengHei"/>
                <a:ea typeface="Microsoft JhengHei"/>
                <a:cs typeface="Microsoft JhengHei"/>
                <a:sym typeface="Microsoft JhengHei"/>
              </a:defRPr>
            </a:lvl8pPr>
            <a:lvl9pPr marL="4114800" marR="0" lvl="8" indent="-342900" algn="l" rtl="0">
              <a:lnSpc>
                <a:spcPct val="90000"/>
              </a:lnSpc>
              <a:spcBef>
                <a:spcPts val="500"/>
              </a:spcBef>
              <a:spcAft>
                <a:spcPts val="0"/>
              </a:spcAft>
              <a:buClr>
                <a:schemeClr val="dk1"/>
              </a:buClr>
              <a:buSzPts val="1800"/>
              <a:buFont typeface="Microsoft JhengHei"/>
              <a:buChar char="•"/>
              <a:defRPr sz="1800" b="1" i="0" u="none" strike="noStrike" cap="none">
                <a:solidFill>
                  <a:schemeClr val="dk1"/>
                </a:solidFill>
                <a:latin typeface="Microsoft JhengHei"/>
                <a:ea typeface="Microsoft JhengHei"/>
                <a:cs typeface="Microsoft JhengHei"/>
                <a:sym typeface="Microsoft JhengHei"/>
              </a:defRPr>
            </a:lvl9pPr>
          </a:lstStyle>
          <a:p>
            <a:endParaRPr/>
          </a:p>
        </p:txBody>
      </p:sp>
      <p:sp>
        <p:nvSpPr>
          <p:cNvPr id="11" name="Google Shape;11;p6"/>
          <p:cNvSpPr txBox="1">
            <a:spLocks noGrp="1"/>
          </p:cNvSpPr>
          <p:nvPr>
            <p:ph type="title"/>
          </p:nvPr>
        </p:nvSpPr>
        <p:spPr>
          <a:xfrm>
            <a:off x="519290" y="259072"/>
            <a:ext cx="11091685" cy="75988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rgbClr val="464444"/>
              </a:buClr>
              <a:buSzPts val="3000"/>
              <a:buFont typeface="Microsoft JhengHei"/>
              <a:buNone/>
              <a:defRPr sz="3000" b="1" i="0" u="none" strike="noStrike" cap="none">
                <a:solidFill>
                  <a:srgbClr val="464444"/>
                </a:solidFill>
                <a:latin typeface="Microsoft JhengHei"/>
                <a:ea typeface="Microsoft JhengHei"/>
                <a:cs typeface="Microsoft JhengHei"/>
                <a:sym typeface="Microsoft JhengHei"/>
              </a:defRPr>
            </a:lvl1pPr>
            <a:lvl2pPr marR="0" lvl="1" algn="l" rtl="0">
              <a:lnSpc>
                <a:spcPct val="100000"/>
              </a:lnSpc>
              <a:spcBef>
                <a:spcPts val="0"/>
              </a:spcBef>
              <a:spcAft>
                <a:spcPts val="0"/>
              </a:spcAft>
              <a:buClr>
                <a:srgbClr val="000000"/>
              </a:buClr>
              <a:buSzPts val="1400"/>
              <a:buFont typeface="Microsoft JhengHei"/>
              <a:buNone/>
              <a:defRPr sz="1800" i="0" u="none" strike="noStrike" cap="none">
                <a:solidFill>
                  <a:srgbClr val="000000"/>
                </a:solidFill>
                <a:latin typeface="Microsoft JhengHei"/>
                <a:ea typeface="Microsoft JhengHei"/>
                <a:cs typeface="Microsoft JhengHei"/>
                <a:sym typeface="Microsoft JhengHei"/>
              </a:defRPr>
            </a:lvl2pPr>
            <a:lvl3pPr marR="0" lvl="2" algn="l" rtl="0">
              <a:lnSpc>
                <a:spcPct val="100000"/>
              </a:lnSpc>
              <a:spcBef>
                <a:spcPts val="0"/>
              </a:spcBef>
              <a:spcAft>
                <a:spcPts val="0"/>
              </a:spcAft>
              <a:buClr>
                <a:srgbClr val="000000"/>
              </a:buClr>
              <a:buSzPts val="1400"/>
              <a:buFont typeface="Microsoft JhengHei"/>
              <a:buNone/>
              <a:defRPr sz="1800" i="0" u="none" strike="noStrike" cap="none">
                <a:solidFill>
                  <a:srgbClr val="000000"/>
                </a:solidFill>
                <a:latin typeface="Microsoft JhengHei"/>
                <a:ea typeface="Microsoft JhengHei"/>
                <a:cs typeface="Microsoft JhengHei"/>
                <a:sym typeface="Microsoft JhengHei"/>
              </a:defRPr>
            </a:lvl3pPr>
            <a:lvl4pPr marR="0" lvl="3" algn="l" rtl="0">
              <a:lnSpc>
                <a:spcPct val="100000"/>
              </a:lnSpc>
              <a:spcBef>
                <a:spcPts val="0"/>
              </a:spcBef>
              <a:spcAft>
                <a:spcPts val="0"/>
              </a:spcAft>
              <a:buClr>
                <a:srgbClr val="000000"/>
              </a:buClr>
              <a:buSzPts val="1400"/>
              <a:buFont typeface="Microsoft JhengHei"/>
              <a:buNone/>
              <a:defRPr sz="1800" i="0" u="none" strike="noStrike" cap="none">
                <a:solidFill>
                  <a:srgbClr val="000000"/>
                </a:solidFill>
                <a:latin typeface="Microsoft JhengHei"/>
                <a:ea typeface="Microsoft JhengHei"/>
                <a:cs typeface="Microsoft JhengHei"/>
                <a:sym typeface="Microsoft JhengHei"/>
              </a:defRPr>
            </a:lvl4pPr>
            <a:lvl5pPr marR="0" lvl="4" algn="l" rtl="0">
              <a:lnSpc>
                <a:spcPct val="100000"/>
              </a:lnSpc>
              <a:spcBef>
                <a:spcPts val="0"/>
              </a:spcBef>
              <a:spcAft>
                <a:spcPts val="0"/>
              </a:spcAft>
              <a:buClr>
                <a:srgbClr val="000000"/>
              </a:buClr>
              <a:buSzPts val="1400"/>
              <a:buFont typeface="Microsoft JhengHei"/>
              <a:buNone/>
              <a:defRPr sz="1800" i="0" u="none" strike="noStrike" cap="none">
                <a:solidFill>
                  <a:srgbClr val="000000"/>
                </a:solidFill>
                <a:latin typeface="Microsoft JhengHei"/>
                <a:ea typeface="Microsoft JhengHei"/>
                <a:cs typeface="Microsoft JhengHei"/>
                <a:sym typeface="Microsoft JhengHei"/>
              </a:defRPr>
            </a:lvl5pPr>
            <a:lvl6pPr marR="0" lvl="5" algn="l" rtl="0">
              <a:lnSpc>
                <a:spcPct val="100000"/>
              </a:lnSpc>
              <a:spcBef>
                <a:spcPts val="0"/>
              </a:spcBef>
              <a:spcAft>
                <a:spcPts val="0"/>
              </a:spcAft>
              <a:buClr>
                <a:srgbClr val="000000"/>
              </a:buClr>
              <a:buSzPts val="1400"/>
              <a:buFont typeface="Microsoft JhengHei"/>
              <a:buNone/>
              <a:defRPr sz="1800" i="0" u="none" strike="noStrike" cap="none">
                <a:solidFill>
                  <a:srgbClr val="000000"/>
                </a:solidFill>
                <a:latin typeface="Microsoft JhengHei"/>
                <a:ea typeface="Microsoft JhengHei"/>
                <a:cs typeface="Microsoft JhengHei"/>
                <a:sym typeface="Microsoft JhengHei"/>
              </a:defRPr>
            </a:lvl6pPr>
            <a:lvl7pPr marR="0" lvl="6" algn="l" rtl="0">
              <a:lnSpc>
                <a:spcPct val="100000"/>
              </a:lnSpc>
              <a:spcBef>
                <a:spcPts val="0"/>
              </a:spcBef>
              <a:spcAft>
                <a:spcPts val="0"/>
              </a:spcAft>
              <a:buClr>
                <a:srgbClr val="000000"/>
              </a:buClr>
              <a:buSzPts val="1400"/>
              <a:buFont typeface="Microsoft JhengHei"/>
              <a:buNone/>
              <a:defRPr sz="1800" i="0" u="none" strike="noStrike" cap="none">
                <a:solidFill>
                  <a:srgbClr val="000000"/>
                </a:solidFill>
                <a:latin typeface="Microsoft JhengHei"/>
                <a:ea typeface="Microsoft JhengHei"/>
                <a:cs typeface="Microsoft JhengHei"/>
                <a:sym typeface="Microsoft JhengHei"/>
              </a:defRPr>
            </a:lvl7pPr>
            <a:lvl8pPr marR="0" lvl="7" algn="l" rtl="0">
              <a:lnSpc>
                <a:spcPct val="100000"/>
              </a:lnSpc>
              <a:spcBef>
                <a:spcPts val="0"/>
              </a:spcBef>
              <a:spcAft>
                <a:spcPts val="0"/>
              </a:spcAft>
              <a:buClr>
                <a:srgbClr val="000000"/>
              </a:buClr>
              <a:buSzPts val="1400"/>
              <a:buFont typeface="Microsoft JhengHei"/>
              <a:buNone/>
              <a:defRPr sz="1800" i="0" u="none" strike="noStrike" cap="none">
                <a:solidFill>
                  <a:srgbClr val="000000"/>
                </a:solidFill>
                <a:latin typeface="Microsoft JhengHei"/>
                <a:ea typeface="Microsoft JhengHei"/>
                <a:cs typeface="Microsoft JhengHei"/>
                <a:sym typeface="Microsoft JhengHei"/>
              </a:defRPr>
            </a:lvl8pPr>
            <a:lvl9pPr marR="0" lvl="8" algn="l" rtl="0">
              <a:lnSpc>
                <a:spcPct val="100000"/>
              </a:lnSpc>
              <a:spcBef>
                <a:spcPts val="0"/>
              </a:spcBef>
              <a:spcAft>
                <a:spcPts val="0"/>
              </a:spcAft>
              <a:buClr>
                <a:srgbClr val="000000"/>
              </a:buClr>
              <a:buSzPts val="1400"/>
              <a:buFont typeface="Microsoft JhengHei"/>
              <a:buNone/>
              <a:defRPr sz="1800" i="0" u="none" strike="noStrike" cap="none">
                <a:solidFill>
                  <a:srgbClr val="000000"/>
                </a:solidFill>
                <a:latin typeface="Microsoft JhengHei"/>
                <a:ea typeface="Microsoft JhengHei"/>
                <a:cs typeface="Microsoft JhengHei"/>
                <a:sym typeface="Microsoft JhengHei"/>
              </a:defRPr>
            </a:lvl9pPr>
          </a:lstStyle>
          <a:p>
            <a:endParaRPr/>
          </a:p>
        </p:txBody>
      </p:sp>
      <p:sp>
        <p:nvSpPr>
          <p:cNvPr id="12" name="Google Shape;12;p6"/>
          <p:cNvSpPr txBox="1">
            <a:spLocks noGrp="1"/>
          </p:cNvSpPr>
          <p:nvPr>
            <p:ph type="sldNum" idx="12"/>
          </p:nvPr>
        </p:nvSpPr>
        <p:spPr>
          <a:xfrm flipH="1">
            <a:off x="11397425" y="6394525"/>
            <a:ext cx="651300" cy="327000"/>
          </a:xfrm>
          <a:prstGeom prst="rect">
            <a:avLst/>
          </a:prstGeom>
          <a:noFill/>
          <a:ln>
            <a:noFill/>
          </a:ln>
        </p:spPr>
        <p:txBody>
          <a:bodyPr spcFirstLastPara="1" wrap="square" lIns="91425" tIns="45700" rIns="91425" bIns="45700" anchor="b" anchorCtr="0">
            <a:noAutofit/>
          </a:bodyPr>
          <a:lstStyle>
            <a:lvl1pPr marL="0" marR="0" lvl="0" indent="0" algn="r" rtl="0">
              <a:lnSpc>
                <a:spcPct val="100000"/>
              </a:lnSpc>
              <a:spcBef>
                <a:spcPts val="0"/>
              </a:spcBef>
              <a:spcAft>
                <a:spcPts val="0"/>
              </a:spcAft>
              <a:buClr>
                <a:srgbClr val="000000"/>
              </a:buClr>
              <a:buSzPts val="1100"/>
              <a:buFont typeface="Arial"/>
              <a:buNone/>
              <a:defRPr sz="1100" i="0" u="none" strike="noStrike" cap="none">
                <a:solidFill>
                  <a:srgbClr val="7F7F7F"/>
                </a:solidFill>
                <a:latin typeface="Microsoft JhengHei"/>
                <a:ea typeface="Microsoft JhengHei"/>
                <a:cs typeface="Microsoft JhengHei"/>
                <a:sym typeface="Microsoft JhengHei"/>
              </a:defRPr>
            </a:lvl1pPr>
            <a:lvl2pPr marL="0" marR="0" lvl="1" indent="0" algn="r" rtl="0">
              <a:lnSpc>
                <a:spcPct val="100000"/>
              </a:lnSpc>
              <a:spcBef>
                <a:spcPts val="0"/>
              </a:spcBef>
              <a:spcAft>
                <a:spcPts val="0"/>
              </a:spcAft>
              <a:buClr>
                <a:srgbClr val="000000"/>
              </a:buClr>
              <a:buSzPts val="1100"/>
              <a:buFont typeface="Arial"/>
              <a:buNone/>
              <a:defRPr sz="1100" i="0" u="none" strike="noStrike" cap="none">
                <a:solidFill>
                  <a:srgbClr val="7F7F7F"/>
                </a:solidFill>
                <a:latin typeface="Microsoft JhengHei"/>
                <a:ea typeface="Microsoft JhengHei"/>
                <a:cs typeface="Microsoft JhengHei"/>
                <a:sym typeface="Microsoft JhengHei"/>
              </a:defRPr>
            </a:lvl2pPr>
            <a:lvl3pPr marL="0" marR="0" lvl="2" indent="0" algn="r" rtl="0">
              <a:lnSpc>
                <a:spcPct val="100000"/>
              </a:lnSpc>
              <a:spcBef>
                <a:spcPts val="0"/>
              </a:spcBef>
              <a:spcAft>
                <a:spcPts val="0"/>
              </a:spcAft>
              <a:buClr>
                <a:srgbClr val="000000"/>
              </a:buClr>
              <a:buSzPts val="1100"/>
              <a:buFont typeface="Arial"/>
              <a:buNone/>
              <a:defRPr sz="1100" i="0" u="none" strike="noStrike" cap="none">
                <a:solidFill>
                  <a:srgbClr val="7F7F7F"/>
                </a:solidFill>
                <a:latin typeface="Microsoft JhengHei"/>
                <a:ea typeface="Microsoft JhengHei"/>
                <a:cs typeface="Microsoft JhengHei"/>
                <a:sym typeface="Microsoft JhengHei"/>
              </a:defRPr>
            </a:lvl3pPr>
            <a:lvl4pPr marL="0" marR="0" lvl="3" indent="0" algn="r" rtl="0">
              <a:lnSpc>
                <a:spcPct val="100000"/>
              </a:lnSpc>
              <a:spcBef>
                <a:spcPts val="0"/>
              </a:spcBef>
              <a:spcAft>
                <a:spcPts val="0"/>
              </a:spcAft>
              <a:buClr>
                <a:srgbClr val="000000"/>
              </a:buClr>
              <a:buSzPts val="1100"/>
              <a:buFont typeface="Arial"/>
              <a:buNone/>
              <a:defRPr sz="1100" i="0" u="none" strike="noStrike" cap="none">
                <a:solidFill>
                  <a:srgbClr val="7F7F7F"/>
                </a:solidFill>
                <a:latin typeface="Microsoft JhengHei"/>
                <a:ea typeface="Microsoft JhengHei"/>
                <a:cs typeface="Microsoft JhengHei"/>
                <a:sym typeface="Microsoft JhengHei"/>
              </a:defRPr>
            </a:lvl4pPr>
            <a:lvl5pPr marL="0" marR="0" lvl="4" indent="0" algn="r" rtl="0">
              <a:lnSpc>
                <a:spcPct val="100000"/>
              </a:lnSpc>
              <a:spcBef>
                <a:spcPts val="0"/>
              </a:spcBef>
              <a:spcAft>
                <a:spcPts val="0"/>
              </a:spcAft>
              <a:buClr>
                <a:srgbClr val="000000"/>
              </a:buClr>
              <a:buSzPts val="1100"/>
              <a:buFont typeface="Arial"/>
              <a:buNone/>
              <a:defRPr sz="1100" i="0" u="none" strike="noStrike" cap="none">
                <a:solidFill>
                  <a:srgbClr val="7F7F7F"/>
                </a:solidFill>
                <a:latin typeface="Microsoft JhengHei"/>
                <a:ea typeface="Microsoft JhengHei"/>
                <a:cs typeface="Microsoft JhengHei"/>
                <a:sym typeface="Microsoft JhengHei"/>
              </a:defRPr>
            </a:lvl5pPr>
            <a:lvl6pPr marL="0" marR="0" lvl="5" indent="0" algn="r" rtl="0">
              <a:lnSpc>
                <a:spcPct val="100000"/>
              </a:lnSpc>
              <a:spcBef>
                <a:spcPts val="0"/>
              </a:spcBef>
              <a:spcAft>
                <a:spcPts val="0"/>
              </a:spcAft>
              <a:buClr>
                <a:srgbClr val="000000"/>
              </a:buClr>
              <a:buSzPts val="1100"/>
              <a:buFont typeface="Arial"/>
              <a:buNone/>
              <a:defRPr sz="1100" i="0" u="none" strike="noStrike" cap="none">
                <a:solidFill>
                  <a:srgbClr val="7F7F7F"/>
                </a:solidFill>
                <a:latin typeface="Microsoft JhengHei"/>
                <a:ea typeface="Microsoft JhengHei"/>
                <a:cs typeface="Microsoft JhengHei"/>
                <a:sym typeface="Microsoft JhengHei"/>
              </a:defRPr>
            </a:lvl6pPr>
            <a:lvl7pPr marL="0" marR="0" lvl="6" indent="0" algn="r" rtl="0">
              <a:lnSpc>
                <a:spcPct val="100000"/>
              </a:lnSpc>
              <a:spcBef>
                <a:spcPts val="0"/>
              </a:spcBef>
              <a:spcAft>
                <a:spcPts val="0"/>
              </a:spcAft>
              <a:buClr>
                <a:srgbClr val="000000"/>
              </a:buClr>
              <a:buSzPts val="1100"/>
              <a:buFont typeface="Arial"/>
              <a:buNone/>
              <a:defRPr sz="1100" i="0" u="none" strike="noStrike" cap="none">
                <a:solidFill>
                  <a:srgbClr val="7F7F7F"/>
                </a:solidFill>
                <a:latin typeface="Microsoft JhengHei"/>
                <a:ea typeface="Microsoft JhengHei"/>
                <a:cs typeface="Microsoft JhengHei"/>
                <a:sym typeface="Microsoft JhengHei"/>
              </a:defRPr>
            </a:lvl7pPr>
            <a:lvl8pPr marL="0" marR="0" lvl="7" indent="0" algn="r" rtl="0">
              <a:lnSpc>
                <a:spcPct val="100000"/>
              </a:lnSpc>
              <a:spcBef>
                <a:spcPts val="0"/>
              </a:spcBef>
              <a:spcAft>
                <a:spcPts val="0"/>
              </a:spcAft>
              <a:buClr>
                <a:srgbClr val="000000"/>
              </a:buClr>
              <a:buSzPts val="1100"/>
              <a:buFont typeface="Arial"/>
              <a:buNone/>
              <a:defRPr sz="1100" i="0" u="none" strike="noStrike" cap="none">
                <a:solidFill>
                  <a:srgbClr val="7F7F7F"/>
                </a:solidFill>
                <a:latin typeface="Microsoft JhengHei"/>
                <a:ea typeface="Microsoft JhengHei"/>
                <a:cs typeface="Microsoft JhengHei"/>
                <a:sym typeface="Microsoft JhengHei"/>
              </a:defRPr>
            </a:lvl8pPr>
            <a:lvl9pPr marL="0" marR="0" lvl="8" indent="0" algn="r" rtl="0">
              <a:lnSpc>
                <a:spcPct val="100000"/>
              </a:lnSpc>
              <a:spcBef>
                <a:spcPts val="0"/>
              </a:spcBef>
              <a:spcAft>
                <a:spcPts val="0"/>
              </a:spcAft>
              <a:buClr>
                <a:srgbClr val="000000"/>
              </a:buClr>
              <a:buSzPts val="1100"/>
              <a:buFont typeface="Arial"/>
              <a:buNone/>
              <a:defRPr sz="1100" i="0" u="none" strike="noStrike" cap="none">
                <a:solidFill>
                  <a:srgbClr val="7F7F7F"/>
                </a:solidFill>
                <a:latin typeface="Microsoft JhengHei"/>
                <a:ea typeface="Microsoft JhengHei"/>
                <a:cs typeface="Microsoft JhengHei"/>
                <a:sym typeface="Microsoft JhengHei"/>
              </a:defRPr>
            </a:lvl9pPr>
          </a:lstStyle>
          <a:p>
            <a:pPr marL="0" lvl="0" indent="0" algn="r" rtl="0">
              <a:spcBef>
                <a:spcPts val="0"/>
              </a:spcBef>
              <a:spcAft>
                <a:spcPts val="0"/>
              </a:spcAft>
              <a:buNone/>
            </a:pPr>
            <a:fld id="{00000000-1234-1234-1234-123412341234}" type="slidenum">
              <a:rPr lang="zh-TW"/>
              <a:t>‹#›</a:t>
            </a:fld>
            <a:endParaRPr/>
          </a:p>
        </p:txBody>
      </p:sp>
    </p:spTree>
    <p:extLst>
      <p:ext uri="{BB962C8B-B14F-4D97-AF65-F5344CB8AC3E}">
        <p14:creationId xmlns:p14="http://schemas.microsoft.com/office/powerpoint/2010/main" val="1925580184"/>
      </p:ext>
    </p:extLst>
  </p:cSld>
  <p:clrMap bg1="lt1" tx1="dk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chart" Target="../charts/char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chart" Target="../charts/char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chart" Target="../charts/char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chart" Target="../charts/char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chart" Target="../charts/char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chart" Target="../charts/char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chart" Target="../charts/char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806FCBD-1057-479C-BDC5-C41CA873157D}"/>
              </a:ext>
            </a:extLst>
          </p:cNvPr>
          <p:cNvSpPr>
            <a:spLocks noGrp="1"/>
          </p:cNvSpPr>
          <p:nvPr>
            <p:ph type="title"/>
          </p:nvPr>
        </p:nvSpPr>
        <p:spPr/>
        <p:txBody>
          <a:bodyPr/>
          <a:lstStyle/>
          <a:p>
            <a:r>
              <a:rPr sz="3200" b="1">
                <a:solidFill>
                  <a:srgbClr val="4D4D4D"/>
                </a:solidFill>
                <a:latin typeface="微軟正黑體"/>
                <a:ea typeface="微軟正黑體"/>
                <a:cs typeface="微軟正黑體"/>
              </a:rPr>
              <a:t>信用卡市場分析與經營洞察</a:t>
            </a:r>
            <a:endParaRPr lang="zh-TW" altLang="en-US"/>
          </a:p>
        </p:txBody>
      </p:sp>
    </p:spTree>
    <p:extLst>
      <p:ext uri="{BB962C8B-B14F-4D97-AF65-F5344CB8AC3E}">
        <p14:creationId xmlns:p14="http://schemas.microsoft.com/office/powerpoint/2010/main" val="586763950"/>
      </p:ext>
    </p:extLst>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wrap="square"/>
          <a:lstStyle/>
          <a:p>
            <a:pPr>
              <a:spcAft>
                <a:spcPts val="1000"/>
              </a:spcAft>
            </a:pPr>
            <a:r>
              <a:rPr sz="1600" b="1">
                <a:solidFill>
                  <a:srgbClr val="C12026"/>
                </a:solidFill>
                <a:latin typeface="微軟正黑體"/>
                <a:ea typeface="微軟正黑體"/>
                <a:cs typeface="微軟正黑體"/>
              </a:rPr>
              <a:t>01　</a:t>
            </a:r>
            <a:r>
              <a:rPr sz="1600" b="0">
                <a:solidFill>
                  <a:srgbClr val="1A1A1A"/>
                </a:solidFill>
                <a:latin typeface="微軟正黑體"/>
                <a:ea typeface="微軟正黑體"/>
                <a:cs typeface="微軟正黑體"/>
              </a:rPr>
              <a:t>Executive Summary</a:t>
            </a:r>
          </a:p>
          <a:p>
            <a:pPr>
              <a:spcAft>
                <a:spcPts val="1000"/>
              </a:spcAft>
            </a:pPr>
            <a:r>
              <a:rPr sz="1600" b="1">
                <a:solidFill>
                  <a:srgbClr val="C12026"/>
                </a:solidFill>
                <a:latin typeface="微軟正黑體"/>
                <a:ea typeface="微軟正黑體"/>
                <a:cs typeface="微軟正黑體"/>
              </a:rPr>
              <a:t>02　</a:t>
            </a:r>
            <a:r>
              <a:rPr sz="1600" b="0">
                <a:solidFill>
                  <a:srgbClr val="1A1A1A"/>
                </a:solidFill>
                <a:latin typeface="微軟正黑體"/>
                <a:ea typeface="微軟正黑體"/>
                <a:cs typeface="微軟正黑體"/>
              </a:rPr>
              <a:t>市場整體概況</a:t>
            </a:r>
          </a:p>
          <a:p>
            <a:pPr>
              <a:spcAft>
                <a:spcPts val="1000"/>
              </a:spcAft>
            </a:pPr>
            <a:r>
              <a:rPr sz="1600" b="1">
                <a:solidFill>
                  <a:srgbClr val="C12026"/>
                </a:solidFill>
                <a:latin typeface="微軟正黑體"/>
                <a:ea typeface="微軟正黑體"/>
                <a:cs typeface="微軟正黑體"/>
              </a:rPr>
              <a:t>03　</a:t>
            </a:r>
            <a:r>
              <a:rPr sz="1600" b="0">
                <a:solidFill>
                  <a:srgbClr val="1A1A1A"/>
                </a:solidFill>
                <a:latin typeface="微軟正黑體"/>
                <a:ea typeface="微軟正黑體"/>
                <a:cs typeface="微軟正黑體"/>
              </a:rPr>
              <a:t>同業成長及競爭分析</a:t>
            </a:r>
          </a:p>
          <a:p>
            <a:pPr>
              <a:spcAft>
                <a:spcPts val="1000"/>
              </a:spcAft>
            </a:pPr>
            <a:r>
              <a:rPr sz="1600" b="1">
                <a:solidFill>
                  <a:srgbClr val="C12026"/>
                </a:solidFill>
                <a:latin typeface="微軟正黑體"/>
                <a:ea typeface="微軟正黑體"/>
                <a:cs typeface="微軟正黑體"/>
              </a:rPr>
              <a:t>04　</a:t>
            </a:r>
            <a:r>
              <a:rPr sz="1600" b="0">
                <a:solidFill>
                  <a:srgbClr val="1A1A1A"/>
                </a:solidFill>
                <a:latin typeface="微軟正黑體"/>
                <a:ea typeface="微軟正黑體"/>
                <a:cs typeface="微軟正黑體"/>
              </a:rPr>
              <a:t>客戶活躍度</a:t>
            </a:r>
          </a:p>
          <a:p>
            <a:pPr>
              <a:spcAft>
                <a:spcPts val="1000"/>
              </a:spcAft>
            </a:pPr>
            <a:r>
              <a:rPr sz="1600" b="1">
                <a:solidFill>
                  <a:srgbClr val="C12026"/>
                </a:solidFill>
                <a:latin typeface="微軟正黑體"/>
                <a:ea typeface="微軟正黑體"/>
                <a:cs typeface="微軟正黑體"/>
              </a:rPr>
              <a:t>05　</a:t>
            </a:r>
            <a:r>
              <a:rPr sz="1600" b="0">
                <a:solidFill>
                  <a:srgbClr val="1A1A1A"/>
                </a:solidFill>
                <a:latin typeface="微軟正黑體"/>
                <a:ea typeface="微軟正黑體"/>
                <a:cs typeface="微軟正黑體"/>
              </a:rPr>
              <a:t>獲利能力</a:t>
            </a:r>
          </a:p>
          <a:p>
            <a:pPr>
              <a:spcAft>
                <a:spcPts val="1000"/>
              </a:spcAft>
            </a:pPr>
            <a:r>
              <a:rPr sz="1600" b="1">
                <a:solidFill>
                  <a:srgbClr val="C12026"/>
                </a:solidFill>
                <a:latin typeface="微軟正黑體"/>
                <a:ea typeface="微軟正黑體"/>
                <a:cs typeface="微軟正黑體"/>
              </a:rPr>
              <a:t>06　</a:t>
            </a:r>
            <a:r>
              <a:rPr sz="1600" b="0">
                <a:solidFill>
                  <a:srgbClr val="1A1A1A"/>
                </a:solidFill>
                <a:latin typeface="微軟正黑體"/>
                <a:ea typeface="微軟正黑體"/>
                <a:cs typeface="微軟正黑體"/>
              </a:rPr>
              <a:t>風險與警訊</a:t>
            </a:r>
          </a:p>
          <a:p>
            <a:pPr>
              <a:spcAft>
                <a:spcPts val="1000"/>
              </a:spcAft>
            </a:pPr>
            <a:r>
              <a:rPr sz="1600" b="1">
                <a:solidFill>
                  <a:srgbClr val="C12026"/>
                </a:solidFill>
                <a:latin typeface="微軟正黑體"/>
                <a:ea typeface="微軟正黑體"/>
                <a:cs typeface="微軟正黑體"/>
              </a:rPr>
              <a:t>07　</a:t>
            </a:r>
            <a:r>
              <a:rPr sz="1600" b="0">
                <a:solidFill>
                  <a:srgbClr val="1A1A1A"/>
                </a:solidFill>
                <a:latin typeface="微軟正黑體"/>
                <a:ea typeface="微軟正黑體"/>
                <a:cs typeface="微軟正黑體"/>
              </a:rPr>
              <a:t>未來趨勢推測</a:t>
            </a:r>
          </a:p>
          <a:p>
            <a:pPr>
              <a:spcAft>
                <a:spcPts val="1000"/>
              </a:spcAft>
            </a:pPr>
            <a:r>
              <a:rPr sz="1600" b="1">
                <a:solidFill>
                  <a:srgbClr val="C12026"/>
                </a:solidFill>
                <a:latin typeface="微軟正黑體"/>
                <a:ea typeface="微軟正黑體"/>
                <a:cs typeface="微軟正黑體"/>
              </a:rPr>
              <a:t>08　</a:t>
            </a:r>
            <a:r>
              <a:rPr sz="1600" b="0">
                <a:solidFill>
                  <a:srgbClr val="1A1A1A"/>
                </a:solidFill>
                <a:latin typeface="微軟正黑體"/>
                <a:ea typeface="微軟正黑體"/>
                <a:cs typeface="微軟正黑體"/>
              </a:rPr>
              <a:t>對台新的策略建議</a:t>
            </a:r>
          </a:p>
          <a:p>
            <a:pPr>
              <a:spcAft>
                <a:spcPts val="1000"/>
              </a:spcAft>
            </a:pPr>
            <a:r>
              <a:rPr sz="1600" b="1">
                <a:solidFill>
                  <a:srgbClr val="C12026"/>
                </a:solidFill>
                <a:latin typeface="微軟正黑體"/>
                <a:ea typeface="微軟正黑體"/>
                <a:cs typeface="微軟正黑體"/>
              </a:rPr>
              <a:t>09　</a:t>
            </a:r>
            <a:r>
              <a:rPr sz="1600" b="0">
                <a:solidFill>
                  <a:srgbClr val="1A1A1A"/>
                </a:solidFill>
                <a:latin typeface="微軟正黑體"/>
                <a:ea typeface="微軟正黑體"/>
                <a:cs typeface="微軟正黑體"/>
              </a:rPr>
              <a:t>結論與後續行動</a:t>
            </a:r>
          </a:p>
        </p:txBody>
      </p:sp>
      <p:sp>
        <p:nvSpPr>
          <p:cNvPr id="3" name="Title 2"/>
          <p:cNvSpPr>
            <a:spLocks noGrp="1"/>
          </p:cNvSpPr>
          <p:nvPr>
            <p:ph type="title"/>
          </p:nvPr>
        </p:nvSpPr>
        <p:spPr/>
        <p:txBody>
          <a:bodyPr/>
          <a:lstStyle/>
          <a:p>
            <a:pPr algn="l"/>
            <a:r>
              <a:rPr sz="2200" b="0">
                <a:solidFill>
                  <a:srgbClr val="1A1A1A"/>
                </a:solidFill>
                <a:latin typeface="微軟正黑體"/>
                <a:ea typeface="微軟正黑體"/>
                <a:cs typeface="微軟正黑體"/>
              </a:rPr>
              <a:t>目錄</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1400" b="0">
                <a:solidFill>
                  <a:srgbClr val="C12026"/>
                </a:solidFill>
                <a:latin typeface="微軟正黑體"/>
                <a:ea typeface="微軟正黑體"/>
                <a:cs typeface="微軟正黑體"/>
              </a:rPr>
              <a:t>CHAPTER 01</a:t>
            </a:r>
          </a:p>
          <a:p>
            <a:r>
              <a:rPr sz="3200" b="1">
                <a:solidFill>
                  <a:srgbClr val="4D4D4D"/>
                </a:solidFill>
                <a:latin typeface="微軟正黑體"/>
                <a:ea typeface="微軟正黑體"/>
                <a:cs typeface="微軟正黑體"/>
              </a:rPr>
              <a:t>Executive Summary</a:t>
            </a:r>
          </a:p>
        </p:txBody>
      </p:sp>
      <p:sp>
        <p:nvSpPr>
          <p:cNvPr id="3" name="Rectangle 2"/>
          <p:cNvSpPr/>
          <p:nvPr/>
        </p:nvSpPr>
        <p:spPr>
          <a:xfrm>
            <a:off x="831851" y="5737075"/>
            <a:ext cx="1905000" cy="28575"/>
          </a:xfrm>
          <a:prstGeom prst="rect">
            <a:avLst/>
          </a:prstGeom>
          <a:solidFill>
            <a:srgbClr val="C120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a:xfrm>
            <a:off x="7205535" y="1854753"/>
            <a:ext cx="4405560" cy="4272900"/>
          </a:xfrm>
        </p:spPr>
        <p:txBody>
          <a:bodyPr wrap="square"/>
          <a:lstStyle/>
          <a:p>
            <a:pPr>
              <a:spcAft>
                <a:spcPts val="800"/>
              </a:spcAft>
            </a:pPr>
            <a:r>
              <a:rPr sz="1100" b="1">
                <a:solidFill>
                  <a:srgbClr val="C12026"/>
                </a:solidFill>
                <a:latin typeface="微軟正黑體"/>
                <a:ea typeface="微軟正黑體"/>
                <a:cs typeface="微軟正黑體"/>
              </a:rPr>
              <a:t>▸ </a:t>
            </a:r>
            <a:r>
              <a:rPr sz="1100" b="0">
                <a:solidFill>
                  <a:srgbClr val="4D4D4D"/>
                </a:solidFill>
                <a:latin typeface="微軟正黑體"/>
                <a:ea typeface="微軟正黑體"/>
                <a:cs typeface="微軟正黑體"/>
              </a:rPr>
              <a:t>從流通卡數走勢觀察，市場基數在 </a:t>
            </a:r>
            <a:r>
              <a:rPr sz="1100" b="1">
                <a:solidFill>
                  <a:srgbClr val="1A1A1A"/>
                </a:solidFill>
                <a:highlight>
                  <a:srgbClr val="FFFF00"/>
                </a:highlight>
                <a:latin typeface="微軟正黑體"/>
                <a:ea typeface="微軟正黑體"/>
                <a:cs typeface="微軟正黑體"/>
              </a:rPr>
              <a:t>11412</a:t>
            </a:r>
            <a:r>
              <a:rPr sz="1100" b="0">
                <a:solidFill>
                  <a:srgbClr val="4D4D4D"/>
                </a:solidFill>
                <a:latin typeface="微軟正黑體"/>
                <a:ea typeface="微軟正黑體"/>
                <a:cs typeface="微軟正黑體"/>
              </a:rPr>
              <a:t> 達到高峰後逐漸趨於平緩，顯示整體發卡市場已逐步進入存量精細化經營階段，各行庫應轉向深化既有客戶價值而非追求開卡數。</a:t>
            </a:r>
          </a:p>
          <a:p>
            <a:pPr>
              <a:spcAft>
                <a:spcPts val="800"/>
              </a:spcAft>
            </a:pPr>
            <a:r>
              <a:rPr sz="1100" b="1">
                <a:solidFill>
                  <a:srgbClr val="C12026"/>
                </a:solidFill>
                <a:latin typeface="微軟正黑體"/>
                <a:ea typeface="微軟正黑體"/>
                <a:cs typeface="微軟正黑體"/>
              </a:rPr>
              <a:t>▸ </a:t>
            </a:r>
            <a:r>
              <a:rPr sz="1100" b="0">
                <a:solidFill>
                  <a:srgbClr val="4D4D4D"/>
                </a:solidFill>
                <a:latin typeface="微軟正黑體"/>
                <a:ea typeface="微軟正黑體"/>
                <a:cs typeface="微軟正黑體"/>
              </a:rPr>
              <a:t>就當月簽帳金額表現而言，全年在 </a:t>
            </a:r>
            <a:r>
              <a:rPr sz="1100" b="1">
                <a:solidFill>
                  <a:srgbClr val="1A1A1A"/>
                </a:solidFill>
                <a:highlight>
                  <a:srgbClr val="FFFF00"/>
                </a:highlight>
                <a:latin typeface="微軟正黑體"/>
                <a:ea typeface="微軟正黑體"/>
                <a:cs typeface="微軟正黑體"/>
              </a:rPr>
              <a:t>11407</a:t>
            </a:r>
            <a:r>
              <a:rPr sz="1100" b="0">
                <a:solidFill>
                  <a:srgbClr val="4D4D4D"/>
                </a:solidFill>
                <a:latin typeface="微軟正黑體"/>
                <a:ea typeface="微軟正黑體"/>
                <a:cs typeface="微軟正黑體"/>
              </a:rPr>
              <a:t> 創下年度高點 </a:t>
            </a:r>
            <a:r>
              <a:rPr sz="1100" b="1">
                <a:solidFill>
                  <a:srgbClr val="1A1A1A"/>
                </a:solidFill>
                <a:highlight>
                  <a:srgbClr val="FFFF00"/>
                </a:highlight>
                <a:latin typeface="微軟正黑體"/>
                <a:ea typeface="微軟正黑體"/>
                <a:cs typeface="微軟正黑體"/>
              </a:rPr>
              <a:t>653,264,628</a:t>
            </a:r>
            <a:r>
              <a:rPr sz="1100" b="0">
                <a:solidFill>
                  <a:srgbClr val="4D4D4D"/>
                </a:solidFill>
                <a:latin typeface="微軟正黑體"/>
                <a:ea typeface="微軟正黑體"/>
                <a:cs typeface="微軟正黑體"/>
              </a:rPr>
              <a:t> 的佳績，反映民眾實質消費力道穩健，核心業務重心應持續鎖定提升卡片活卡率與單卡貢獻度。</a:t>
            </a:r>
          </a:p>
          <a:p>
            <a:pPr>
              <a:spcAft>
                <a:spcPts val="800"/>
              </a:spcAft>
            </a:pPr>
            <a:r>
              <a:rPr sz="1100" b="1">
                <a:solidFill>
                  <a:srgbClr val="C12026"/>
                </a:solidFill>
                <a:latin typeface="微軟正黑體"/>
                <a:ea typeface="微軟正黑體"/>
                <a:cs typeface="微軟正黑體"/>
              </a:rPr>
              <a:t>▸ </a:t>
            </a:r>
            <a:r>
              <a:rPr sz="1100" b="0">
                <a:solidFill>
                  <a:srgbClr val="4D4D4D"/>
                </a:solidFill>
                <a:latin typeface="微軟正黑體"/>
                <a:ea typeface="微軟正黑體"/>
                <a:cs typeface="微軟正黑體"/>
              </a:rPr>
              <a:t>綜觀全年各月份的規模波動，</a:t>
            </a:r>
            <a:r>
              <a:rPr sz="1100" b="1">
                <a:solidFill>
                  <a:srgbClr val="1A1A1A"/>
                </a:solidFill>
                <a:highlight>
                  <a:srgbClr val="FFFF00"/>
                </a:highlight>
                <a:latin typeface="微軟正黑體"/>
                <a:ea typeface="微軟正黑體"/>
                <a:cs typeface="微軟正黑體"/>
              </a:rPr>
              <a:t>11401</a:t>
            </a:r>
            <a:r>
              <a:rPr sz="1100" b="0">
                <a:solidFill>
                  <a:srgbClr val="4D4D4D"/>
                </a:solidFill>
                <a:latin typeface="微軟正黑體"/>
                <a:ea typeface="微軟正黑體"/>
                <a:cs typeface="微軟正黑體"/>
              </a:rPr>
              <a:t> 的最低點與高峰期相比變化幅度有限，突顯市場需求具備高度韌性，建議策略規劃應著重於防範同業之間的客群侵蝕並鞏固核心市佔率。</a:t>
            </a:r>
          </a:p>
        </p:txBody>
      </p:sp>
      <p:sp>
        <p:nvSpPr>
          <p:cNvPr id="3" name="Title 2"/>
          <p:cNvSpPr>
            <a:spLocks noGrp="1"/>
          </p:cNvSpPr>
          <p:nvPr>
            <p:ph type="title"/>
          </p:nvPr>
        </p:nvSpPr>
        <p:spPr/>
        <p:txBody>
          <a:bodyPr/>
          <a:lstStyle/>
          <a:p>
            <a:pPr algn="l"/>
            <a:r>
              <a:rPr sz="2200" b="0">
                <a:solidFill>
                  <a:srgbClr val="1A1A1A"/>
                </a:solidFill>
                <a:latin typeface="微軟正黑體"/>
                <a:ea typeface="微軟正黑體"/>
                <a:cs typeface="微軟正黑體"/>
              </a:rPr>
              <a:t>信用卡市場年度回顧與展望</a:t>
            </a:r>
          </a:p>
        </p:txBody>
      </p:sp>
      <p:sp>
        <p:nvSpPr>
          <p:cNvPr id="4" name="Rectangle 3"/>
          <p:cNvSpPr/>
          <p:nvPr/>
        </p:nvSpPr>
        <p:spPr>
          <a:xfrm>
            <a:off x="368595" y="1247553"/>
            <a:ext cx="57150" cy="457200"/>
          </a:xfrm>
          <a:prstGeom prst="rect">
            <a:avLst/>
          </a:prstGeom>
          <a:solidFill>
            <a:srgbClr val="FFC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25745" y="1247553"/>
            <a:ext cx="11185350" cy="457200"/>
          </a:xfrm>
          <a:prstGeom prst="rect">
            <a:avLst/>
          </a:prstGeom>
          <a:solidFill>
            <a:srgbClr val="FFF8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75260"/>
          <a:lstStyle/>
          <a:p>
            <a:pPr algn="l"/>
            <a:r>
              <a:rPr sz="1300" b="1">
                <a:solidFill>
                  <a:srgbClr val="C12026"/>
                </a:solidFill>
                <a:latin typeface="微軟正黑體"/>
                <a:ea typeface="微軟正黑體"/>
                <a:cs typeface="微軟正黑體"/>
              </a:rPr>
              <a:t>◆ </a:t>
            </a:r>
            <a:r>
              <a:rPr sz="1300" b="1">
                <a:solidFill>
                  <a:srgbClr val="1A1A1A"/>
                </a:solidFill>
                <a:latin typeface="微軟正黑體"/>
                <a:ea typeface="微軟正黑體"/>
                <a:cs typeface="微軟正黑體"/>
              </a:rPr>
              <a:t>市場規模於 </a:t>
            </a:r>
            <a:r>
              <a:rPr sz="1300" b="1">
                <a:solidFill>
                  <a:srgbClr val="1A1A1A"/>
                </a:solidFill>
                <a:highlight>
                  <a:srgbClr val="FFFF00"/>
                </a:highlight>
                <a:latin typeface="微軟正黑體"/>
                <a:ea typeface="微軟正黑體"/>
                <a:cs typeface="微軟正黑體"/>
              </a:rPr>
              <a:t>60,485,911</a:t>
            </a:r>
            <a:r>
              <a:rPr sz="1300" b="1">
                <a:solidFill>
                  <a:srgbClr val="1A1A1A"/>
                </a:solidFill>
                <a:latin typeface="微軟正黑體"/>
                <a:ea typeface="微軟正黑體"/>
                <a:cs typeface="微軟正黑體"/>
              </a:rPr>
              <a:t> 達到波段高點，全年動能主要由消費金額擴增所驅動</a:t>
            </a:r>
          </a:p>
        </p:txBody>
      </p:sp>
      <p:graphicFrame>
        <p:nvGraphicFramePr>
          <p:cNvPr id="6" name="Chart 5"/>
          <p:cNvGraphicFramePr>
            <a:graphicFrameLocks noGrp="1"/>
          </p:cNvGraphicFramePr>
          <p:nvPr/>
        </p:nvGraphicFramePr>
        <p:xfrm>
          <a:off x="368595" y="1854753"/>
          <a:ext cx="6608340" cy="4272900"/>
        </p:xfrm>
        <a:graphic>
          <a:graphicData uri="http://schemas.openxmlformats.org/drawingml/2006/chart">
            <c:chart xmlns:c="http://schemas.openxmlformats.org/drawingml/2006/chart" r:id="rId2"/>
          </a:graphicData>
        </a:graphic>
      </p:graphicFrame>
      <p:sp>
        <p:nvSpPr>
          <p:cNvPr id="7" name="TextBox 6"/>
          <p:cNvSpPr txBox="1"/>
          <p:nvPr/>
        </p:nvSpPr>
        <p:spPr>
          <a:xfrm>
            <a:off x="368595" y="6150000"/>
            <a:ext cx="11242500" cy="250000"/>
          </a:xfrm>
          <a:prstGeom prst="rect">
            <a:avLst/>
          </a:prstGeom>
          <a:noFill/>
        </p:spPr>
        <p:txBody>
          <a:bodyPr wrap="none">
            <a:spAutoFit/>
          </a:bodyPr>
          <a:lstStyle/>
          <a:p>
            <a:r>
              <a:rPr sz="1000" b="0">
                <a:solidFill>
                  <a:srgbClr val="666666"/>
                </a:solidFill>
                <a:latin typeface="微軟正黑體"/>
                <a:ea typeface="微軟正黑體"/>
                <a:cs typeface="微軟正黑體"/>
              </a:rPr>
              <a:t>可點選圖表右鍵「編輯資料」查看原始 EXCEL 資料表</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1400" b="0">
                <a:solidFill>
                  <a:srgbClr val="C12026"/>
                </a:solidFill>
                <a:latin typeface="微軟正黑體"/>
                <a:ea typeface="微軟正黑體"/>
                <a:cs typeface="微軟正黑體"/>
              </a:rPr>
              <a:t>CHAPTER 02</a:t>
            </a:r>
          </a:p>
          <a:p>
            <a:r>
              <a:rPr sz="3200" b="1">
                <a:solidFill>
                  <a:srgbClr val="4D4D4D"/>
                </a:solidFill>
                <a:latin typeface="微軟正黑體"/>
                <a:ea typeface="微軟正黑體"/>
                <a:cs typeface="微軟正黑體"/>
              </a:rPr>
              <a:t>市場整體概況</a:t>
            </a:r>
          </a:p>
        </p:txBody>
      </p:sp>
      <p:sp>
        <p:nvSpPr>
          <p:cNvPr id="3" name="Rectangle 2"/>
          <p:cNvSpPr/>
          <p:nvPr/>
        </p:nvSpPr>
        <p:spPr>
          <a:xfrm>
            <a:off x="831851" y="5737075"/>
            <a:ext cx="1905000" cy="28575"/>
          </a:xfrm>
          <a:prstGeom prst="rect">
            <a:avLst/>
          </a:prstGeom>
          <a:solidFill>
            <a:srgbClr val="C120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a:xfrm>
            <a:off x="7205535" y="1854753"/>
            <a:ext cx="4405560" cy="4272900"/>
          </a:xfrm>
        </p:spPr>
        <p:txBody>
          <a:bodyPr wrap="square"/>
          <a:lstStyle/>
          <a:p>
            <a:pPr>
              <a:spcAft>
                <a:spcPts val="800"/>
              </a:spcAft>
            </a:pPr>
            <a:r>
              <a:rPr sz="1100" b="1">
                <a:solidFill>
                  <a:srgbClr val="C12026"/>
                </a:solidFill>
                <a:latin typeface="微軟正黑體"/>
                <a:ea typeface="微軟正黑體"/>
                <a:cs typeface="微軟正黑體"/>
              </a:rPr>
              <a:t>▸ </a:t>
            </a:r>
            <a:r>
              <a:rPr sz="1100" b="0">
                <a:solidFill>
                  <a:srgbClr val="4D4D4D"/>
                </a:solidFill>
                <a:latin typeface="微軟正黑體"/>
                <a:ea typeface="微軟正黑體"/>
                <a:cs typeface="微軟正黑體"/>
              </a:rPr>
              <a:t>市場整體簽帳金額在 </a:t>
            </a:r>
            <a:r>
              <a:rPr sz="1100" b="1">
                <a:solidFill>
                  <a:srgbClr val="1A1A1A"/>
                </a:solidFill>
                <a:highlight>
                  <a:srgbClr val="FFFF00"/>
                </a:highlight>
                <a:latin typeface="微軟正黑體"/>
                <a:ea typeface="微軟正黑體"/>
                <a:cs typeface="微軟正黑體"/>
              </a:rPr>
              <a:t>11407</a:t>
            </a:r>
            <a:r>
              <a:rPr sz="1100" b="0">
                <a:solidFill>
                  <a:srgbClr val="4D4D4D"/>
                </a:solidFill>
                <a:latin typeface="微軟正黑體"/>
                <a:ea typeface="微軟正黑體"/>
                <a:cs typeface="微軟正黑體"/>
              </a:rPr>
              <a:t> 創下波段高點，顯示多功能支付場景與綁卡消費習慣的普及正持續推升單卡平均貢獻度，各發卡機構應將資源聚焦於活化現有卡友的日常支付頻次以維持手續費收入成長。</a:t>
            </a:r>
          </a:p>
          <a:p>
            <a:pPr>
              <a:spcAft>
                <a:spcPts val="800"/>
              </a:spcAft>
            </a:pPr>
            <a:r>
              <a:rPr sz="1100" b="1">
                <a:solidFill>
                  <a:srgbClr val="C12026"/>
                </a:solidFill>
                <a:latin typeface="微軟正黑體"/>
                <a:ea typeface="微軟正黑體"/>
                <a:cs typeface="微軟正黑體"/>
              </a:rPr>
              <a:t>▸ </a:t>
            </a:r>
            <a:r>
              <a:rPr sz="1100" b="0">
                <a:solidFill>
                  <a:srgbClr val="4D4D4D"/>
                </a:solidFill>
                <a:latin typeface="微軟正黑體"/>
                <a:ea typeface="微軟正黑體"/>
                <a:cs typeface="微軟正黑體"/>
              </a:rPr>
              <a:t>有效卡數與流通卡數的擴張速度在全年走勢中出現明顯分化，其中有效卡數在 </a:t>
            </a:r>
            <a:r>
              <a:rPr sz="1100" b="1">
                <a:solidFill>
                  <a:srgbClr val="1A1A1A"/>
                </a:solidFill>
                <a:highlight>
                  <a:srgbClr val="FFFF00"/>
                </a:highlight>
                <a:latin typeface="微軟正黑體"/>
                <a:ea typeface="微軟正黑體"/>
                <a:cs typeface="微軟正黑體"/>
              </a:rPr>
              <a:t>40,554,453</a:t>
            </a:r>
            <a:r>
              <a:rPr sz="1100" b="0">
                <a:solidFill>
                  <a:srgbClr val="4D4D4D"/>
                </a:solidFill>
                <a:latin typeface="微軟正黑體"/>
                <a:ea typeface="微軟正黑體"/>
                <a:cs typeface="微軟正黑體"/>
              </a:rPr>
              <a:t> 的表現顯示持卡人剪卡與養卡行為並存，銀行須針對低使用率族群精準投放喚醒策略以優化整體卡量結構。</a:t>
            </a:r>
          </a:p>
          <a:p>
            <a:pPr>
              <a:spcAft>
                <a:spcPts val="800"/>
              </a:spcAft>
            </a:pPr>
            <a:r>
              <a:rPr sz="1100" b="1">
                <a:solidFill>
                  <a:srgbClr val="C12026"/>
                </a:solidFill>
                <a:latin typeface="微軟正黑體"/>
                <a:ea typeface="微軟正黑體"/>
                <a:cs typeface="微軟正黑體"/>
              </a:rPr>
              <a:t>▸ </a:t>
            </a:r>
            <a:r>
              <a:rPr sz="1100" b="0">
                <a:solidFill>
                  <a:srgbClr val="4D4D4D"/>
                </a:solidFill>
                <a:latin typeface="微軟正黑體"/>
                <a:ea typeface="微軟正黑體"/>
                <a:cs typeface="微軟正黑體"/>
              </a:rPr>
              <a:t>信用餘額與分期付款餘額在 </a:t>
            </a:r>
            <a:r>
              <a:rPr sz="1100" b="1">
                <a:solidFill>
                  <a:srgbClr val="1A1A1A"/>
                </a:solidFill>
                <a:highlight>
                  <a:srgbClr val="FFFF00"/>
                </a:highlight>
                <a:latin typeface="微軟正黑體"/>
                <a:ea typeface="微軟正黑體"/>
                <a:cs typeface="微軟正黑體"/>
              </a:rPr>
              <a:t>187,216,932</a:t>
            </a:r>
            <a:r>
              <a:rPr sz="1100" b="0">
                <a:solidFill>
                  <a:srgbClr val="4D4D4D"/>
                </a:solidFill>
                <a:latin typeface="微軟正黑體"/>
                <a:ea typeface="微軟正黑體"/>
                <a:cs typeface="微軟正黑體"/>
              </a:rPr>
              <a:t> 維持相對穩定態勢，反映出消費者在大額消費時對分期機能的依賴度增加，發卡機構宜兼顧高額分期業務的擴張與潛在授信風險的動態控管。</a:t>
            </a:r>
          </a:p>
        </p:txBody>
      </p:sp>
      <p:sp>
        <p:nvSpPr>
          <p:cNvPr id="3" name="Title 2"/>
          <p:cNvSpPr>
            <a:spLocks noGrp="1"/>
          </p:cNvSpPr>
          <p:nvPr>
            <p:ph type="title"/>
          </p:nvPr>
        </p:nvSpPr>
        <p:spPr/>
        <p:txBody>
          <a:bodyPr/>
          <a:lstStyle/>
          <a:p>
            <a:pPr algn="l"/>
            <a:r>
              <a:rPr sz="2200" b="0">
                <a:solidFill>
                  <a:srgbClr val="1A1A1A"/>
                </a:solidFill>
                <a:latin typeface="微軟正黑體"/>
                <a:ea typeface="微軟正黑體"/>
                <a:cs typeface="微軟正黑體"/>
              </a:rPr>
              <a:t>市場整體規模與成長趨勢</a:t>
            </a:r>
          </a:p>
        </p:txBody>
      </p:sp>
      <p:sp>
        <p:nvSpPr>
          <p:cNvPr id="4" name="Rectangle 3"/>
          <p:cNvSpPr/>
          <p:nvPr/>
        </p:nvSpPr>
        <p:spPr>
          <a:xfrm>
            <a:off x="368595" y="1247553"/>
            <a:ext cx="57150" cy="457200"/>
          </a:xfrm>
          <a:prstGeom prst="rect">
            <a:avLst/>
          </a:prstGeom>
          <a:solidFill>
            <a:srgbClr val="FFC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25745" y="1247553"/>
            <a:ext cx="11185350" cy="457200"/>
          </a:xfrm>
          <a:prstGeom prst="rect">
            <a:avLst/>
          </a:prstGeom>
          <a:solidFill>
            <a:srgbClr val="FFF8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75260"/>
          <a:lstStyle/>
          <a:p>
            <a:pPr algn="l"/>
            <a:r>
              <a:rPr sz="1300" b="1">
                <a:solidFill>
                  <a:srgbClr val="C12026"/>
                </a:solidFill>
                <a:latin typeface="微軟正黑體"/>
                <a:ea typeface="微軟正黑體"/>
                <a:cs typeface="微軟正黑體"/>
              </a:rPr>
              <a:t>◆ </a:t>
            </a:r>
            <a:r>
              <a:rPr sz="1300" b="1">
                <a:solidFill>
                  <a:srgbClr val="1A1A1A"/>
                </a:solidFill>
                <a:latin typeface="微軟正黑體"/>
                <a:ea typeface="微軟正黑體"/>
                <a:cs typeface="微軟正黑體"/>
              </a:rPr>
              <a:t>信用卡市場成長動能轉向消費頻次深化，流通卡數規模在 </a:t>
            </a:r>
            <a:r>
              <a:rPr sz="1300" b="1">
                <a:solidFill>
                  <a:srgbClr val="1A1A1A"/>
                </a:solidFill>
                <a:highlight>
                  <a:srgbClr val="FFFF00"/>
                </a:highlight>
                <a:latin typeface="微軟正黑體"/>
                <a:ea typeface="微軟正黑體"/>
                <a:cs typeface="微軟正黑體"/>
              </a:rPr>
              <a:t>11412</a:t>
            </a:r>
            <a:r>
              <a:rPr sz="1300" b="1">
                <a:solidFill>
                  <a:srgbClr val="1A1A1A"/>
                </a:solidFill>
                <a:latin typeface="微軟正黑體"/>
                <a:ea typeface="微軟正黑體"/>
                <a:cs typeface="微軟正黑體"/>
              </a:rPr>
              <a:t> 達到波段高峰後進入實質存量調整階段</a:t>
            </a:r>
          </a:p>
        </p:txBody>
      </p:sp>
      <p:graphicFrame>
        <p:nvGraphicFramePr>
          <p:cNvPr id="6" name="Chart 5"/>
          <p:cNvGraphicFramePr>
            <a:graphicFrameLocks noGrp="1"/>
          </p:cNvGraphicFramePr>
          <p:nvPr/>
        </p:nvGraphicFramePr>
        <p:xfrm>
          <a:off x="368595" y="1854753"/>
          <a:ext cx="6608340" cy="4272900"/>
        </p:xfrm>
        <a:graphic>
          <a:graphicData uri="http://schemas.openxmlformats.org/drawingml/2006/chart">
            <c:chart xmlns:c="http://schemas.openxmlformats.org/drawingml/2006/chart" r:id="rId2"/>
          </a:graphicData>
        </a:graphic>
      </p:graphicFrame>
      <p:sp>
        <p:nvSpPr>
          <p:cNvPr id="7" name="TextBox 6"/>
          <p:cNvSpPr txBox="1"/>
          <p:nvPr/>
        </p:nvSpPr>
        <p:spPr>
          <a:xfrm>
            <a:off x="368595" y="6150000"/>
            <a:ext cx="11242500" cy="250000"/>
          </a:xfrm>
          <a:prstGeom prst="rect">
            <a:avLst/>
          </a:prstGeom>
          <a:noFill/>
        </p:spPr>
        <p:txBody>
          <a:bodyPr wrap="none">
            <a:spAutoFit/>
          </a:bodyPr>
          <a:lstStyle/>
          <a:p>
            <a:r>
              <a:rPr sz="1000" b="0">
                <a:solidFill>
                  <a:srgbClr val="666666"/>
                </a:solidFill>
                <a:latin typeface="微軟正黑體"/>
                <a:ea typeface="微軟正黑體"/>
                <a:cs typeface="微軟正黑體"/>
              </a:rPr>
              <a:t>可點選圖表右鍵「編輯資料」查看原始 EXCEL 資料表</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1400" b="0">
                <a:solidFill>
                  <a:srgbClr val="C12026"/>
                </a:solidFill>
                <a:latin typeface="微軟正黑體"/>
                <a:ea typeface="微軟正黑體"/>
                <a:cs typeface="微軟正黑體"/>
              </a:rPr>
              <a:t>CHAPTER 03</a:t>
            </a:r>
          </a:p>
          <a:p>
            <a:r>
              <a:rPr sz="3200" b="1">
                <a:solidFill>
                  <a:srgbClr val="4D4D4D"/>
                </a:solidFill>
                <a:latin typeface="微軟正黑體"/>
                <a:ea typeface="微軟正黑體"/>
                <a:cs typeface="微軟正黑體"/>
              </a:rPr>
              <a:t>同業成長及競爭分析</a:t>
            </a:r>
          </a:p>
        </p:txBody>
      </p:sp>
      <p:sp>
        <p:nvSpPr>
          <p:cNvPr id="3" name="Rectangle 2"/>
          <p:cNvSpPr/>
          <p:nvPr/>
        </p:nvSpPr>
        <p:spPr>
          <a:xfrm>
            <a:off x="831851" y="5737075"/>
            <a:ext cx="1905000" cy="28575"/>
          </a:xfrm>
          <a:prstGeom prst="rect">
            <a:avLst/>
          </a:prstGeom>
          <a:solidFill>
            <a:srgbClr val="C120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a:xfrm>
            <a:off x="7205535" y="1854753"/>
            <a:ext cx="4405560" cy="4272900"/>
          </a:xfrm>
        </p:spPr>
        <p:txBody>
          <a:bodyPr wrap="square"/>
          <a:lstStyle/>
          <a:p>
            <a:pPr>
              <a:spcAft>
                <a:spcPts val="800"/>
              </a:spcAft>
            </a:pPr>
            <a:r>
              <a:rPr sz="1100" b="1">
                <a:solidFill>
                  <a:srgbClr val="C12026"/>
                </a:solidFill>
                <a:latin typeface="微軟正黑體"/>
                <a:ea typeface="微軟正黑體"/>
                <a:cs typeface="微軟正黑體"/>
              </a:rPr>
              <a:t>▸ </a:t>
            </a:r>
            <a:r>
              <a:rPr sz="1100" b="0">
                <a:solidFill>
                  <a:srgbClr val="4D4D4D"/>
                </a:solidFill>
                <a:latin typeface="微軟正黑體"/>
                <a:ea typeface="微軟正黑體"/>
                <a:cs typeface="微軟正黑體"/>
              </a:rPr>
              <a:t>前 10 大發卡機構的市場板塊高度集中，其中龍頭中國信託商業銀行的佔比達 </a:t>
            </a:r>
            <a:r>
              <a:rPr sz="1100" b="1">
                <a:solidFill>
                  <a:srgbClr val="1A1A1A"/>
                </a:solidFill>
                <a:highlight>
                  <a:srgbClr val="FFFF00"/>
                </a:highlight>
                <a:latin typeface="微軟正黑體"/>
                <a:ea typeface="微軟正黑體"/>
                <a:cs typeface="微軟正黑體"/>
              </a:rPr>
              <a:t>15.6%</a:t>
            </a:r>
            <a:r>
              <a:rPr sz="1100" b="0">
                <a:solidFill>
                  <a:srgbClr val="4D4D4D"/>
                </a:solidFill>
                <a:latin typeface="微軟正黑體"/>
                <a:ea typeface="微軟正黑體"/>
                <a:cs typeface="微軟正黑體"/>
              </a:rPr>
              <a:t>，而台新銀行以 </a:t>
            </a:r>
            <a:r>
              <a:rPr sz="1100" b="1">
                <a:solidFill>
                  <a:srgbClr val="1A1A1A"/>
                </a:solidFill>
                <a:highlight>
                  <a:srgbClr val="FFFF00"/>
                </a:highlight>
                <a:latin typeface="微軟正黑體"/>
                <a:ea typeface="微軟正黑體"/>
                <a:cs typeface="微軟正黑體"/>
              </a:rPr>
              <a:t>11.0%</a:t>
            </a:r>
            <a:r>
              <a:rPr sz="1100" b="0">
                <a:solidFill>
                  <a:srgbClr val="4D4D4D"/>
                </a:solidFill>
                <a:latin typeface="微軟正黑體"/>
                <a:ea typeface="微軟正黑體"/>
                <a:cs typeface="微軟正黑體"/>
              </a:rPr>
              <a:t> 的份額穩居中段班，面對領先群需研擬差異化策略以追趕差距。</a:t>
            </a:r>
          </a:p>
          <a:p>
            <a:pPr>
              <a:spcAft>
                <a:spcPts val="800"/>
              </a:spcAft>
            </a:pPr>
            <a:r>
              <a:rPr sz="1100" b="1">
                <a:solidFill>
                  <a:srgbClr val="C12026"/>
                </a:solidFill>
                <a:latin typeface="微軟正黑體"/>
                <a:ea typeface="微軟正黑體"/>
                <a:cs typeface="微軟正黑體"/>
              </a:rPr>
              <a:t>▸ </a:t>
            </a:r>
            <a:r>
              <a:rPr sz="1100" b="0">
                <a:solidFill>
                  <a:srgbClr val="4D4D4D"/>
                </a:solidFill>
                <a:latin typeface="微軟正黑體"/>
                <a:ea typeface="微軟正黑體"/>
                <a:cs typeface="微軟正黑體"/>
              </a:rPr>
              <a:t>從前 10 大機構的尾端來看，永豐商業銀行與遠東國際商業銀行的佔比分別為 </a:t>
            </a:r>
            <a:r>
              <a:rPr sz="1100" b="1">
                <a:solidFill>
                  <a:srgbClr val="1A1A1A"/>
                </a:solidFill>
                <a:highlight>
                  <a:srgbClr val="FFFF00"/>
                </a:highlight>
                <a:latin typeface="微軟正黑體"/>
                <a:ea typeface="微軟正黑體"/>
                <a:cs typeface="微軟正黑體"/>
              </a:rPr>
              <a:t>4.1%</a:t>
            </a:r>
            <a:r>
              <a:rPr sz="1100" b="0">
                <a:solidFill>
                  <a:srgbClr val="4D4D4D"/>
                </a:solidFill>
                <a:latin typeface="微軟正黑體"/>
                <a:ea typeface="微軟正黑體"/>
                <a:cs typeface="微軟正黑體"/>
              </a:rPr>
              <a:t> 與 </a:t>
            </a:r>
            <a:r>
              <a:rPr sz="1100" b="1">
                <a:solidFill>
                  <a:srgbClr val="1A1A1A"/>
                </a:solidFill>
                <a:highlight>
                  <a:srgbClr val="FFFF00"/>
                </a:highlight>
                <a:latin typeface="微軟正黑體"/>
                <a:ea typeface="微軟正黑體"/>
                <a:cs typeface="微軟正黑體"/>
              </a:rPr>
              <a:t>2.1%</a:t>
            </a:r>
            <a:r>
              <a:rPr sz="1100" b="0">
                <a:solidFill>
                  <a:srgbClr val="4D4D4D"/>
                </a:solidFill>
                <a:latin typeface="微軟正黑體"/>
                <a:ea typeface="微軟正黑體"/>
                <a:cs typeface="微軟正黑體"/>
              </a:rPr>
              <a:t>，台新銀行的 </a:t>
            </a:r>
            <a:r>
              <a:rPr sz="1100" b="1">
                <a:solidFill>
                  <a:srgbClr val="1A1A1A"/>
                </a:solidFill>
                <a:highlight>
                  <a:srgbClr val="FFFF00"/>
                </a:highlight>
                <a:latin typeface="微軟正黑體"/>
                <a:ea typeface="微軟正黑體"/>
                <a:cs typeface="微軟正黑體"/>
              </a:rPr>
              <a:t>11.0%</a:t>
            </a:r>
            <a:r>
              <a:rPr sz="1100" b="0">
                <a:solidFill>
                  <a:srgbClr val="4D4D4D"/>
                </a:solidFill>
                <a:latin typeface="微軟正黑體"/>
                <a:ea typeface="微軟正黑體"/>
                <a:cs typeface="微軟正黑體"/>
              </a:rPr>
              <a:t> 雖具備安全邊際，但仍需防範中型同業的急起直追。</a:t>
            </a:r>
          </a:p>
          <a:p>
            <a:pPr>
              <a:spcAft>
                <a:spcPts val="800"/>
              </a:spcAft>
            </a:pPr>
            <a:r>
              <a:rPr sz="1100" b="1">
                <a:solidFill>
                  <a:srgbClr val="C12026"/>
                </a:solidFill>
                <a:latin typeface="微軟正黑體"/>
                <a:ea typeface="微軟正黑體"/>
                <a:cs typeface="微軟正黑體"/>
              </a:rPr>
              <a:t>▸ </a:t>
            </a:r>
            <a:r>
              <a:rPr sz="1100" b="0">
                <a:solidFill>
                  <a:srgbClr val="4D4D4D"/>
                </a:solidFill>
                <a:latin typeface="微軟正黑體"/>
                <a:ea typeface="微軟正黑體"/>
                <a:cs typeface="微軟正黑體"/>
              </a:rPr>
              <a:t>本數據僅呈現前 10 大同業的競爭態勢，未涵蓋其餘 22 家業者，台新銀行在整體市場中的相對優勢主要奠基於 </a:t>
            </a:r>
            <a:r>
              <a:rPr sz="1100" b="1">
                <a:solidFill>
                  <a:srgbClr val="1A1A1A"/>
                </a:solidFill>
                <a:highlight>
                  <a:srgbClr val="FFFF00"/>
                </a:highlight>
                <a:latin typeface="微軟正黑體"/>
                <a:ea typeface="微軟正黑體"/>
                <a:cs typeface="微軟正黑體"/>
              </a:rPr>
              <a:t>11.0%</a:t>
            </a:r>
            <a:r>
              <a:rPr sz="1100" b="0">
                <a:solidFill>
                  <a:srgbClr val="4D4D4D"/>
                </a:solidFill>
                <a:latin typeface="微軟正黑體"/>
                <a:ea typeface="微軟正黑體"/>
                <a:cs typeface="微軟正黑體"/>
              </a:rPr>
              <a:t> 的核心客群，未來應聚焦於深化既有持卡人的黏著度而非盲目衝刺發卡量。</a:t>
            </a:r>
          </a:p>
        </p:txBody>
      </p:sp>
      <p:sp>
        <p:nvSpPr>
          <p:cNvPr id="3" name="Title 2"/>
          <p:cNvSpPr>
            <a:spLocks noGrp="1"/>
          </p:cNvSpPr>
          <p:nvPr>
            <p:ph type="title"/>
          </p:nvPr>
        </p:nvSpPr>
        <p:spPr/>
        <p:txBody>
          <a:bodyPr/>
          <a:lstStyle/>
          <a:p>
            <a:pPr algn="l"/>
            <a:r>
              <a:rPr sz="2200" b="0">
                <a:solidFill>
                  <a:srgbClr val="1A1A1A"/>
                </a:solidFill>
                <a:latin typeface="微軟正黑體"/>
                <a:ea typeface="微軟正黑體"/>
                <a:cs typeface="微軟正黑體"/>
              </a:rPr>
              <a:t>同業競爭版圖分析</a:t>
            </a:r>
          </a:p>
        </p:txBody>
      </p:sp>
      <p:sp>
        <p:nvSpPr>
          <p:cNvPr id="4" name="Rectangle 3"/>
          <p:cNvSpPr/>
          <p:nvPr/>
        </p:nvSpPr>
        <p:spPr>
          <a:xfrm>
            <a:off x="368595" y="1247553"/>
            <a:ext cx="57150" cy="457200"/>
          </a:xfrm>
          <a:prstGeom prst="rect">
            <a:avLst/>
          </a:prstGeom>
          <a:solidFill>
            <a:srgbClr val="FFC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25745" y="1247553"/>
            <a:ext cx="11185350" cy="457200"/>
          </a:xfrm>
          <a:prstGeom prst="rect">
            <a:avLst/>
          </a:prstGeom>
          <a:solidFill>
            <a:srgbClr val="FFF8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75260"/>
          <a:lstStyle/>
          <a:p>
            <a:pPr algn="l"/>
            <a:r>
              <a:rPr sz="1300" b="1">
                <a:solidFill>
                  <a:srgbClr val="C12026"/>
                </a:solidFill>
                <a:latin typeface="微軟正黑體"/>
                <a:ea typeface="微軟正黑體"/>
                <a:cs typeface="微軟正黑體"/>
              </a:rPr>
              <a:t>◆ </a:t>
            </a:r>
            <a:r>
              <a:rPr sz="1300" b="1">
                <a:solidFill>
                  <a:srgbClr val="1A1A1A"/>
                </a:solidFill>
                <a:latin typeface="微軟正黑體"/>
                <a:ea typeface="微軟正黑體"/>
                <a:cs typeface="微軟正黑體"/>
              </a:rPr>
              <a:t>台新銀行在流通卡數市場份額位居前 5 大，其佔比達 </a:t>
            </a:r>
            <a:r>
              <a:rPr sz="1300" b="1">
                <a:solidFill>
                  <a:srgbClr val="1A1A1A"/>
                </a:solidFill>
                <a:highlight>
                  <a:srgbClr val="FFFF00"/>
                </a:highlight>
                <a:latin typeface="微軟正黑體"/>
                <a:ea typeface="微軟正黑體"/>
                <a:cs typeface="微軟正黑體"/>
              </a:rPr>
              <a:t>11.0%</a:t>
            </a:r>
            <a:r>
              <a:rPr sz="1300" b="1">
                <a:solidFill>
                  <a:srgbClr val="1A1A1A"/>
                </a:solidFill>
                <a:latin typeface="微軟正黑體"/>
                <a:ea typeface="微軟正黑體"/>
                <a:cs typeface="微軟正黑體"/>
              </a:rPr>
              <a:t>，顯示穩固的市場基本盤</a:t>
            </a:r>
          </a:p>
        </p:txBody>
      </p:sp>
      <p:graphicFrame>
        <p:nvGraphicFramePr>
          <p:cNvPr id="6" name="Chart 5"/>
          <p:cNvGraphicFramePr>
            <a:graphicFrameLocks noGrp="1"/>
          </p:cNvGraphicFramePr>
          <p:nvPr/>
        </p:nvGraphicFramePr>
        <p:xfrm>
          <a:off x="368595" y="1854753"/>
          <a:ext cx="6608340" cy="4272900"/>
        </p:xfrm>
        <a:graphic>
          <a:graphicData uri="http://schemas.openxmlformats.org/drawingml/2006/chart">
            <c:chart xmlns:c="http://schemas.openxmlformats.org/drawingml/2006/chart" r:id="rId2"/>
          </a:graphicData>
        </a:graphic>
      </p:graphicFrame>
      <p:sp>
        <p:nvSpPr>
          <p:cNvPr id="7" name="TextBox 6"/>
          <p:cNvSpPr txBox="1"/>
          <p:nvPr/>
        </p:nvSpPr>
        <p:spPr>
          <a:xfrm>
            <a:off x="368595" y="6150000"/>
            <a:ext cx="11242500" cy="250000"/>
          </a:xfrm>
          <a:prstGeom prst="rect">
            <a:avLst/>
          </a:prstGeom>
          <a:noFill/>
        </p:spPr>
        <p:txBody>
          <a:bodyPr wrap="none">
            <a:spAutoFit/>
          </a:bodyPr>
          <a:lstStyle/>
          <a:p>
            <a:r>
              <a:rPr sz="1000" b="0">
                <a:solidFill>
                  <a:srgbClr val="666666"/>
                </a:solidFill>
                <a:latin typeface="微軟正黑體"/>
                <a:ea typeface="微軟正黑體"/>
                <a:cs typeface="微軟正黑體"/>
              </a:rPr>
              <a:t>可點選圖表右鍵「編輯資料」查看原始 EXCEL 資料表</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1400" b="0">
                <a:solidFill>
                  <a:srgbClr val="C12026"/>
                </a:solidFill>
                <a:latin typeface="微軟正黑體"/>
                <a:ea typeface="微軟正黑體"/>
                <a:cs typeface="微軟正黑體"/>
              </a:rPr>
              <a:t>CHAPTER 04</a:t>
            </a:r>
          </a:p>
          <a:p>
            <a:r>
              <a:rPr sz="3200" b="1">
                <a:solidFill>
                  <a:srgbClr val="4D4D4D"/>
                </a:solidFill>
                <a:latin typeface="微軟正黑體"/>
                <a:ea typeface="微軟正黑體"/>
                <a:cs typeface="微軟正黑體"/>
              </a:rPr>
              <a:t>客戶活躍度</a:t>
            </a:r>
          </a:p>
        </p:txBody>
      </p:sp>
      <p:sp>
        <p:nvSpPr>
          <p:cNvPr id="3" name="Rectangle 2"/>
          <p:cNvSpPr/>
          <p:nvPr/>
        </p:nvSpPr>
        <p:spPr>
          <a:xfrm>
            <a:off x="831851" y="5737075"/>
            <a:ext cx="1905000" cy="28575"/>
          </a:xfrm>
          <a:prstGeom prst="rect">
            <a:avLst/>
          </a:prstGeom>
          <a:solidFill>
            <a:srgbClr val="C120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a:xfrm>
            <a:off x="7205535" y="1854753"/>
            <a:ext cx="4405560" cy="4272900"/>
          </a:xfrm>
        </p:spPr>
        <p:txBody>
          <a:bodyPr wrap="square"/>
          <a:lstStyle/>
          <a:p>
            <a:pPr>
              <a:spcAft>
                <a:spcPts val="800"/>
              </a:spcAft>
            </a:pPr>
            <a:r>
              <a:rPr sz="1100" b="1">
                <a:solidFill>
                  <a:srgbClr val="C12026"/>
                </a:solidFill>
                <a:latin typeface="微軟正黑體"/>
                <a:ea typeface="微軟正黑體"/>
                <a:cs typeface="微軟正黑體"/>
              </a:rPr>
              <a:t>▸ </a:t>
            </a:r>
            <a:r>
              <a:rPr sz="1100" b="0">
                <a:solidFill>
                  <a:srgbClr val="4D4D4D"/>
                </a:solidFill>
                <a:latin typeface="微軟正黑體"/>
                <a:ea typeface="微軟正黑體"/>
                <a:cs typeface="微軟正黑體"/>
              </a:rPr>
              <a:t>台新銀行有效卡數占比為 </a:t>
            </a:r>
            <a:r>
              <a:rPr sz="1100" b="1">
                <a:solidFill>
                  <a:srgbClr val="1A1A1A"/>
                </a:solidFill>
                <a:highlight>
                  <a:srgbClr val="FFFF00"/>
                </a:highlight>
                <a:latin typeface="微軟正黑體"/>
                <a:ea typeface="微軟正黑體"/>
                <a:cs typeface="微軟正黑體"/>
              </a:rPr>
              <a:t>12.0%</a:t>
            </a:r>
            <a:r>
              <a:rPr sz="1100" b="0">
                <a:solidFill>
                  <a:srgbClr val="4D4D4D"/>
                </a:solidFill>
                <a:latin typeface="微軟正黑體"/>
                <a:ea typeface="微軟正黑體"/>
                <a:cs typeface="微軟正黑體"/>
              </a:rPr>
              <a:t>，顯示其在全體前十大發卡機構中維持穩固的客戶黏著度與市場滲透率，但仍與領先群存在差距。</a:t>
            </a:r>
          </a:p>
          <a:p>
            <a:pPr>
              <a:spcAft>
                <a:spcPts val="800"/>
              </a:spcAft>
            </a:pPr>
            <a:r>
              <a:rPr sz="1100" b="1">
                <a:solidFill>
                  <a:srgbClr val="C12026"/>
                </a:solidFill>
                <a:latin typeface="微軟正黑體"/>
                <a:ea typeface="微軟正黑體"/>
                <a:cs typeface="微軟正黑體"/>
              </a:rPr>
              <a:t>▸ </a:t>
            </a:r>
            <a:r>
              <a:rPr sz="1100" b="0">
                <a:solidFill>
                  <a:srgbClr val="4D4D4D"/>
                </a:solidFill>
                <a:latin typeface="微軟正黑體"/>
                <a:ea typeface="微軟正黑體"/>
                <a:cs typeface="微軟正黑體"/>
              </a:rPr>
              <a:t>市場前段班由少數同業如 </a:t>
            </a:r>
            <a:r>
              <a:rPr sz="1100" b="1">
                <a:solidFill>
                  <a:srgbClr val="1A1A1A"/>
                </a:solidFill>
                <a:highlight>
                  <a:srgbClr val="FFFF00"/>
                </a:highlight>
                <a:latin typeface="微軟正黑體"/>
                <a:ea typeface="微軟正黑體"/>
                <a:cs typeface="微軟正黑體"/>
              </a:rPr>
              <a:t>中國信託商業銀行</a:t>
            </a:r>
            <a:r>
              <a:rPr sz="1100" b="0">
                <a:solidFill>
                  <a:srgbClr val="4D4D4D"/>
                </a:solidFill>
                <a:latin typeface="微軟正黑體"/>
                <a:ea typeface="微軟正黑體"/>
                <a:cs typeface="微軟正黑體"/>
              </a:rPr>
              <a:t> 主導，其占比高達 </a:t>
            </a:r>
            <a:r>
              <a:rPr sz="1100" b="1">
                <a:solidFill>
                  <a:srgbClr val="1A1A1A"/>
                </a:solidFill>
                <a:highlight>
                  <a:srgbClr val="FFFF00"/>
                </a:highlight>
                <a:latin typeface="微軟正黑體"/>
                <a:ea typeface="微軟正黑體"/>
                <a:cs typeface="微軟正黑體"/>
              </a:rPr>
              <a:t>16.5%</a:t>
            </a:r>
            <a:r>
              <a:rPr sz="1100" b="0">
                <a:solidFill>
                  <a:srgbClr val="4D4D4D"/>
                </a:solidFill>
                <a:latin typeface="微軟正黑體"/>
                <a:ea typeface="微軟正黑體"/>
                <a:cs typeface="微軟正黑體"/>
              </a:rPr>
              <a:t>，凸顯出大型行庫在規模經濟上的優勢與資源集中現象。</a:t>
            </a:r>
          </a:p>
          <a:p>
            <a:pPr>
              <a:spcAft>
                <a:spcPts val="800"/>
              </a:spcAft>
            </a:pPr>
            <a:r>
              <a:rPr sz="1100" b="1">
                <a:solidFill>
                  <a:srgbClr val="C12026"/>
                </a:solidFill>
                <a:latin typeface="微軟正黑體"/>
                <a:ea typeface="微軟正黑體"/>
                <a:cs typeface="微軟正黑體"/>
              </a:rPr>
              <a:t>▸ </a:t>
            </a:r>
            <a:r>
              <a:rPr sz="1100" b="0">
                <a:solidFill>
                  <a:srgbClr val="4D4D4D"/>
                </a:solidFill>
                <a:latin typeface="微軟正黑體"/>
                <a:ea typeface="微軟正黑體"/>
                <a:cs typeface="微軟正黑體"/>
              </a:rPr>
              <a:t>從前十大同業的分布來看，最低占比為 </a:t>
            </a:r>
            <a:r>
              <a:rPr sz="1100" b="1">
                <a:solidFill>
                  <a:srgbClr val="1A1A1A"/>
                </a:solidFill>
                <a:highlight>
                  <a:srgbClr val="FFFF00"/>
                </a:highlight>
                <a:latin typeface="微軟正黑體"/>
                <a:ea typeface="微軟正黑體"/>
                <a:cs typeface="微軟正黑體"/>
              </a:rPr>
              <a:t>2.2%</a:t>
            </a:r>
            <a:r>
              <a:rPr sz="1100" b="0">
                <a:solidFill>
                  <a:srgbClr val="4D4D4D"/>
                </a:solidFill>
                <a:latin typeface="微軟正黑體"/>
                <a:ea typeface="微軟正黑體"/>
                <a:cs typeface="微軟正黑體"/>
              </a:rPr>
              <a:t>（由 </a:t>
            </a:r>
            <a:r>
              <a:rPr sz="1100" b="1">
                <a:solidFill>
                  <a:srgbClr val="1A1A1A"/>
                </a:solidFill>
                <a:highlight>
                  <a:srgbClr val="FFFF00"/>
                </a:highlight>
                <a:latin typeface="微軟正黑體"/>
                <a:ea typeface="微軟正黑體"/>
                <a:cs typeface="微軟正黑體"/>
              </a:rPr>
              <a:t>遠東國際商業銀行</a:t>
            </a:r>
            <a:r>
              <a:rPr sz="1100" b="0">
                <a:solidFill>
                  <a:srgbClr val="4D4D4D"/>
                </a:solidFill>
                <a:latin typeface="微軟正黑體"/>
                <a:ea typeface="微軟正黑體"/>
                <a:cs typeface="微軟正黑體"/>
              </a:rPr>
              <a:t> 持有），顯示中段班與後段班之間的競爭白熱化，台新應聚焦高資產與特定消費場景以鞏固市占。</a:t>
            </a:r>
          </a:p>
        </p:txBody>
      </p:sp>
      <p:sp>
        <p:nvSpPr>
          <p:cNvPr id="3" name="Title 2"/>
          <p:cNvSpPr>
            <a:spLocks noGrp="1"/>
          </p:cNvSpPr>
          <p:nvPr>
            <p:ph type="title"/>
          </p:nvPr>
        </p:nvSpPr>
        <p:spPr/>
        <p:txBody>
          <a:bodyPr/>
          <a:lstStyle/>
          <a:p>
            <a:pPr algn="l"/>
            <a:r>
              <a:rPr sz="2200" b="0">
                <a:solidFill>
                  <a:srgbClr val="1A1A1A"/>
                </a:solidFill>
                <a:latin typeface="微軟正黑體"/>
                <a:ea typeface="微軟正黑體"/>
                <a:cs typeface="微軟正黑體"/>
              </a:rPr>
              <a:t>客戶活躍度指標檢視</a:t>
            </a:r>
          </a:p>
        </p:txBody>
      </p:sp>
      <p:sp>
        <p:nvSpPr>
          <p:cNvPr id="4" name="Rectangle 3"/>
          <p:cNvSpPr/>
          <p:nvPr/>
        </p:nvSpPr>
        <p:spPr>
          <a:xfrm>
            <a:off x="368595" y="1247553"/>
            <a:ext cx="57150" cy="457200"/>
          </a:xfrm>
          <a:prstGeom prst="rect">
            <a:avLst/>
          </a:prstGeom>
          <a:solidFill>
            <a:srgbClr val="FFC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25745" y="1247553"/>
            <a:ext cx="11185350" cy="457200"/>
          </a:xfrm>
          <a:prstGeom prst="rect">
            <a:avLst/>
          </a:prstGeom>
          <a:solidFill>
            <a:srgbClr val="FFF8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75260"/>
          <a:lstStyle/>
          <a:p>
            <a:pPr algn="l"/>
            <a:r>
              <a:rPr sz="1300" b="1">
                <a:solidFill>
                  <a:srgbClr val="C12026"/>
                </a:solidFill>
                <a:latin typeface="微軟正黑體"/>
                <a:ea typeface="微軟正黑體"/>
                <a:cs typeface="微軟正黑體"/>
              </a:rPr>
              <a:t>◆ </a:t>
            </a:r>
            <a:r>
              <a:rPr sz="1300" b="1">
                <a:solidFill>
                  <a:srgbClr val="1A1A1A"/>
                </a:solidFill>
                <a:latin typeface="微軟正黑體"/>
                <a:ea typeface="微軟正黑體"/>
                <a:cs typeface="微軟正黑體"/>
              </a:rPr>
              <a:t>台新銀行有效卡數市場占比達 </a:t>
            </a:r>
            <a:r>
              <a:rPr sz="1300" b="1">
                <a:solidFill>
                  <a:srgbClr val="1A1A1A"/>
                </a:solidFill>
                <a:highlight>
                  <a:srgbClr val="FFFF00"/>
                </a:highlight>
                <a:latin typeface="微軟正黑體"/>
                <a:ea typeface="微軟正黑體"/>
                <a:cs typeface="微軟正黑體"/>
              </a:rPr>
              <a:t>12.0%</a:t>
            </a:r>
            <a:r>
              <a:rPr sz="1300" b="1">
                <a:solidFill>
                  <a:srgbClr val="1A1A1A"/>
                </a:solidFill>
                <a:latin typeface="微軟正黑體"/>
                <a:ea typeface="微軟正黑體"/>
                <a:cs typeface="微軟正黑體"/>
              </a:rPr>
              <a:t>，在競爭激烈的存量市場中位居前段班地位</a:t>
            </a:r>
          </a:p>
        </p:txBody>
      </p:sp>
      <p:graphicFrame>
        <p:nvGraphicFramePr>
          <p:cNvPr id="6" name="Chart 5"/>
          <p:cNvGraphicFramePr>
            <a:graphicFrameLocks noGrp="1"/>
          </p:cNvGraphicFramePr>
          <p:nvPr/>
        </p:nvGraphicFramePr>
        <p:xfrm>
          <a:off x="368595" y="1854753"/>
          <a:ext cx="6608340" cy="4272900"/>
        </p:xfrm>
        <a:graphic>
          <a:graphicData uri="http://schemas.openxmlformats.org/drawingml/2006/chart">
            <c:chart xmlns:c="http://schemas.openxmlformats.org/drawingml/2006/chart" r:id="rId2"/>
          </a:graphicData>
        </a:graphic>
      </p:graphicFrame>
      <p:sp>
        <p:nvSpPr>
          <p:cNvPr id="7" name="TextBox 6"/>
          <p:cNvSpPr txBox="1"/>
          <p:nvPr/>
        </p:nvSpPr>
        <p:spPr>
          <a:xfrm>
            <a:off x="368595" y="6150000"/>
            <a:ext cx="11242500" cy="250000"/>
          </a:xfrm>
          <a:prstGeom prst="rect">
            <a:avLst/>
          </a:prstGeom>
          <a:noFill/>
        </p:spPr>
        <p:txBody>
          <a:bodyPr wrap="none">
            <a:spAutoFit/>
          </a:bodyPr>
          <a:lstStyle/>
          <a:p>
            <a:r>
              <a:rPr sz="1000" b="0">
                <a:solidFill>
                  <a:srgbClr val="666666"/>
                </a:solidFill>
                <a:latin typeface="微軟正黑體"/>
                <a:ea typeface="微軟正黑體"/>
                <a:cs typeface="微軟正黑體"/>
              </a:rPr>
              <a:t>可點選圖表右鍵「編輯資料」查看原始 EXCEL 資料表</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1400" b="0">
                <a:solidFill>
                  <a:srgbClr val="C12026"/>
                </a:solidFill>
                <a:latin typeface="微軟正黑體"/>
                <a:ea typeface="微軟正黑體"/>
                <a:cs typeface="微軟正黑體"/>
              </a:rPr>
              <a:t>CHAPTER 05</a:t>
            </a:r>
          </a:p>
          <a:p>
            <a:r>
              <a:rPr sz="3200" b="1">
                <a:solidFill>
                  <a:srgbClr val="4D4D4D"/>
                </a:solidFill>
                <a:latin typeface="微軟正黑體"/>
                <a:ea typeface="微軟正黑體"/>
                <a:cs typeface="微軟正黑體"/>
              </a:rPr>
              <a:t>獲利能力</a:t>
            </a:r>
          </a:p>
        </p:txBody>
      </p:sp>
      <p:sp>
        <p:nvSpPr>
          <p:cNvPr id="3" name="Rectangle 2"/>
          <p:cNvSpPr/>
          <p:nvPr/>
        </p:nvSpPr>
        <p:spPr>
          <a:xfrm>
            <a:off x="831851" y="5737075"/>
            <a:ext cx="1905000" cy="28575"/>
          </a:xfrm>
          <a:prstGeom prst="rect">
            <a:avLst/>
          </a:prstGeom>
          <a:solidFill>
            <a:srgbClr val="C120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a:xfrm>
            <a:off x="7205535" y="1854753"/>
            <a:ext cx="4405560" cy="4272900"/>
          </a:xfrm>
        </p:spPr>
        <p:txBody>
          <a:bodyPr wrap="square"/>
          <a:lstStyle/>
          <a:p>
            <a:pPr>
              <a:spcAft>
                <a:spcPts val="800"/>
              </a:spcAft>
            </a:pPr>
            <a:r>
              <a:rPr sz="1100" b="1">
                <a:solidFill>
                  <a:srgbClr val="C12026"/>
                </a:solidFill>
                <a:latin typeface="微軟正黑體"/>
                <a:ea typeface="微軟正黑體"/>
                <a:cs typeface="微軟正黑體"/>
              </a:rPr>
              <a:t>▸ </a:t>
            </a:r>
            <a:r>
              <a:rPr sz="1100" b="0">
                <a:solidFill>
                  <a:srgbClr val="4D4D4D"/>
                </a:solidFill>
                <a:latin typeface="微軟正黑體"/>
                <a:ea typeface="微軟正黑體"/>
                <a:cs typeface="微軟正黑體"/>
              </a:rPr>
              <a:t>台新銀行在循環信用餘額市場的占比表現突出，最高紀錄達到 </a:t>
            </a:r>
            <a:r>
              <a:rPr sz="1100" b="1">
                <a:solidFill>
                  <a:srgbClr val="1A1A1A"/>
                </a:solidFill>
                <a:highlight>
                  <a:srgbClr val="FFFF00"/>
                </a:highlight>
                <a:latin typeface="微軟正黑體"/>
                <a:ea typeface="微軟正黑體"/>
                <a:cs typeface="微軟正黑體"/>
              </a:rPr>
              <a:t>18.7%</a:t>
            </a:r>
            <a:r>
              <a:rPr sz="1100" b="0">
                <a:solidFill>
                  <a:srgbClr val="4D4D4D"/>
                </a:solidFill>
                <a:latin typeface="微軟正黑體"/>
                <a:ea typeface="微軟正黑體"/>
                <a:cs typeface="微軟正黑體"/>
              </a:rPr>
              <a:t>，反映出該行在持卡人動用循環信用與產生利息收入方面，具備持續且具競爭力的獲利基石。</a:t>
            </a:r>
          </a:p>
          <a:p>
            <a:pPr>
              <a:spcAft>
                <a:spcPts val="800"/>
              </a:spcAft>
            </a:pPr>
            <a:r>
              <a:rPr sz="1100" b="1">
                <a:solidFill>
                  <a:srgbClr val="C12026"/>
                </a:solidFill>
                <a:latin typeface="微軟正黑體"/>
                <a:ea typeface="微軟正黑體"/>
                <a:cs typeface="微軟正黑體"/>
              </a:rPr>
              <a:t>▸ </a:t>
            </a:r>
            <a:r>
              <a:rPr sz="1100" b="0">
                <a:solidFill>
                  <a:srgbClr val="4D4D4D"/>
                </a:solidFill>
                <a:latin typeface="微軟正黑體"/>
                <a:ea typeface="微軟正黑體"/>
                <a:cs typeface="微軟正黑體"/>
              </a:rPr>
              <a:t>從前十大銀行的分布結構來看，市場表現呈現顯著的差異化，最低占比僅為 </a:t>
            </a:r>
            <a:r>
              <a:rPr sz="1100" b="1">
                <a:solidFill>
                  <a:srgbClr val="1A1A1A"/>
                </a:solidFill>
                <a:highlight>
                  <a:srgbClr val="FFFF00"/>
                </a:highlight>
                <a:latin typeface="微軟正黑體"/>
                <a:ea typeface="微軟正黑體"/>
                <a:cs typeface="微軟正黑體"/>
              </a:rPr>
              <a:t>1.4%</a:t>
            </a:r>
            <a:r>
              <a:rPr sz="1100" b="0">
                <a:solidFill>
                  <a:srgbClr val="4D4D4D"/>
                </a:solidFill>
                <a:latin typeface="微軟正黑體"/>
                <a:ea typeface="微軟正黑體"/>
                <a:cs typeface="微軟正黑體"/>
              </a:rPr>
              <a:t>，凸顯出同業間在信用資產經營與客群經營策略上的顯著分化現象。</a:t>
            </a:r>
          </a:p>
          <a:p>
            <a:pPr>
              <a:spcAft>
                <a:spcPts val="800"/>
              </a:spcAft>
            </a:pPr>
            <a:r>
              <a:rPr sz="1100" b="1">
                <a:solidFill>
                  <a:srgbClr val="C12026"/>
                </a:solidFill>
                <a:latin typeface="微軟正黑體"/>
                <a:ea typeface="微軟正黑體"/>
                <a:cs typeface="微軟正黑體"/>
              </a:rPr>
              <a:t>▸ </a:t>
            </a:r>
            <a:r>
              <a:rPr sz="1100" b="0">
                <a:solidFill>
                  <a:srgbClr val="4D4D4D"/>
                </a:solidFill>
                <a:latin typeface="微軟正黑體"/>
                <a:ea typeface="微軟正黑體"/>
                <a:cs typeface="微軟正黑體"/>
              </a:rPr>
              <a:t>綜合市場分布觀察，台新銀行的市占水準已穩居前段班水準，未來應持續深化高資產與優質循環信用客群的經營，進一步提升整體利息淨收益的結構性優勢與長線獲利能力。</a:t>
            </a:r>
          </a:p>
        </p:txBody>
      </p:sp>
      <p:sp>
        <p:nvSpPr>
          <p:cNvPr id="3" name="Title 2"/>
          <p:cNvSpPr>
            <a:spLocks noGrp="1"/>
          </p:cNvSpPr>
          <p:nvPr>
            <p:ph type="title"/>
          </p:nvPr>
        </p:nvSpPr>
        <p:spPr/>
        <p:txBody>
          <a:bodyPr/>
          <a:lstStyle/>
          <a:p>
            <a:pPr algn="l"/>
            <a:r>
              <a:rPr sz="2200" b="0">
                <a:solidFill>
                  <a:srgbClr val="1A1A1A"/>
                </a:solidFill>
                <a:latin typeface="微軟正黑體"/>
                <a:ea typeface="微軟正黑體"/>
                <a:cs typeface="微軟正黑體"/>
              </a:rPr>
              <a:t>獲利能力結構分析</a:t>
            </a:r>
          </a:p>
        </p:txBody>
      </p:sp>
      <p:sp>
        <p:nvSpPr>
          <p:cNvPr id="4" name="Rectangle 3"/>
          <p:cNvSpPr/>
          <p:nvPr/>
        </p:nvSpPr>
        <p:spPr>
          <a:xfrm>
            <a:off x="368595" y="1247553"/>
            <a:ext cx="57150" cy="457200"/>
          </a:xfrm>
          <a:prstGeom prst="rect">
            <a:avLst/>
          </a:prstGeom>
          <a:solidFill>
            <a:srgbClr val="FFC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25745" y="1247553"/>
            <a:ext cx="11185350" cy="457200"/>
          </a:xfrm>
          <a:prstGeom prst="rect">
            <a:avLst/>
          </a:prstGeom>
          <a:solidFill>
            <a:srgbClr val="FFF8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75260"/>
          <a:lstStyle/>
          <a:p>
            <a:pPr algn="l"/>
            <a:r>
              <a:rPr sz="1300" b="1">
                <a:solidFill>
                  <a:srgbClr val="C12026"/>
                </a:solidFill>
                <a:latin typeface="微軟正黑體"/>
                <a:ea typeface="微軟正黑體"/>
                <a:cs typeface="微軟正黑體"/>
              </a:rPr>
              <a:t>◆ </a:t>
            </a:r>
            <a:r>
              <a:rPr sz="1300" b="1">
                <a:solidFill>
                  <a:srgbClr val="1A1A1A"/>
                </a:solidFill>
                <a:latin typeface="微軟正黑體"/>
                <a:ea typeface="微軟正黑體"/>
                <a:cs typeface="微軟正黑體"/>
              </a:rPr>
              <a:t>台新銀行於循環信用餘額市場占比具備穩固地位，其最高水準達 </a:t>
            </a:r>
            <a:r>
              <a:rPr sz="1300" b="1">
                <a:solidFill>
                  <a:srgbClr val="1A1A1A"/>
                </a:solidFill>
                <a:highlight>
                  <a:srgbClr val="FFFF00"/>
                </a:highlight>
                <a:latin typeface="微軟正黑體"/>
                <a:ea typeface="微軟正黑體"/>
                <a:cs typeface="微軟正黑體"/>
              </a:rPr>
              <a:t>18.7%</a:t>
            </a:r>
            <a:r>
              <a:rPr sz="1300" b="1">
                <a:solidFill>
                  <a:srgbClr val="1A1A1A"/>
                </a:solidFill>
                <a:latin typeface="微軟正黑體"/>
                <a:ea typeface="微軟正黑體"/>
                <a:cs typeface="微軟正黑體"/>
              </a:rPr>
              <a:t>，顯示利息收入核心動能維持穩健。</a:t>
            </a:r>
          </a:p>
        </p:txBody>
      </p:sp>
      <p:graphicFrame>
        <p:nvGraphicFramePr>
          <p:cNvPr id="6" name="Chart 5"/>
          <p:cNvGraphicFramePr>
            <a:graphicFrameLocks noGrp="1"/>
          </p:cNvGraphicFramePr>
          <p:nvPr/>
        </p:nvGraphicFramePr>
        <p:xfrm>
          <a:off x="368595" y="1854753"/>
          <a:ext cx="6608340" cy="4272900"/>
        </p:xfrm>
        <a:graphic>
          <a:graphicData uri="http://schemas.openxmlformats.org/drawingml/2006/chart">
            <c:chart xmlns:c="http://schemas.openxmlformats.org/drawingml/2006/chart" r:id="rId2"/>
          </a:graphicData>
        </a:graphic>
      </p:graphicFrame>
      <p:sp>
        <p:nvSpPr>
          <p:cNvPr id="7" name="TextBox 6"/>
          <p:cNvSpPr txBox="1"/>
          <p:nvPr/>
        </p:nvSpPr>
        <p:spPr>
          <a:xfrm>
            <a:off x="368595" y="6150000"/>
            <a:ext cx="11242500" cy="250000"/>
          </a:xfrm>
          <a:prstGeom prst="rect">
            <a:avLst/>
          </a:prstGeom>
          <a:noFill/>
        </p:spPr>
        <p:txBody>
          <a:bodyPr wrap="none">
            <a:spAutoFit/>
          </a:bodyPr>
          <a:lstStyle/>
          <a:p>
            <a:r>
              <a:rPr sz="1000" b="0">
                <a:solidFill>
                  <a:srgbClr val="666666"/>
                </a:solidFill>
                <a:latin typeface="微軟正黑體"/>
                <a:ea typeface="微軟正黑體"/>
                <a:cs typeface="微軟正黑體"/>
              </a:rPr>
              <a:t>可點選圖表右鍵「編輯資料」查看原始 EXCEL 資料表</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1400" b="0">
                <a:solidFill>
                  <a:srgbClr val="C12026"/>
                </a:solidFill>
                <a:latin typeface="微軟正黑體"/>
                <a:ea typeface="微軟正黑體"/>
                <a:cs typeface="微軟正黑體"/>
              </a:rPr>
              <a:t>CHAPTER 06</a:t>
            </a:r>
          </a:p>
          <a:p>
            <a:r>
              <a:rPr sz="3200" b="1">
                <a:solidFill>
                  <a:srgbClr val="4D4D4D"/>
                </a:solidFill>
                <a:latin typeface="微軟正黑體"/>
                <a:ea typeface="微軟正黑體"/>
                <a:cs typeface="微軟正黑體"/>
              </a:rPr>
              <a:t>風險與警訊</a:t>
            </a:r>
          </a:p>
        </p:txBody>
      </p:sp>
      <p:sp>
        <p:nvSpPr>
          <p:cNvPr id="3" name="Rectangle 2"/>
          <p:cNvSpPr/>
          <p:nvPr/>
        </p:nvSpPr>
        <p:spPr>
          <a:xfrm>
            <a:off x="831851" y="5737075"/>
            <a:ext cx="1905000" cy="28575"/>
          </a:xfrm>
          <a:prstGeom prst="rect">
            <a:avLst/>
          </a:prstGeom>
          <a:solidFill>
            <a:srgbClr val="C120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a:xfrm>
            <a:off x="7205535" y="1854753"/>
            <a:ext cx="4405560" cy="4272900"/>
          </a:xfrm>
        </p:spPr>
        <p:txBody>
          <a:bodyPr wrap="square"/>
          <a:lstStyle/>
          <a:p>
            <a:pPr>
              <a:spcAft>
                <a:spcPts val="800"/>
              </a:spcAft>
            </a:pPr>
            <a:r>
              <a:rPr sz="1100" b="1">
                <a:solidFill>
                  <a:srgbClr val="C12026"/>
                </a:solidFill>
                <a:latin typeface="微軟正黑體"/>
                <a:ea typeface="微軟正黑體"/>
                <a:cs typeface="微軟正黑體"/>
              </a:rPr>
              <a:t>▸ </a:t>
            </a:r>
            <a:r>
              <a:rPr sz="1100" b="0">
                <a:solidFill>
                  <a:srgbClr val="4D4D4D"/>
                </a:solidFill>
                <a:latin typeface="微軟正黑體"/>
                <a:ea typeface="微軟正黑體"/>
                <a:cs typeface="微軟正黑體"/>
              </a:rPr>
              <a:t>台新國際商業銀行在轉銷呆帳金額占比表現上，於最新月份達到 </a:t>
            </a:r>
            <a:r>
              <a:rPr sz="1100" b="1">
                <a:solidFill>
                  <a:srgbClr val="1A1A1A"/>
                </a:solidFill>
                <a:highlight>
                  <a:srgbClr val="FFFF00"/>
                </a:highlight>
                <a:latin typeface="微軟正黑體"/>
                <a:ea typeface="微軟正黑體"/>
                <a:cs typeface="微軟正黑體"/>
              </a:rPr>
              <a:t>6.6%</a:t>
            </a:r>
            <a:r>
              <a:rPr sz="1100" b="0">
                <a:solidFill>
                  <a:srgbClr val="4D4D4D"/>
                </a:solidFill>
                <a:latin typeface="微軟正黑體"/>
                <a:ea typeface="微軟正黑體"/>
                <a:cs typeface="微軟正黑體"/>
              </a:rPr>
              <a:t>，顯示信用風險曝險集中於特定水位，應持續觀察後續逾放比率與備抵呆帳覆蓋率之變化。</a:t>
            </a:r>
          </a:p>
          <a:p>
            <a:pPr>
              <a:spcAft>
                <a:spcPts val="800"/>
              </a:spcAft>
            </a:pPr>
            <a:r>
              <a:rPr sz="1100" b="1">
                <a:solidFill>
                  <a:srgbClr val="C12026"/>
                </a:solidFill>
                <a:latin typeface="微軟正黑體"/>
                <a:ea typeface="微軟正黑體"/>
                <a:cs typeface="微軟正黑體"/>
              </a:rPr>
              <a:t>▸ </a:t>
            </a:r>
            <a:r>
              <a:rPr sz="1100" b="0">
                <a:solidFill>
                  <a:srgbClr val="4D4D4D"/>
                </a:solidFill>
                <a:latin typeface="微軟正黑體"/>
                <a:ea typeface="微軟正黑體"/>
                <a:cs typeface="微軟正黑體"/>
              </a:rPr>
              <a:t>從前十大同業的橫向比較來看，部分大型民營銀行的占比表現分別為中國信託商業銀行的 </a:t>
            </a:r>
            <a:r>
              <a:rPr sz="1100" b="1">
                <a:solidFill>
                  <a:srgbClr val="1A1A1A"/>
                </a:solidFill>
                <a:highlight>
                  <a:srgbClr val="FFFF00"/>
                </a:highlight>
                <a:latin typeface="微軟正黑體"/>
                <a:ea typeface="微軟正黑體"/>
                <a:cs typeface="微軟正黑體"/>
              </a:rPr>
              <a:t>14.3%</a:t>
            </a:r>
            <a:r>
              <a:rPr sz="1100" b="0">
                <a:solidFill>
                  <a:srgbClr val="4D4D4D"/>
                </a:solidFill>
                <a:latin typeface="微軟正黑體"/>
                <a:ea typeface="微軟正黑體"/>
                <a:cs typeface="微軟正黑體"/>
              </a:rPr>
              <a:t> 與國泰世華商業銀行的 </a:t>
            </a:r>
            <a:r>
              <a:rPr sz="1100" b="1">
                <a:solidFill>
                  <a:srgbClr val="1A1A1A"/>
                </a:solidFill>
                <a:highlight>
                  <a:srgbClr val="FFFF00"/>
                </a:highlight>
                <a:latin typeface="微軟正黑體"/>
                <a:ea typeface="微軟正黑體"/>
                <a:cs typeface="微軟正黑體"/>
              </a:rPr>
              <a:t>14.7%</a:t>
            </a:r>
            <a:r>
              <a:rPr sz="1100" b="0">
                <a:solidFill>
                  <a:srgbClr val="4D4D4D"/>
                </a:solidFill>
                <a:latin typeface="微軟正黑體"/>
                <a:ea typeface="微軟正黑體"/>
                <a:cs typeface="微軟正黑體"/>
              </a:rPr>
              <a:t>，凸顯市場整體在資產品質管控上仍存在一定的同業競爭壓力。</a:t>
            </a:r>
          </a:p>
          <a:p>
            <a:pPr>
              <a:spcAft>
                <a:spcPts val="800"/>
              </a:spcAft>
            </a:pPr>
            <a:r>
              <a:rPr sz="1100" b="1">
                <a:solidFill>
                  <a:srgbClr val="C12026"/>
                </a:solidFill>
                <a:latin typeface="微軟正黑體"/>
                <a:ea typeface="微軟正黑體"/>
                <a:cs typeface="微軟正黑體"/>
              </a:rPr>
              <a:t>▸ </a:t>
            </a:r>
            <a:r>
              <a:rPr sz="1100" b="0">
                <a:solidFill>
                  <a:srgbClr val="4D4D4D"/>
                </a:solidFill>
                <a:latin typeface="微軟正黑體"/>
                <a:ea typeface="微軟正黑體"/>
                <a:cs typeface="微軟正黑體"/>
              </a:rPr>
              <a:t>觀察跨年度的月份演變，台新國際商業銀行的占比從年初的 </a:t>
            </a:r>
            <a:r>
              <a:rPr sz="1100" b="1">
                <a:solidFill>
                  <a:srgbClr val="1A1A1A"/>
                </a:solidFill>
                <a:highlight>
                  <a:srgbClr val="FFFF00"/>
                </a:highlight>
                <a:latin typeface="微軟正黑體"/>
                <a:ea typeface="微軟正黑體"/>
                <a:cs typeface="微軟正黑體"/>
              </a:rPr>
              <a:t>9.6%</a:t>
            </a:r>
            <a:r>
              <a:rPr sz="1100" b="0">
                <a:solidFill>
                  <a:srgbClr val="4D4D4D"/>
                </a:solidFill>
                <a:latin typeface="微軟正黑體"/>
                <a:ea typeface="微軟正黑體"/>
                <a:cs typeface="微軟正黑體"/>
              </a:rPr>
              <a:t> 波動至年末的 </a:t>
            </a:r>
            <a:r>
              <a:rPr sz="1100" b="1">
                <a:solidFill>
                  <a:srgbClr val="1A1A1A"/>
                </a:solidFill>
                <a:highlight>
                  <a:srgbClr val="FFFF00"/>
                </a:highlight>
                <a:latin typeface="微軟正黑體"/>
                <a:ea typeface="微軟正黑體"/>
                <a:cs typeface="微軟正黑體"/>
              </a:rPr>
              <a:t>6.6%</a:t>
            </a:r>
            <a:r>
              <a:rPr sz="1100" b="0">
                <a:solidFill>
                  <a:srgbClr val="4D4D4D"/>
                </a:solidFill>
                <a:latin typeface="微軟正黑體"/>
                <a:ea typeface="微軟正黑體"/>
                <a:cs typeface="微軟正黑體"/>
              </a:rPr>
              <a:t>，反映出授信資產在景氣循環過程中的動態調整，建議強化前端授信審查以降低潛在呆帳衝擊。</a:t>
            </a:r>
          </a:p>
        </p:txBody>
      </p:sp>
      <p:sp>
        <p:nvSpPr>
          <p:cNvPr id="3" name="Title 2"/>
          <p:cNvSpPr>
            <a:spLocks noGrp="1"/>
          </p:cNvSpPr>
          <p:nvPr>
            <p:ph type="title"/>
          </p:nvPr>
        </p:nvSpPr>
        <p:spPr/>
        <p:txBody>
          <a:bodyPr/>
          <a:lstStyle/>
          <a:p>
            <a:pPr algn="l"/>
            <a:r>
              <a:rPr sz="2200" b="0">
                <a:solidFill>
                  <a:srgbClr val="1A1A1A"/>
                </a:solidFill>
                <a:latin typeface="微軟正黑體"/>
                <a:ea typeface="微軟正黑體"/>
                <a:cs typeface="微軟正黑體"/>
              </a:rPr>
              <a:t>風險體質與資產品質監控</a:t>
            </a:r>
          </a:p>
        </p:txBody>
      </p:sp>
      <p:sp>
        <p:nvSpPr>
          <p:cNvPr id="4" name="Rectangle 3"/>
          <p:cNvSpPr/>
          <p:nvPr/>
        </p:nvSpPr>
        <p:spPr>
          <a:xfrm>
            <a:off x="368595" y="1247553"/>
            <a:ext cx="57150" cy="457200"/>
          </a:xfrm>
          <a:prstGeom prst="rect">
            <a:avLst/>
          </a:prstGeom>
          <a:solidFill>
            <a:srgbClr val="FFC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25745" y="1247553"/>
            <a:ext cx="11185350" cy="457200"/>
          </a:xfrm>
          <a:prstGeom prst="rect">
            <a:avLst/>
          </a:prstGeom>
          <a:solidFill>
            <a:srgbClr val="FFF8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75260"/>
          <a:lstStyle/>
          <a:p>
            <a:pPr algn="l"/>
            <a:r>
              <a:rPr sz="1300" b="1">
                <a:solidFill>
                  <a:srgbClr val="C12026"/>
                </a:solidFill>
                <a:latin typeface="微軟正黑體"/>
                <a:ea typeface="微軟正黑體"/>
                <a:cs typeface="微軟正黑體"/>
              </a:rPr>
              <a:t>◆ </a:t>
            </a:r>
            <a:r>
              <a:rPr sz="1300" b="1">
                <a:solidFill>
                  <a:srgbClr val="1A1A1A"/>
                </a:solidFill>
                <a:latin typeface="微軟正黑體"/>
                <a:ea typeface="微軟正黑體"/>
                <a:cs typeface="微軟正黑體"/>
              </a:rPr>
              <a:t>台新銀行轉銷呆帳金額占比達 </a:t>
            </a:r>
            <a:r>
              <a:rPr sz="1300" b="1">
                <a:solidFill>
                  <a:srgbClr val="1A1A1A"/>
                </a:solidFill>
                <a:highlight>
                  <a:srgbClr val="FFFF00"/>
                </a:highlight>
                <a:latin typeface="微軟正黑體"/>
                <a:ea typeface="微軟正黑體"/>
                <a:cs typeface="微軟正黑體"/>
              </a:rPr>
              <a:t>6.6%</a:t>
            </a:r>
            <a:r>
              <a:rPr sz="1300" b="1">
                <a:solidFill>
                  <a:srgbClr val="1A1A1A"/>
                </a:solidFill>
                <a:latin typeface="微軟正黑體"/>
                <a:ea typeface="微軟正黑體"/>
                <a:cs typeface="微軟正黑體"/>
              </a:rPr>
              <a:t>，資產品質結構需持續追蹤其變動趨勢</a:t>
            </a:r>
          </a:p>
        </p:txBody>
      </p:sp>
      <p:graphicFrame>
        <p:nvGraphicFramePr>
          <p:cNvPr id="6" name="Chart 5"/>
          <p:cNvGraphicFramePr>
            <a:graphicFrameLocks noGrp="1"/>
          </p:cNvGraphicFramePr>
          <p:nvPr/>
        </p:nvGraphicFramePr>
        <p:xfrm>
          <a:off x="368595" y="1854753"/>
          <a:ext cx="6608340" cy="4272900"/>
        </p:xfrm>
        <a:graphic>
          <a:graphicData uri="http://schemas.openxmlformats.org/drawingml/2006/chart">
            <c:chart xmlns:c="http://schemas.openxmlformats.org/drawingml/2006/chart" r:id="rId2"/>
          </a:graphicData>
        </a:graphic>
      </p:graphicFrame>
      <p:sp>
        <p:nvSpPr>
          <p:cNvPr id="7" name="TextBox 6"/>
          <p:cNvSpPr txBox="1"/>
          <p:nvPr/>
        </p:nvSpPr>
        <p:spPr>
          <a:xfrm>
            <a:off x="368595" y="6150000"/>
            <a:ext cx="11242500" cy="250000"/>
          </a:xfrm>
          <a:prstGeom prst="rect">
            <a:avLst/>
          </a:prstGeom>
          <a:noFill/>
        </p:spPr>
        <p:txBody>
          <a:bodyPr wrap="none">
            <a:spAutoFit/>
          </a:bodyPr>
          <a:lstStyle/>
          <a:p>
            <a:r>
              <a:rPr sz="1000" b="0">
                <a:solidFill>
                  <a:srgbClr val="666666"/>
                </a:solidFill>
                <a:latin typeface="微軟正黑體"/>
                <a:ea typeface="微軟正黑體"/>
                <a:cs typeface="微軟正黑體"/>
              </a:rPr>
              <a:t>可點選圖表右鍵「編輯資料」查看原始 EXCEL 資料表</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1400" b="0">
                <a:solidFill>
                  <a:srgbClr val="C12026"/>
                </a:solidFill>
                <a:latin typeface="微軟正黑體"/>
                <a:ea typeface="微軟正黑體"/>
                <a:cs typeface="微軟正黑體"/>
              </a:rPr>
              <a:t>CHAPTER 07</a:t>
            </a:r>
          </a:p>
          <a:p>
            <a:r>
              <a:rPr sz="3200" b="1">
                <a:solidFill>
                  <a:srgbClr val="4D4D4D"/>
                </a:solidFill>
                <a:latin typeface="微軟正黑體"/>
                <a:ea typeface="微軟正黑體"/>
                <a:cs typeface="微軟正黑體"/>
              </a:rPr>
              <a:t>未來趨勢推測</a:t>
            </a:r>
          </a:p>
        </p:txBody>
      </p:sp>
      <p:sp>
        <p:nvSpPr>
          <p:cNvPr id="3" name="Rectangle 2"/>
          <p:cNvSpPr/>
          <p:nvPr/>
        </p:nvSpPr>
        <p:spPr>
          <a:xfrm>
            <a:off x="831851" y="5737075"/>
            <a:ext cx="1905000" cy="28575"/>
          </a:xfrm>
          <a:prstGeom prst="rect">
            <a:avLst/>
          </a:prstGeom>
          <a:solidFill>
            <a:srgbClr val="C120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a:xfrm>
            <a:off x="7205535" y="1854753"/>
            <a:ext cx="4405560" cy="4272900"/>
          </a:xfrm>
        </p:spPr>
        <p:txBody>
          <a:bodyPr wrap="square"/>
          <a:lstStyle/>
          <a:p>
            <a:pPr>
              <a:spcAft>
                <a:spcPts val="800"/>
              </a:spcAft>
            </a:pPr>
            <a:r>
              <a:rPr sz="1100" b="1">
                <a:solidFill>
                  <a:srgbClr val="C12026"/>
                </a:solidFill>
                <a:latin typeface="微軟正黑體"/>
                <a:ea typeface="微軟正黑體"/>
                <a:cs typeface="微軟正黑體"/>
              </a:rPr>
              <a:t>▸ </a:t>
            </a:r>
            <a:r>
              <a:rPr sz="1100" b="0">
                <a:solidFill>
                  <a:srgbClr val="4D4D4D"/>
                </a:solidFill>
                <a:latin typeface="微軟正黑體"/>
                <a:ea typeface="微軟正黑體"/>
                <a:cs typeface="微軟正黑體"/>
              </a:rPr>
              <a:t>根據預測模型外推，流通卡數在達到 </a:t>
            </a:r>
            <a:r>
              <a:rPr sz="1100" b="1">
                <a:solidFill>
                  <a:srgbClr val="1A1A1A"/>
                </a:solidFill>
                <a:highlight>
                  <a:srgbClr val="FFFF00"/>
                </a:highlight>
                <a:latin typeface="微軟正黑體"/>
                <a:ea typeface="微軟正黑體"/>
                <a:cs typeface="微軟正黑體"/>
              </a:rPr>
              <a:t>61,307,739.5</a:t>
            </a:r>
            <a:r>
              <a:rPr sz="1100" b="0">
                <a:solidFill>
                  <a:srgbClr val="4D4D4D"/>
                </a:solidFill>
                <a:latin typeface="微軟正黑體"/>
                <a:ea typeface="微軟正黑體"/>
                <a:cs typeface="微軟正黑體"/>
              </a:rPr>
              <a:t> 後將進入成長趨緩的存量交替期，建議發卡機構應將策略核心從衝刺新發卡量轉向深化既有客戶的經營與分眾權益優化</a:t>
            </a:r>
          </a:p>
          <a:p>
            <a:pPr>
              <a:spcAft>
                <a:spcPts val="800"/>
              </a:spcAft>
            </a:pPr>
            <a:r>
              <a:rPr sz="1100" b="1">
                <a:solidFill>
                  <a:srgbClr val="C12026"/>
                </a:solidFill>
                <a:latin typeface="微軟正黑體"/>
                <a:ea typeface="微軟正黑體"/>
                <a:cs typeface="微軟正黑體"/>
              </a:rPr>
              <a:t>▸ </a:t>
            </a:r>
            <a:r>
              <a:rPr sz="1100" b="0">
                <a:solidFill>
                  <a:srgbClr val="4D4D4D"/>
                </a:solidFill>
                <a:latin typeface="微軟正黑體"/>
                <a:ea typeface="微軟正黑體"/>
                <a:cs typeface="微軟正黑體"/>
              </a:rPr>
              <a:t>當月簽帳金額預期將於 </a:t>
            </a:r>
            <a:r>
              <a:rPr sz="1100" b="1">
                <a:solidFill>
                  <a:srgbClr val="1A1A1A"/>
                </a:solidFill>
                <a:highlight>
                  <a:srgbClr val="FFFF00"/>
                </a:highlight>
                <a:latin typeface="微軟正黑體"/>
                <a:ea typeface="微軟正黑體"/>
                <a:cs typeface="微軟正黑體"/>
              </a:rPr>
              <a:t>11407</a:t>
            </a:r>
            <a:r>
              <a:rPr sz="1100" b="0">
                <a:solidFill>
                  <a:srgbClr val="4D4D4D"/>
                </a:solidFill>
                <a:latin typeface="微軟正黑體"/>
                <a:ea typeface="微軟正黑體"/>
                <a:cs typeface="微軟正黑體"/>
              </a:rPr>
              <a:t> 攀升至 </a:t>
            </a:r>
            <a:r>
              <a:rPr sz="1100" b="1">
                <a:solidFill>
                  <a:srgbClr val="1A1A1A"/>
                </a:solidFill>
                <a:highlight>
                  <a:srgbClr val="FFFF00"/>
                </a:highlight>
                <a:latin typeface="微軟正黑體"/>
                <a:ea typeface="微軟正黑體"/>
                <a:cs typeface="微軟正黑體"/>
              </a:rPr>
              <a:t>653,264,628</a:t>
            </a:r>
            <a:r>
              <a:rPr sz="1100" b="0">
                <a:solidFill>
                  <a:srgbClr val="4D4D4D"/>
                </a:solidFill>
                <a:latin typeface="微軟正黑體"/>
                <a:ea typeface="微軟正黑體"/>
                <a:cs typeface="微軟正黑體"/>
              </a:rPr>
              <a:t> 的波段高點，顯示消費動能依然強勁，相關部門應提前佈局高單價與跨境消費的促銷專案以擴大市佔率</a:t>
            </a:r>
          </a:p>
          <a:p>
            <a:pPr>
              <a:spcAft>
                <a:spcPts val="800"/>
              </a:spcAft>
            </a:pPr>
            <a:r>
              <a:rPr sz="1100" b="1">
                <a:solidFill>
                  <a:srgbClr val="C12026"/>
                </a:solidFill>
                <a:latin typeface="微軟正黑體"/>
                <a:ea typeface="微軟正黑體"/>
                <a:cs typeface="微軟正黑體"/>
              </a:rPr>
              <a:t>▸ </a:t>
            </a:r>
            <a:r>
              <a:rPr sz="1100" b="0">
                <a:solidFill>
                  <a:srgbClr val="4D4D4D"/>
                </a:solidFill>
                <a:latin typeface="微軟正黑體"/>
                <a:ea typeface="微軟正黑體"/>
                <a:cs typeface="微軟正黑體"/>
              </a:rPr>
              <a:t>針對當月轉銷呆帳金額在 </a:t>
            </a:r>
            <a:r>
              <a:rPr sz="1100" b="1">
                <a:solidFill>
                  <a:srgbClr val="1A1A1A"/>
                </a:solidFill>
                <a:highlight>
                  <a:srgbClr val="FFFF00"/>
                </a:highlight>
                <a:latin typeface="微軟正黑體"/>
                <a:ea typeface="微軟正黑體"/>
                <a:cs typeface="微軟正黑體"/>
              </a:rPr>
              <a:t>607,056.5</a:t>
            </a:r>
            <a:r>
              <a:rPr sz="1100" b="0">
                <a:solidFill>
                  <a:srgbClr val="4D4D4D"/>
                </a:solidFill>
                <a:latin typeface="微軟正黑體"/>
                <a:ea typeface="微軟正黑體"/>
                <a:cs typeface="微軟正黑體"/>
              </a:rPr>
              <a:t> 的預測表現，顯示總體信用風險尚在控制之內，但考量總體經濟變數仍多，授信審查與預警機制仍需維持穩健以預防潛在違約</a:t>
            </a:r>
          </a:p>
        </p:txBody>
      </p:sp>
      <p:sp>
        <p:nvSpPr>
          <p:cNvPr id="3" name="Title 2"/>
          <p:cNvSpPr>
            <a:spLocks noGrp="1"/>
          </p:cNvSpPr>
          <p:nvPr>
            <p:ph type="title"/>
          </p:nvPr>
        </p:nvSpPr>
        <p:spPr/>
        <p:txBody>
          <a:bodyPr/>
          <a:lstStyle/>
          <a:p>
            <a:pPr algn="l"/>
            <a:r>
              <a:rPr sz="2200" b="0">
                <a:solidFill>
                  <a:srgbClr val="1A1A1A"/>
                </a:solidFill>
                <a:latin typeface="微軟正黑體"/>
                <a:ea typeface="微軟正黑體"/>
                <a:cs typeface="微軟正黑體"/>
              </a:rPr>
              <a:t>市場未來趨勢預測</a:t>
            </a:r>
          </a:p>
        </p:txBody>
      </p:sp>
      <p:sp>
        <p:nvSpPr>
          <p:cNvPr id="4" name="Rectangle 3"/>
          <p:cNvSpPr/>
          <p:nvPr/>
        </p:nvSpPr>
        <p:spPr>
          <a:xfrm>
            <a:off x="368595" y="1247553"/>
            <a:ext cx="57150" cy="457200"/>
          </a:xfrm>
          <a:prstGeom prst="rect">
            <a:avLst/>
          </a:prstGeom>
          <a:solidFill>
            <a:srgbClr val="FFC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25745" y="1247553"/>
            <a:ext cx="11185350" cy="457200"/>
          </a:xfrm>
          <a:prstGeom prst="rect">
            <a:avLst/>
          </a:prstGeom>
          <a:solidFill>
            <a:srgbClr val="FFF8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75260"/>
          <a:lstStyle/>
          <a:p>
            <a:pPr algn="l"/>
            <a:r>
              <a:rPr sz="1300" b="1">
                <a:solidFill>
                  <a:srgbClr val="C12026"/>
                </a:solidFill>
                <a:latin typeface="微軟正黑體"/>
                <a:ea typeface="微軟正黑體"/>
                <a:cs typeface="微軟正黑體"/>
              </a:rPr>
              <a:t>◆ </a:t>
            </a:r>
            <a:r>
              <a:rPr sz="1300" b="1">
                <a:solidFill>
                  <a:srgbClr val="1A1A1A"/>
                </a:solidFill>
                <a:latin typeface="微軟正黑體"/>
                <a:ea typeface="微軟正黑體"/>
                <a:cs typeface="微軟正黑體"/>
              </a:rPr>
              <a:t>未來市場整體業務指標預估顯示流通卡數將達 </a:t>
            </a:r>
            <a:r>
              <a:rPr sz="1300" b="1">
                <a:solidFill>
                  <a:srgbClr val="1A1A1A"/>
                </a:solidFill>
                <a:highlight>
                  <a:srgbClr val="FFFF00"/>
                </a:highlight>
                <a:latin typeface="微軟正黑體"/>
                <a:ea typeface="微軟正黑體"/>
                <a:cs typeface="微軟正黑體"/>
              </a:rPr>
              <a:t>61,307,739.5</a:t>
            </a:r>
            <a:r>
              <a:rPr sz="1300" b="1">
                <a:solidFill>
                  <a:srgbClr val="1A1A1A"/>
                </a:solidFill>
                <a:latin typeface="微軟正黑體"/>
                <a:ea typeface="微軟正黑體"/>
                <a:cs typeface="微軟正黑體"/>
              </a:rPr>
              <a:t>，簽帳金額維持成長態勢，呆帳風險則在可控範圍內</a:t>
            </a:r>
          </a:p>
        </p:txBody>
      </p:sp>
      <p:graphicFrame>
        <p:nvGraphicFramePr>
          <p:cNvPr id="6" name="Chart 5"/>
          <p:cNvGraphicFramePr>
            <a:graphicFrameLocks noGrp="1"/>
          </p:cNvGraphicFramePr>
          <p:nvPr/>
        </p:nvGraphicFramePr>
        <p:xfrm>
          <a:off x="368595" y="1854753"/>
          <a:ext cx="6608340" cy="4272900"/>
        </p:xfrm>
        <a:graphic>
          <a:graphicData uri="http://schemas.openxmlformats.org/drawingml/2006/chart">
            <c:chart xmlns:c="http://schemas.openxmlformats.org/drawingml/2006/chart" r:id="rId2"/>
          </a:graphicData>
        </a:graphic>
      </p:graphicFrame>
      <p:sp>
        <p:nvSpPr>
          <p:cNvPr id="7" name="TextBox 6"/>
          <p:cNvSpPr txBox="1"/>
          <p:nvPr/>
        </p:nvSpPr>
        <p:spPr>
          <a:xfrm>
            <a:off x="368595" y="6150000"/>
            <a:ext cx="11242500" cy="250000"/>
          </a:xfrm>
          <a:prstGeom prst="rect">
            <a:avLst/>
          </a:prstGeom>
          <a:noFill/>
        </p:spPr>
        <p:txBody>
          <a:bodyPr wrap="none">
            <a:spAutoFit/>
          </a:bodyPr>
          <a:lstStyle/>
          <a:p>
            <a:r>
              <a:rPr sz="1000" b="0">
                <a:solidFill>
                  <a:srgbClr val="666666"/>
                </a:solidFill>
                <a:latin typeface="微軟正黑體"/>
                <a:ea typeface="微軟正黑體"/>
                <a:cs typeface="微軟正黑體"/>
              </a:rPr>
              <a:t>可點選圖表右鍵「編輯資料」查看原始 EXCEL 資料表</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1400" b="0">
                <a:solidFill>
                  <a:srgbClr val="C12026"/>
                </a:solidFill>
                <a:latin typeface="微軟正黑體"/>
                <a:ea typeface="微軟正黑體"/>
                <a:cs typeface="微軟正黑體"/>
              </a:rPr>
              <a:t>CHAPTER 08</a:t>
            </a:r>
          </a:p>
          <a:p>
            <a:r>
              <a:rPr sz="3200" b="1">
                <a:solidFill>
                  <a:srgbClr val="4D4D4D"/>
                </a:solidFill>
                <a:latin typeface="微軟正黑體"/>
                <a:ea typeface="微軟正黑體"/>
                <a:cs typeface="微軟正黑體"/>
              </a:rPr>
              <a:t>對台新的策略建議</a:t>
            </a:r>
          </a:p>
        </p:txBody>
      </p:sp>
      <p:sp>
        <p:nvSpPr>
          <p:cNvPr id="3" name="Rectangle 2"/>
          <p:cNvSpPr/>
          <p:nvPr/>
        </p:nvSpPr>
        <p:spPr>
          <a:xfrm>
            <a:off x="831851" y="5737075"/>
            <a:ext cx="1905000" cy="28575"/>
          </a:xfrm>
          <a:prstGeom prst="rect">
            <a:avLst/>
          </a:prstGeom>
          <a:solidFill>
            <a:srgbClr val="C120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a:xfrm>
            <a:off x="7205535" y="1854753"/>
            <a:ext cx="4405560" cy="4272900"/>
          </a:xfrm>
        </p:spPr>
        <p:txBody>
          <a:bodyPr wrap="square"/>
          <a:lstStyle/>
          <a:p>
            <a:pPr>
              <a:spcAft>
                <a:spcPts val="800"/>
              </a:spcAft>
            </a:pPr>
            <a:r>
              <a:rPr sz="1100" b="1">
                <a:solidFill>
                  <a:srgbClr val="C12026"/>
                </a:solidFill>
                <a:latin typeface="微軟正黑體"/>
                <a:ea typeface="微軟正黑體"/>
                <a:cs typeface="微軟正黑體"/>
              </a:rPr>
              <a:t>▸ </a:t>
            </a:r>
            <a:r>
              <a:rPr sz="1100" b="0">
                <a:solidFill>
                  <a:srgbClr val="4D4D4D"/>
                </a:solidFill>
                <a:latin typeface="微軟正黑體"/>
                <a:ea typeface="微軟正黑體"/>
                <a:cs typeface="微軟正黑體"/>
              </a:rPr>
              <a:t>台新國際商業銀行在當月簽帳金額表現為 </a:t>
            </a:r>
            <a:r>
              <a:rPr sz="1100" b="1">
                <a:solidFill>
                  <a:srgbClr val="1A1A1A"/>
                </a:solidFill>
                <a:highlight>
                  <a:srgbClr val="FFFF00"/>
                </a:highlight>
                <a:latin typeface="微軟正黑體"/>
                <a:ea typeface="微軟正黑體"/>
                <a:cs typeface="微軟正黑體"/>
              </a:rPr>
              <a:t>48,399,932</a:t>
            </a:r>
            <a:r>
              <a:rPr sz="1100" b="0">
                <a:solidFill>
                  <a:srgbClr val="4D4D4D"/>
                </a:solidFill>
                <a:latin typeface="微軟正黑體"/>
                <a:ea typeface="微軟正黑體"/>
                <a:cs typeface="微軟正黑體"/>
              </a:rPr>
              <a:t>，落後於市場領先群，顯示前端發卡動能仍有擴大空間，建議針對核心消費場景深化生態圈經營以提升卡片活躍度。</a:t>
            </a:r>
          </a:p>
          <a:p>
            <a:pPr>
              <a:spcAft>
                <a:spcPts val="800"/>
              </a:spcAft>
            </a:pPr>
            <a:r>
              <a:rPr sz="1100" b="1">
                <a:solidFill>
                  <a:srgbClr val="C12026"/>
                </a:solidFill>
                <a:latin typeface="微軟正黑體"/>
                <a:ea typeface="微軟正黑體"/>
                <a:cs typeface="微軟正黑體"/>
              </a:rPr>
              <a:t>▸ </a:t>
            </a:r>
            <a:r>
              <a:rPr sz="1100" b="0">
                <a:solidFill>
                  <a:srgbClr val="4D4D4D"/>
                </a:solidFill>
                <a:latin typeface="微軟正黑體"/>
                <a:ea typeface="微軟正黑體"/>
                <a:cs typeface="微軟正黑體"/>
              </a:rPr>
              <a:t>前十大同業中之首位中國信託商業銀行的當月簽帳金額高達 </a:t>
            </a:r>
            <a:r>
              <a:rPr sz="1100" b="1">
                <a:solidFill>
                  <a:srgbClr val="1A1A1A"/>
                </a:solidFill>
                <a:highlight>
                  <a:srgbClr val="FFFF00"/>
                </a:highlight>
                <a:latin typeface="微軟正黑體"/>
                <a:ea typeface="微軟正黑體"/>
                <a:cs typeface="微軟正黑體"/>
              </a:rPr>
              <a:t>83,917,586</a:t>
            </a:r>
            <a:r>
              <a:rPr sz="1100" b="0">
                <a:solidFill>
                  <a:srgbClr val="4D4D4D"/>
                </a:solidFill>
                <a:latin typeface="微軟正黑體"/>
                <a:ea typeface="微軟正黑體"/>
                <a:cs typeface="微軟正黑體"/>
              </a:rPr>
              <a:t>，而同業間的規模差距反映出通路合作與聯名卡策略的成效差異，台新應重新評估現有夥伴關係的資源配置效益。</a:t>
            </a:r>
          </a:p>
          <a:p>
            <a:pPr>
              <a:spcAft>
                <a:spcPts val="800"/>
              </a:spcAft>
            </a:pPr>
            <a:r>
              <a:rPr sz="1100" b="1">
                <a:solidFill>
                  <a:srgbClr val="C12026"/>
                </a:solidFill>
                <a:latin typeface="微軟正黑體"/>
                <a:ea typeface="微軟正黑體"/>
                <a:cs typeface="微軟正黑體"/>
              </a:rPr>
              <a:t>▸ </a:t>
            </a:r>
            <a:r>
              <a:rPr sz="1100" b="0">
                <a:solidFill>
                  <a:srgbClr val="4D4D4D"/>
                </a:solidFill>
                <a:latin typeface="微軟正黑體"/>
                <a:ea typeface="微軟正黑體"/>
                <a:cs typeface="微軟正黑體"/>
              </a:rPr>
              <a:t>從前十大同業的分佈來看，前段班與後段班的當月簽帳金額差距顯著，如國泰世華商業銀行達 </a:t>
            </a:r>
            <a:r>
              <a:rPr sz="1100" b="1">
                <a:solidFill>
                  <a:srgbClr val="1A1A1A"/>
                </a:solidFill>
                <a:highlight>
                  <a:srgbClr val="FFFF00"/>
                </a:highlight>
                <a:latin typeface="微軟正黑體"/>
                <a:ea typeface="微軟正黑體"/>
                <a:cs typeface="微軟正黑體"/>
              </a:rPr>
              <a:t>81,878,315</a:t>
            </a:r>
            <a:r>
              <a:rPr sz="1100" b="0">
                <a:solidFill>
                  <a:srgbClr val="4D4D4D"/>
                </a:solidFill>
                <a:latin typeface="微軟正黑體"/>
                <a:ea typeface="微軟正黑體"/>
                <a:cs typeface="微軟正黑體"/>
              </a:rPr>
              <a:t>，台新若欲突破現有市佔瓶頸，需加速數位轉型並精準投放行銷預算以搶佔高單價消費市場。</a:t>
            </a:r>
          </a:p>
        </p:txBody>
      </p:sp>
      <p:sp>
        <p:nvSpPr>
          <p:cNvPr id="3" name="Title 2"/>
          <p:cNvSpPr>
            <a:spLocks noGrp="1"/>
          </p:cNvSpPr>
          <p:nvPr>
            <p:ph type="title"/>
          </p:nvPr>
        </p:nvSpPr>
        <p:spPr/>
        <p:txBody>
          <a:bodyPr/>
          <a:lstStyle/>
          <a:p>
            <a:pPr algn="l"/>
            <a:r>
              <a:rPr sz="2200" b="0">
                <a:solidFill>
                  <a:srgbClr val="1A1A1A"/>
                </a:solidFill>
                <a:latin typeface="微軟正黑體"/>
                <a:ea typeface="微軟正黑體"/>
                <a:cs typeface="微軟正黑體"/>
              </a:rPr>
              <a:t>策略行動建議</a:t>
            </a:r>
          </a:p>
        </p:txBody>
      </p:sp>
      <p:sp>
        <p:nvSpPr>
          <p:cNvPr id="4" name="Rectangle 3"/>
          <p:cNvSpPr/>
          <p:nvPr/>
        </p:nvSpPr>
        <p:spPr>
          <a:xfrm>
            <a:off x="368595" y="1247553"/>
            <a:ext cx="57150" cy="457200"/>
          </a:xfrm>
          <a:prstGeom prst="rect">
            <a:avLst/>
          </a:prstGeom>
          <a:solidFill>
            <a:srgbClr val="FFC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25745" y="1247553"/>
            <a:ext cx="11185350" cy="457200"/>
          </a:xfrm>
          <a:prstGeom prst="rect">
            <a:avLst/>
          </a:prstGeom>
          <a:solidFill>
            <a:srgbClr val="FFF8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75260"/>
          <a:lstStyle/>
          <a:p>
            <a:pPr algn="l"/>
            <a:r>
              <a:rPr sz="1300" b="1">
                <a:solidFill>
                  <a:srgbClr val="C12026"/>
                </a:solidFill>
                <a:latin typeface="微軟正黑體"/>
                <a:ea typeface="微軟正黑體"/>
                <a:cs typeface="微軟正黑體"/>
              </a:rPr>
              <a:t>◆ </a:t>
            </a:r>
            <a:r>
              <a:rPr sz="1300" b="1">
                <a:solidFill>
                  <a:srgbClr val="1A1A1A"/>
                </a:solidFill>
                <a:latin typeface="微軟正黑體"/>
                <a:ea typeface="微軟正黑體"/>
                <a:cs typeface="微軟正黑體"/>
              </a:rPr>
              <a:t>台新於前十大同業中之當月簽帳金額為 </a:t>
            </a:r>
            <a:r>
              <a:rPr sz="1300" b="1">
                <a:solidFill>
                  <a:srgbClr val="1A1A1A"/>
                </a:solidFill>
                <a:highlight>
                  <a:srgbClr val="FFFF00"/>
                </a:highlight>
                <a:latin typeface="微軟正黑體"/>
                <a:ea typeface="微軟正黑體"/>
                <a:cs typeface="微軟正黑體"/>
              </a:rPr>
              <a:t>48,399,932</a:t>
            </a:r>
            <a:r>
              <a:rPr sz="1300" b="1">
                <a:solidFill>
                  <a:srgbClr val="1A1A1A"/>
                </a:solidFill>
                <a:latin typeface="微軟正黑體"/>
                <a:ea typeface="微軟正黑體"/>
                <a:cs typeface="微軟正黑體"/>
              </a:rPr>
              <a:t>，應聚焦高資產客群以優化獲利結構</a:t>
            </a:r>
          </a:p>
        </p:txBody>
      </p:sp>
      <p:graphicFrame>
        <p:nvGraphicFramePr>
          <p:cNvPr id="6" name="Table 5"/>
          <p:cNvGraphicFramePr>
            <a:graphicFrameLocks noGrp="1"/>
          </p:cNvGraphicFramePr>
          <p:nvPr/>
        </p:nvGraphicFramePr>
        <p:xfrm>
          <a:off x="368595" y="1854753"/>
          <a:ext cx="6608340" cy="4272900"/>
        </p:xfrm>
        <a:graphic>
          <a:graphicData uri="http://schemas.openxmlformats.org/drawingml/2006/table">
            <a:tbl>
              <a:tblPr firstRow="1" bandRow="1">
                <a:tableStyleId>{5C22544A-7EE6-4342-B048-85BDC9FD1C3A}</a:tableStyleId>
              </a:tblPr>
              <a:tblGrid>
                <a:gridCol w="508333"/>
                <a:gridCol w="508333"/>
                <a:gridCol w="508333"/>
                <a:gridCol w="508333"/>
                <a:gridCol w="508333"/>
                <a:gridCol w="508333"/>
                <a:gridCol w="508333"/>
                <a:gridCol w="508333"/>
                <a:gridCol w="508333"/>
                <a:gridCol w="508333"/>
                <a:gridCol w="508333"/>
                <a:gridCol w="508333"/>
                <a:gridCol w="508344"/>
              </a:tblGrid>
              <a:tr h="388445">
                <a:tc>
                  <a:txBody>
                    <a:bodyPr/>
                    <a:lstStyle/>
                    <a:p>
                      <a:r>
                        <a:rPr b="1" sz="1100">
                          <a:solidFill>
                            <a:srgbClr val="FFFFFF"/>
                          </a:solidFill>
                        </a:rPr>
                        <a:t>項目</a:t>
                      </a:r>
                    </a:p>
                  </a:txBody>
                  <a:tcPr>
                    <a:solidFill>
                      <a:srgbClr val="1F3864"/>
                    </a:solidFill>
                  </a:tcPr>
                </a:tc>
                <a:tc>
                  <a:txBody>
                    <a:bodyPr/>
                    <a:lstStyle/>
                    <a:p>
                      <a:r>
                        <a:rPr b="1" sz="1100">
                          <a:solidFill>
                            <a:srgbClr val="FFFFFF"/>
                          </a:solidFill>
                        </a:rPr>
                        <a:t>11401</a:t>
                      </a:r>
                    </a:p>
                  </a:txBody>
                  <a:tcPr>
                    <a:solidFill>
                      <a:srgbClr val="1F3864"/>
                    </a:solidFill>
                  </a:tcPr>
                </a:tc>
                <a:tc>
                  <a:txBody>
                    <a:bodyPr/>
                    <a:lstStyle/>
                    <a:p>
                      <a:r>
                        <a:rPr b="1" sz="1100">
                          <a:solidFill>
                            <a:srgbClr val="FFFFFF"/>
                          </a:solidFill>
                        </a:rPr>
                        <a:t>11402</a:t>
                      </a:r>
                    </a:p>
                  </a:txBody>
                  <a:tcPr>
                    <a:solidFill>
                      <a:srgbClr val="1F3864"/>
                    </a:solidFill>
                  </a:tcPr>
                </a:tc>
                <a:tc>
                  <a:txBody>
                    <a:bodyPr/>
                    <a:lstStyle/>
                    <a:p>
                      <a:r>
                        <a:rPr b="1" sz="1100">
                          <a:solidFill>
                            <a:srgbClr val="FFFFFF"/>
                          </a:solidFill>
                        </a:rPr>
                        <a:t>11403</a:t>
                      </a:r>
                    </a:p>
                  </a:txBody>
                  <a:tcPr>
                    <a:solidFill>
                      <a:srgbClr val="1F3864"/>
                    </a:solidFill>
                  </a:tcPr>
                </a:tc>
                <a:tc>
                  <a:txBody>
                    <a:bodyPr/>
                    <a:lstStyle/>
                    <a:p>
                      <a:r>
                        <a:rPr b="1" sz="1100">
                          <a:solidFill>
                            <a:srgbClr val="FFFFFF"/>
                          </a:solidFill>
                        </a:rPr>
                        <a:t>11404</a:t>
                      </a:r>
                    </a:p>
                  </a:txBody>
                  <a:tcPr>
                    <a:solidFill>
                      <a:srgbClr val="1F3864"/>
                    </a:solidFill>
                  </a:tcPr>
                </a:tc>
                <a:tc>
                  <a:txBody>
                    <a:bodyPr/>
                    <a:lstStyle/>
                    <a:p>
                      <a:r>
                        <a:rPr b="1" sz="1100">
                          <a:solidFill>
                            <a:srgbClr val="FFFFFF"/>
                          </a:solidFill>
                        </a:rPr>
                        <a:t>11405</a:t>
                      </a:r>
                    </a:p>
                  </a:txBody>
                  <a:tcPr>
                    <a:solidFill>
                      <a:srgbClr val="1F3864"/>
                    </a:solidFill>
                  </a:tcPr>
                </a:tc>
                <a:tc>
                  <a:txBody>
                    <a:bodyPr/>
                    <a:lstStyle/>
                    <a:p>
                      <a:r>
                        <a:rPr b="1" sz="1100">
                          <a:solidFill>
                            <a:srgbClr val="FFFFFF"/>
                          </a:solidFill>
                        </a:rPr>
                        <a:t>11406</a:t>
                      </a:r>
                    </a:p>
                  </a:txBody>
                  <a:tcPr>
                    <a:solidFill>
                      <a:srgbClr val="1F3864"/>
                    </a:solidFill>
                  </a:tcPr>
                </a:tc>
                <a:tc>
                  <a:txBody>
                    <a:bodyPr/>
                    <a:lstStyle/>
                    <a:p>
                      <a:r>
                        <a:rPr b="1" sz="1100">
                          <a:solidFill>
                            <a:srgbClr val="FFFFFF"/>
                          </a:solidFill>
                        </a:rPr>
                        <a:t>11407</a:t>
                      </a:r>
                    </a:p>
                  </a:txBody>
                  <a:tcPr>
                    <a:solidFill>
                      <a:srgbClr val="1F3864"/>
                    </a:solidFill>
                  </a:tcPr>
                </a:tc>
                <a:tc>
                  <a:txBody>
                    <a:bodyPr/>
                    <a:lstStyle/>
                    <a:p>
                      <a:r>
                        <a:rPr b="1" sz="1100">
                          <a:solidFill>
                            <a:srgbClr val="FFFFFF"/>
                          </a:solidFill>
                        </a:rPr>
                        <a:t>11408</a:t>
                      </a:r>
                    </a:p>
                  </a:txBody>
                  <a:tcPr>
                    <a:solidFill>
                      <a:srgbClr val="1F3864"/>
                    </a:solidFill>
                  </a:tcPr>
                </a:tc>
                <a:tc>
                  <a:txBody>
                    <a:bodyPr/>
                    <a:lstStyle/>
                    <a:p>
                      <a:r>
                        <a:rPr b="1" sz="1100">
                          <a:solidFill>
                            <a:srgbClr val="FFFFFF"/>
                          </a:solidFill>
                        </a:rPr>
                        <a:t>11409</a:t>
                      </a:r>
                    </a:p>
                  </a:txBody>
                  <a:tcPr>
                    <a:solidFill>
                      <a:srgbClr val="1F3864"/>
                    </a:solidFill>
                  </a:tcPr>
                </a:tc>
                <a:tc>
                  <a:txBody>
                    <a:bodyPr/>
                    <a:lstStyle/>
                    <a:p>
                      <a:r>
                        <a:rPr b="1" sz="1100">
                          <a:solidFill>
                            <a:srgbClr val="FFFFFF"/>
                          </a:solidFill>
                        </a:rPr>
                        <a:t>11410</a:t>
                      </a:r>
                    </a:p>
                  </a:txBody>
                  <a:tcPr>
                    <a:solidFill>
                      <a:srgbClr val="1F3864"/>
                    </a:solidFill>
                  </a:tcPr>
                </a:tc>
                <a:tc>
                  <a:txBody>
                    <a:bodyPr/>
                    <a:lstStyle/>
                    <a:p>
                      <a:r>
                        <a:rPr b="1" sz="1100">
                          <a:solidFill>
                            <a:srgbClr val="FFFFFF"/>
                          </a:solidFill>
                        </a:rPr>
                        <a:t>11411</a:t>
                      </a:r>
                    </a:p>
                  </a:txBody>
                  <a:tcPr>
                    <a:solidFill>
                      <a:srgbClr val="1F3864"/>
                    </a:solidFill>
                  </a:tcPr>
                </a:tc>
                <a:tc>
                  <a:txBody>
                    <a:bodyPr/>
                    <a:lstStyle/>
                    <a:p>
                      <a:r>
                        <a:rPr b="1" sz="1100">
                          <a:solidFill>
                            <a:srgbClr val="FFFFFF"/>
                          </a:solidFill>
                        </a:rPr>
                        <a:t>11412</a:t>
                      </a:r>
                    </a:p>
                  </a:txBody>
                  <a:tcPr>
                    <a:solidFill>
                      <a:srgbClr val="1F3864"/>
                    </a:solidFill>
                  </a:tcPr>
                </a:tc>
              </a:tr>
              <a:tr h="388445">
                <a:tc>
                  <a:txBody>
                    <a:bodyPr/>
                    <a:lstStyle/>
                    <a:p>
                      <a:r>
                        <a:rPr sz="1100" b="0"/>
                        <a:t>中國信託商業銀行</a:t>
                      </a:r>
                    </a:p>
                  </a:txBody>
                  <a:tcPr/>
                </a:tc>
                <a:tc>
                  <a:txBody>
                    <a:bodyPr/>
                    <a:lstStyle/>
                    <a:p>
                      <a:r>
                        <a:rPr sz="1100" b="0"/>
                        <a:t>55,509,089</a:t>
                      </a:r>
                    </a:p>
                  </a:txBody>
                  <a:tcPr/>
                </a:tc>
                <a:tc>
                  <a:txBody>
                    <a:bodyPr/>
                    <a:lstStyle/>
                    <a:p>
                      <a:r>
                        <a:rPr sz="1100" b="0"/>
                        <a:t>70,550,358</a:t>
                      </a:r>
                    </a:p>
                  </a:txBody>
                  <a:tcPr/>
                </a:tc>
                <a:tc>
                  <a:txBody>
                    <a:bodyPr/>
                    <a:lstStyle/>
                    <a:p>
                      <a:r>
                        <a:rPr sz="1100" b="0"/>
                        <a:t>66,880,445</a:t>
                      </a:r>
                    </a:p>
                  </a:txBody>
                  <a:tcPr/>
                </a:tc>
                <a:tc>
                  <a:txBody>
                    <a:bodyPr/>
                    <a:lstStyle/>
                    <a:p>
                      <a:r>
                        <a:rPr sz="1100" b="0"/>
                        <a:t>64,104,657</a:t>
                      </a:r>
                    </a:p>
                  </a:txBody>
                  <a:tcPr/>
                </a:tc>
                <a:tc>
                  <a:txBody>
                    <a:bodyPr/>
                    <a:lstStyle/>
                    <a:p>
                      <a:r>
                        <a:rPr sz="1100" b="0"/>
                        <a:t>62,936,155</a:t>
                      </a:r>
                    </a:p>
                  </a:txBody>
                  <a:tcPr/>
                </a:tc>
                <a:tc>
                  <a:txBody>
                    <a:bodyPr/>
                    <a:lstStyle/>
                    <a:p>
                      <a:r>
                        <a:rPr sz="1100" b="0"/>
                        <a:t>67,106,146</a:t>
                      </a:r>
                    </a:p>
                  </a:txBody>
                  <a:tcPr/>
                </a:tc>
                <a:tc>
                  <a:txBody>
                    <a:bodyPr/>
                    <a:lstStyle/>
                    <a:p>
                      <a:r>
                        <a:rPr sz="1100" b="0"/>
                        <a:t>125,976,593</a:t>
                      </a:r>
                    </a:p>
                  </a:txBody>
                  <a:tcPr/>
                </a:tc>
                <a:tc>
                  <a:txBody>
                    <a:bodyPr/>
                    <a:lstStyle/>
                    <a:p>
                      <a:r>
                        <a:rPr sz="1100" b="0"/>
                        <a:t>66,950,018</a:t>
                      </a:r>
                    </a:p>
                  </a:txBody>
                  <a:tcPr/>
                </a:tc>
                <a:tc>
                  <a:txBody>
                    <a:bodyPr/>
                    <a:lstStyle/>
                    <a:p>
                      <a:r>
                        <a:rPr sz="1100" b="0"/>
                        <a:t>73,733,664</a:t>
                      </a:r>
                    </a:p>
                  </a:txBody>
                  <a:tcPr/>
                </a:tc>
                <a:tc>
                  <a:txBody>
                    <a:bodyPr/>
                    <a:lstStyle/>
                    <a:p>
                      <a:r>
                        <a:rPr sz="1100" b="0"/>
                        <a:t>80,096,712</a:t>
                      </a:r>
                    </a:p>
                  </a:txBody>
                  <a:tcPr/>
                </a:tc>
                <a:tc>
                  <a:txBody>
                    <a:bodyPr/>
                    <a:lstStyle/>
                    <a:p>
                      <a:r>
                        <a:rPr sz="1100" b="0"/>
                        <a:t>72,454,170</a:t>
                      </a:r>
                    </a:p>
                  </a:txBody>
                  <a:tcPr/>
                </a:tc>
                <a:tc>
                  <a:txBody>
                    <a:bodyPr/>
                    <a:lstStyle/>
                    <a:p>
                      <a:r>
                        <a:rPr sz="1100" b="0"/>
                        <a:t>83,917,586</a:t>
                      </a:r>
                    </a:p>
                  </a:txBody>
                  <a:tcPr/>
                </a:tc>
              </a:tr>
              <a:tr h="388445">
                <a:tc>
                  <a:txBody>
                    <a:bodyPr/>
                    <a:lstStyle/>
                    <a:p>
                      <a:r>
                        <a:rPr sz="1100" b="0"/>
                        <a:t>國泰世華商業銀行</a:t>
                      </a:r>
                    </a:p>
                  </a:txBody>
                  <a:tcPr/>
                </a:tc>
                <a:tc>
                  <a:txBody>
                    <a:bodyPr/>
                    <a:lstStyle/>
                    <a:p>
                      <a:r>
                        <a:rPr sz="1100" b="0"/>
                        <a:t>53,154,518</a:t>
                      </a:r>
                    </a:p>
                  </a:txBody>
                  <a:tcPr/>
                </a:tc>
                <a:tc>
                  <a:txBody>
                    <a:bodyPr/>
                    <a:lstStyle/>
                    <a:p>
                      <a:r>
                        <a:rPr sz="1100" b="0"/>
                        <a:t>69,748,895</a:t>
                      </a:r>
                    </a:p>
                  </a:txBody>
                  <a:tcPr/>
                </a:tc>
                <a:tc>
                  <a:txBody>
                    <a:bodyPr/>
                    <a:lstStyle/>
                    <a:p>
                      <a:r>
                        <a:rPr sz="1100" b="0"/>
                        <a:t>65,887,574</a:t>
                      </a:r>
                    </a:p>
                  </a:txBody>
                  <a:tcPr/>
                </a:tc>
                <a:tc>
                  <a:txBody>
                    <a:bodyPr/>
                    <a:lstStyle/>
                    <a:p>
                      <a:r>
                        <a:rPr sz="1100" b="0"/>
                        <a:t>66,827,533</a:t>
                      </a:r>
                    </a:p>
                  </a:txBody>
                  <a:tcPr/>
                </a:tc>
                <a:tc>
                  <a:txBody>
                    <a:bodyPr/>
                    <a:lstStyle/>
                    <a:p>
                      <a:r>
                        <a:rPr sz="1100" b="0"/>
                        <a:t>63,076,088</a:t>
                      </a:r>
                    </a:p>
                  </a:txBody>
                  <a:tcPr/>
                </a:tc>
                <a:tc>
                  <a:txBody>
                    <a:bodyPr/>
                    <a:lstStyle/>
                    <a:p>
                      <a:r>
                        <a:rPr sz="1100" b="0"/>
                        <a:t>68,536,269</a:t>
                      </a:r>
                    </a:p>
                  </a:txBody>
                  <a:tcPr/>
                </a:tc>
                <a:tc>
                  <a:txBody>
                    <a:bodyPr/>
                    <a:lstStyle/>
                    <a:p>
                      <a:r>
                        <a:rPr sz="1100" b="0"/>
                        <a:t>101,706,310</a:t>
                      </a:r>
                    </a:p>
                  </a:txBody>
                  <a:tcPr/>
                </a:tc>
                <a:tc>
                  <a:txBody>
                    <a:bodyPr/>
                    <a:lstStyle/>
                    <a:p>
                      <a:r>
                        <a:rPr sz="1100" b="0"/>
                        <a:t>65,055,781</a:t>
                      </a:r>
                    </a:p>
                  </a:txBody>
                  <a:tcPr/>
                </a:tc>
                <a:tc>
                  <a:txBody>
                    <a:bodyPr/>
                    <a:lstStyle/>
                    <a:p>
                      <a:r>
                        <a:rPr sz="1100" b="0"/>
                        <a:t>71,463,253</a:t>
                      </a:r>
                    </a:p>
                  </a:txBody>
                  <a:tcPr/>
                </a:tc>
                <a:tc>
                  <a:txBody>
                    <a:bodyPr/>
                    <a:lstStyle/>
                    <a:p>
                      <a:r>
                        <a:rPr sz="1100" b="0"/>
                        <a:t>79,077,303</a:t>
                      </a:r>
                    </a:p>
                  </a:txBody>
                  <a:tcPr/>
                </a:tc>
                <a:tc>
                  <a:txBody>
                    <a:bodyPr/>
                    <a:lstStyle/>
                    <a:p>
                      <a:r>
                        <a:rPr sz="1100" b="0"/>
                        <a:t>69,309,873</a:t>
                      </a:r>
                    </a:p>
                  </a:txBody>
                  <a:tcPr/>
                </a:tc>
                <a:tc>
                  <a:txBody>
                    <a:bodyPr/>
                    <a:lstStyle/>
                    <a:p>
                      <a:r>
                        <a:rPr sz="1100" b="0"/>
                        <a:t>81,878,315</a:t>
                      </a:r>
                    </a:p>
                  </a:txBody>
                  <a:tcPr/>
                </a:tc>
              </a:tr>
              <a:tr h="388445">
                <a:tc>
                  <a:txBody>
                    <a:bodyPr/>
                    <a:lstStyle/>
                    <a:p>
                      <a:r>
                        <a:rPr sz="1100" b="0"/>
                        <a:t>台北富邦商業銀行</a:t>
                      </a:r>
                    </a:p>
                  </a:txBody>
                  <a:tcPr/>
                </a:tc>
                <a:tc>
                  <a:txBody>
                    <a:bodyPr/>
                    <a:lstStyle/>
                    <a:p>
                      <a:r>
                        <a:rPr sz="1100" b="0"/>
                        <a:t>45,727,836</a:t>
                      </a:r>
                    </a:p>
                  </a:txBody>
                  <a:tcPr/>
                </a:tc>
                <a:tc>
                  <a:txBody>
                    <a:bodyPr/>
                    <a:lstStyle/>
                    <a:p>
                      <a:r>
                        <a:rPr sz="1100" b="0"/>
                        <a:t>52,266,114</a:t>
                      </a:r>
                    </a:p>
                  </a:txBody>
                  <a:tcPr/>
                </a:tc>
                <a:tc>
                  <a:txBody>
                    <a:bodyPr/>
                    <a:lstStyle/>
                    <a:p>
                      <a:r>
                        <a:rPr sz="1100" b="0"/>
                        <a:t>48,021,737</a:t>
                      </a:r>
                    </a:p>
                  </a:txBody>
                  <a:tcPr/>
                </a:tc>
                <a:tc>
                  <a:txBody>
                    <a:bodyPr/>
                    <a:lstStyle/>
                    <a:p>
                      <a:r>
                        <a:rPr sz="1100" b="0"/>
                        <a:t>49,484,724</a:t>
                      </a:r>
                    </a:p>
                  </a:txBody>
                  <a:tcPr/>
                </a:tc>
                <a:tc>
                  <a:txBody>
                    <a:bodyPr/>
                    <a:lstStyle/>
                    <a:p>
                      <a:r>
                        <a:rPr sz="1100" b="0"/>
                        <a:t>48,542,045</a:t>
                      </a:r>
                    </a:p>
                  </a:txBody>
                  <a:tcPr/>
                </a:tc>
                <a:tc>
                  <a:txBody>
                    <a:bodyPr/>
                    <a:lstStyle/>
                    <a:p>
                      <a:r>
                        <a:rPr sz="1100" b="0"/>
                        <a:t>50,976,410</a:t>
                      </a:r>
                    </a:p>
                  </a:txBody>
                  <a:tcPr/>
                </a:tc>
                <a:tc>
                  <a:txBody>
                    <a:bodyPr/>
                    <a:lstStyle/>
                    <a:p>
                      <a:r>
                        <a:rPr sz="1100" b="0"/>
                        <a:t>70,997,069</a:t>
                      </a:r>
                    </a:p>
                  </a:txBody>
                  <a:tcPr/>
                </a:tc>
                <a:tc>
                  <a:txBody>
                    <a:bodyPr/>
                    <a:lstStyle/>
                    <a:p>
                      <a:r>
                        <a:rPr sz="1100" b="0"/>
                        <a:t>47,355,858</a:t>
                      </a:r>
                    </a:p>
                  </a:txBody>
                  <a:tcPr/>
                </a:tc>
                <a:tc>
                  <a:txBody>
                    <a:bodyPr/>
                    <a:lstStyle/>
                    <a:p>
                      <a:r>
                        <a:rPr sz="1100" b="0"/>
                        <a:t>48,349,084</a:t>
                      </a:r>
                    </a:p>
                  </a:txBody>
                  <a:tcPr/>
                </a:tc>
                <a:tc>
                  <a:txBody>
                    <a:bodyPr/>
                    <a:lstStyle/>
                    <a:p>
                      <a:r>
                        <a:rPr sz="1100" b="0"/>
                        <a:t>56,553,764</a:t>
                      </a:r>
                    </a:p>
                  </a:txBody>
                  <a:tcPr/>
                </a:tc>
                <a:tc>
                  <a:txBody>
                    <a:bodyPr/>
                    <a:lstStyle/>
                    <a:p>
                      <a:r>
                        <a:rPr sz="1100" b="0"/>
                        <a:t>51,145,814</a:t>
                      </a:r>
                    </a:p>
                  </a:txBody>
                  <a:tcPr/>
                </a:tc>
                <a:tc>
                  <a:txBody>
                    <a:bodyPr/>
                    <a:lstStyle/>
                    <a:p>
                      <a:r>
                        <a:rPr sz="1100" b="0"/>
                        <a:t>58,873,591</a:t>
                      </a:r>
                    </a:p>
                  </a:txBody>
                  <a:tcPr/>
                </a:tc>
              </a:tr>
              <a:tr h="388445">
                <a:tc>
                  <a:txBody>
                    <a:bodyPr/>
                    <a:lstStyle/>
                    <a:p>
                      <a:r>
                        <a:rPr sz="1100" b="0"/>
                        <a:t>玉山商業銀行</a:t>
                      </a:r>
                    </a:p>
                  </a:txBody>
                  <a:tcPr/>
                </a:tc>
                <a:tc>
                  <a:txBody>
                    <a:bodyPr/>
                    <a:lstStyle/>
                    <a:p>
                      <a:r>
                        <a:rPr sz="1100" b="0"/>
                        <a:t>45,663,323</a:t>
                      </a:r>
                    </a:p>
                  </a:txBody>
                  <a:tcPr/>
                </a:tc>
                <a:tc>
                  <a:txBody>
                    <a:bodyPr/>
                    <a:lstStyle/>
                    <a:p>
                      <a:r>
                        <a:rPr sz="1100" b="0"/>
                        <a:t>44,617,765</a:t>
                      </a:r>
                    </a:p>
                  </a:txBody>
                  <a:tcPr/>
                </a:tc>
                <a:tc>
                  <a:txBody>
                    <a:bodyPr/>
                    <a:lstStyle/>
                    <a:p>
                      <a:r>
                        <a:rPr sz="1100" b="0"/>
                        <a:t>45,518,585</a:t>
                      </a:r>
                    </a:p>
                  </a:txBody>
                  <a:tcPr/>
                </a:tc>
                <a:tc>
                  <a:txBody>
                    <a:bodyPr/>
                    <a:lstStyle/>
                    <a:p>
                      <a:r>
                        <a:rPr sz="1100" b="0"/>
                        <a:t>43,901,586</a:t>
                      </a:r>
                    </a:p>
                  </a:txBody>
                  <a:tcPr/>
                </a:tc>
                <a:tc>
                  <a:txBody>
                    <a:bodyPr/>
                    <a:lstStyle/>
                    <a:p>
                      <a:r>
                        <a:rPr sz="1100" b="0"/>
                        <a:t>46,983,332</a:t>
                      </a:r>
                    </a:p>
                  </a:txBody>
                  <a:tcPr/>
                </a:tc>
                <a:tc>
                  <a:txBody>
                    <a:bodyPr/>
                    <a:lstStyle/>
                    <a:p>
                      <a:r>
                        <a:rPr sz="1100" b="0"/>
                        <a:t>49,495,494</a:t>
                      </a:r>
                    </a:p>
                  </a:txBody>
                  <a:tcPr/>
                </a:tc>
                <a:tc>
                  <a:txBody>
                    <a:bodyPr/>
                    <a:lstStyle/>
                    <a:p>
                      <a:r>
                        <a:rPr sz="1100" b="0"/>
                        <a:t>121,150,605</a:t>
                      </a:r>
                    </a:p>
                  </a:txBody>
                  <a:tcPr/>
                </a:tc>
                <a:tc>
                  <a:txBody>
                    <a:bodyPr/>
                    <a:lstStyle/>
                    <a:p>
                      <a:r>
                        <a:rPr sz="1100" b="0"/>
                        <a:t>47,848,330</a:t>
                      </a:r>
                    </a:p>
                  </a:txBody>
                  <a:tcPr/>
                </a:tc>
                <a:tc>
                  <a:txBody>
                    <a:bodyPr/>
                    <a:lstStyle/>
                    <a:p>
                      <a:r>
                        <a:rPr sz="1100" b="0"/>
                        <a:t>51,251,681</a:t>
                      </a:r>
                    </a:p>
                  </a:txBody>
                  <a:tcPr/>
                </a:tc>
                <a:tc>
                  <a:txBody>
                    <a:bodyPr/>
                    <a:lstStyle/>
                    <a:p>
                      <a:r>
                        <a:rPr sz="1100" b="0"/>
                        <a:t>63,826,907</a:t>
                      </a:r>
                    </a:p>
                  </a:txBody>
                  <a:tcPr/>
                </a:tc>
                <a:tc>
                  <a:txBody>
                    <a:bodyPr/>
                    <a:lstStyle/>
                    <a:p>
                      <a:r>
                        <a:rPr sz="1100" b="0"/>
                        <a:t>48,431,125</a:t>
                      </a:r>
                    </a:p>
                  </a:txBody>
                  <a:tcPr/>
                </a:tc>
                <a:tc>
                  <a:txBody>
                    <a:bodyPr/>
                    <a:lstStyle/>
                    <a:p>
                      <a:r>
                        <a:rPr sz="1100" b="0"/>
                        <a:t>54,299,671</a:t>
                      </a:r>
                    </a:p>
                  </a:txBody>
                  <a:tcPr/>
                </a:tc>
              </a:tr>
              <a:tr h="388445">
                <a:tc>
                  <a:txBody>
                    <a:bodyPr/>
                    <a:lstStyle/>
                    <a:p>
                      <a:r>
                        <a:rPr sz="1100" b="0"/>
                        <a:t>台新國際商業銀行</a:t>
                      </a:r>
                    </a:p>
                  </a:txBody>
                  <a:tcPr/>
                </a:tc>
                <a:tc>
                  <a:txBody>
                    <a:bodyPr/>
                    <a:lstStyle/>
                    <a:p>
                      <a:r>
                        <a:rPr sz="1100" b="0"/>
                        <a:t>35,421,657</a:t>
                      </a:r>
                    </a:p>
                  </a:txBody>
                  <a:tcPr/>
                </a:tc>
                <a:tc>
                  <a:txBody>
                    <a:bodyPr/>
                    <a:lstStyle/>
                    <a:p>
                      <a:r>
                        <a:rPr sz="1100" b="0"/>
                        <a:t>42,845,567</a:t>
                      </a:r>
                    </a:p>
                  </a:txBody>
                  <a:tcPr/>
                </a:tc>
                <a:tc>
                  <a:txBody>
                    <a:bodyPr/>
                    <a:lstStyle/>
                    <a:p>
                      <a:r>
                        <a:rPr sz="1100" b="0"/>
                        <a:t>39,655,164</a:t>
                      </a:r>
                    </a:p>
                  </a:txBody>
                  <a:tcPr/>
                </a:tc>
                <a:tc>
                  <a:txBody>
                    <a:bodyPr/>
                    <a:lstStyle/>
                    <a:p>
                      <a:r>
                        <a:rPr sz="1100" b="0"/>
                        <a:t>40,295,422</a:t>
                      </a:r>
                    </a:p>
                  </a:txBody>
                  <a:tcPr/>
                </a:tc>
                <a:tc>
                  <a:txBody>
                    <a:bodyPr/>
                    <a:lstStyle/>
                    <a:p>
                      <a:r>
                        <a:rPr sz="1100" b="0"/>
                        <a:t>40,658,409</a:t>
                      </a:r>
                    </a:p>
                  </a:txBody>
                  <a:tcPr/>
                </a:tc>
                <a:tc>
                  <a:txBody>
                    <a:bodyPr/>
                    <a:lstStyle/>
                    <a:p>
                      <a:r>
                        <a:rPr sz="1100" b="0"/>
                        <a:t>43,848,944</a:t>
                      </a:r>
                    </a:p>
                  </a:txBody>
                  <a:tcPr/>
                </a:tc>
                <a:tc>
                  <a:txBody>
                    <a:bodyPr/>
                    <a:lstStyle/>
                    <a:p>
                      <a:r>
                        <a:rPr sz="1100" b="0"/>
                        <a:t>63,003,868</a:t>
                      </a:r>
                    </a:p>
                  </a:txBody>
                  <a:tcPr/>
                </a:tc>
                <a:tc>
                  <a:txBody>
                    <a:bodyPr/>
                    <a:lstStyle/>
                    <a:p>
                      <a:r>
                        <a:rPr sz="1100" b="0"/>
                        <a:t>39,021,829</a:t>
                      </a:r>
                    </a:p>
                  </a:txBody>
                  <a:tcPr/>
                </a:tc>
                <a:tc>
                  <a:txBody>
                    <a:bodyPr/>
                    <a:lstStyle/>
                    <a:p>
                      <a:r>
                        <a:rPr sz="1100" b="0"/>
                        <a:t>43,935,514</a:t>
                      </a:r>
                    </a:p>
                  </a:txBody>
                  <a:tcPr/>
                </a:tc>
                <a:tc>
                  <a:txBody>
                    <a:bodyPr/>
                    <a:lstStyle/>
                    <a:p>
                      <a:r>
                        <a:rPr sz="1100" b="0"/>
                        <a:t>48,769,248</a:t>
                      </a:r>
                    </a:p>
                  </a:txBody>
                  <a:tcPr/>
                </a:tc>
                <a:tc>
                  <a:txBody>
                    <a:bodyPr/>
                    <a:lstStyle/>
                    <a:p>
                      <a:r>
                        <a:rPr sz="1100" b="0"/>
                        <a:t>43,360,054</a:t>
                      </a:r>
                    </a:p>
                  </a:txBody>
                  <a:tcPr/>
                </a:tc>
                <a:tc>
                  <a:txBody>
                    <a:bodyPr/>
                    <a:lstStyle/>
                    <a:p>
                      <a:r>
                        <a:rPr sz="1100" b="0"/>
                        <a:t>48,399,932</a:t>
                      </a:r>
                    </a:p>
                  </a:txBody>
                  <a:tcPr/>
                </a:tc>
              </a:tr>
              <a:tr h="388445">
                <a:tc>
                  <a:txBody>
                    <a:bodyPr/>
                    <a:lstStyle/>
                    <a:p>
                      <a:r>
                        <a:rPr sz="1100" b="0"/>
                        <a:t>星展(台灣)商業銀行</a:t>
                      </a:r>
                    </a:p>
                  </a:txBody>
                  <a:tcPr/>
                </a:tc>
                <a:tc>
                  <a:txBody>
                    <a:bodyPr/>
                    <a:lstStyle/>
                    <a:p>
                      <a:r>
                        <a:rPr sz="1100" b="0"/>
                        <a:t>19,990,708</a:t>
                      </a:r>
                    </a:p>
                  </a:txBody>
                  <a:tcPr/>
                </a:tc>
                <a:tc>
                  <a:txBody>
                    <a:bodyPr/>
                    <a:lstStyle/>
                    <a:p>
                      <a:r>
                        <a:rPr sz="1100" b="0"/>
                        <a:t>23,757,520</a:t>
                      </a:r>
                    </a:p>
                  </a:txBody>
                  <a:tcPr/>
                </a:tc>
                <a:tc>
                  <a:txBody>
                    <a:bodyPr/>
                    <a:lstStyle/>
                    <a:p>
                      <a:r>
                        <a:rPr sz="1100" b="0"/>
                        <a:t>21,652,250</a:t>
                      </a:r>
                    </a:p>
                  </a:txBody>
                  <a:tcPr/>
                </a:tc>
                <a:tc>
                  <a:txBody>
                    <a:bodyPr/>
                    <a:lstStyle/>
                    <a:p>
                      <a:r>
                        <a:rPr sz="1100" b="0"/>
                        <a:t>21,562,684</a:t>
                      </a:r>
                    </a:p>
                  </a:txBody>
                  <a:tcPr/>
                </a:tc>
                <a:tc>
                  <a:txBody>
                    <a:bodyPr/>
                    <a:lstStyle/>
                    <a:p>
                      <a:r>
                        <a:rPr sz="1100" b="0"/>
                        <a:t>20,489,333</a:t>
                      </a:r>
                    </a:p>
                  </a:txBody>
                  <a:tcPr/>
                </a:tc>
                <a:tc>
                  <a:txBody>
                    <a:bodyPr/>
                    <a:lstStyle/>
                    <a:p>
                      <a:r>
                        <a:rPr sz="1100" b="0"/>
                        <a:t>21,065,494</a:t>
                      </a:r>
                    </a:p>
                  </a:txBody>
                  <a:tcPr/>
                </a:tc>
                <a:tc>
                  <a:txBody>
                    <a:bodyPr/>
                    <a:lstStyle/>
                    <a:p>
                      <a:r>
                        <a:rPr sz="1100" b="0"/>
                        <a:t>31,221,428</a:t>
                      </a:r>
                    </a:p>
                  </a:txBody>
                  <a:tcPr/>
                </a:tc>
                <a:tc>
                  <a:txBody>
                    <a:bodyPr/>
                    <a:lstStyle/>
                    <a:p>
                      <a:r>
                        <a:rPr sz="1100" b="0"/>
                        <a:t>20,453,867</a:t>
                      </a:r>
                    </a:p>
                  </a:txBody>
                  <a:tcPr/>
                </a:tc>
                <a:tc>
                  <a:txBody>
                    <a:bodyPr/>
                    <a:lstStyle/>
                    <a:p>
                      <a:r>
                        <a:rPr sz="1100" b="0"/>
                        <a:t>21,394,753</a:t>
                      </a:r>
                    </a:p>
                  </a:txBody>
                  <a:tcPr/>
                </a:tc>
                <a:tc>
                  <a:txBody>
                    <a:bodyPr/>
                    <a:lstStyle/>
                    <a:p>
                      <a:r>
                        <a:rPr sz="1100" b="0"/>
                        <a:t>25,239,050</a:t>
                      </a:r>
                    </a:p>
                  </a:txBody>
                  <a:tcPr/>
                </a:tc>
                <a:tc>
                  <a:txBody>
                    <a:bodyPr/>
                    <a:lstStyle/>
                    <a:p>
                      <a:r>
                        <a:rPr sz="1100" b="0"/>
                        <a:t>21,161,538</a:t>
                      </a:r>
                    </a:p>
                  </a:txBody>
                  <a:tcPr/>
                </a:tc>
                <a:tc>
                  <a:txBody>
                    <a:bodyPr/>
                    <a:lstStyle/>
                    <a:p>
                      <a:r>
                        <a:rPr sz="1100" b="0"/>
                        <a:t>23,990,920</a:t>
                      </a:r>
                    </a:p>
                  </a:txBody>
                  <a:tcPr/>
                </a:tc>
              </a:tr>
              <a:tr h="388445">
                <a:tc>
                  <a:txBody>
                    <a:bodyPr/>
                    <a:lstStyle/>
                    <a:p>
                      <a:r>
                        <a:rPr sz="1100" b="0"/>
                        <a:t>永豐商業銀行</a:t>
                      </a:r>
                    </a:p>
                  </a:txBody>
                  <a:tcPr/>
                </a:tc>
                <a:tc>
                  <a:txBody>
                    <a:bodyPr/>
                    <a:lstStyle/>
                    <a:p>
                      <a:r>
                        <a:rPr sz="1100" b="0"/>
                        <a:t>12,189,999</a:t>
                      </a:r>
                    </a:p>
                  </a:txBody>
                  <a:tcPr/>
                </a:tc>
                <a:tc>
                  <a:txBody>
                    <a:bodyPr/>
                    <a:lstStyle/>
                    <a:p>
                      <a:r>
                        <a:rPr sz="1100" b="0"/>
                        <a:t>15,756,085</a:t>
                      </a:r>
                    </a:p>
                  </a:txBody>
                  <a:tcPr/>
                </a:tc>
                <a:tc>
                  <a:txBody>
                    <a:bodyPr/>
                    <a:lstStyle/>
                    <a:p>
                      <a:r>
                        <a:rPr sz="1100" b="0"/>
                        <a:t>14,091,627</a:t>
                      </a:r>
                    </a:p>
                  </a:txBody>
                  <a:tcPr/>
                </a:tc>
                <a:tc>
                  <a:txBody>
                    <a:bodyPr/>
                    <a:lstStyle/>
                    <a:p>
                      <a:r>
                        <a:rPr sz="1100" b="0"/>
                        <a:t>14,156,078</a:t>
                      </a:r>
                    </a:p>
                  </a:txBody>
                  <a:tcPr/>
                </a:tc>
                <a:tc>
                  <a:txBody>
                    <a:bodyPr/>
                    <a:lstStyle/>
                    <a:p>
                      <a:r>
                        <a:rPr sz="1100" b="0"/>
                        <a:t>13,911,950</a:t>
                      </a:r>
                    </a:p>
                  </a:txBody>
                  <a:tcPr/>
                </a:tc>
                <a:tc>
                  <a:txBody>
                    <a:bodyPr/>
                    <a:lstStyle/>
                    <a:p>
                      <a:r>
                        <a:rPr sz="1100" b="0"/>
                        <a:t>14,413,467</a:t>
                      </a:r>
                    </a:p>
                  </a:txBody>
                  <a:tcPr/>
                </a:tc>
                <a:tc>
                  <a:txBody>
                    <a:bodyPr/>
                    <a:lstStyle/>
                    <a:p>
                      <a:r>
                        <a:rPr sz="1100" b="0"/>
                        <a:t>21,083,593</a:t>
                      </a:r>
                    </a:p>
                  </a:txBody>
                  <a:tcPr/>
                </a:tc>
                <a:tc>
                  <a:txBody>
                    <a:bodyPr/>
                    <a:lstStyle/>
                    <a:p>
                      <a:r>
                        <a:rPr sz="1100" b="0"/>
                        <a:t>13,856,226</a:t>
                      </a:r>
                    </a:p>
                  </a:txBody>
                  <a:tcPr/>
                </a:tc>
                <a:tc>
                  <a:txBody>
                    <a:bodyPr/>
                    <a:lstStyle/>
                    <a:p>
                      <a:r>
                        <a:rPr sz="1100" b="0"/>
                        <a:t>14,139,555</a:t>
                      </a:r>
                    </a:p>
                  </a:txBody>
                  <a:tcPr/>
                </a:tc>
                <a:tc>
                  <a:txBody>
                    <a:bodyPr/>
                    <a:lstStyle/>
                    <a:p>
                      <a:r>
                        <a:rPr sz="1100" b="0"/>
                        <a:t>16,090,748</a:t>
                      </a:r>
                    </a:p>
                  </a:txBody>
                  <a:tcPr/>
                </a:tc>
                <a:tc>
                  <a:txBody>
                    <a:bodyPr/>
                    <a:lstStyle/>
                    <a:p>
                      <a:r>
                        <a:rPr sz="1100" b="0"/>
                        <a:t>13,790,779</a:t>
                      </a:r>
                    </a:p>
                  </a:txBody>
                  <a:tcPr/>
                </a:tc>
                <a:tc>
                  <a:txBody>
                    <a:bodyPr/>
                    <a:lstStyle/>
                    <a:p>
                      <a:r>
                        <a:rPr sz="1100" b="0"/>
                        <a:t>15,837,909</a:t>
                      </a:r>
                    </a:p>
                  </a:txBody>
                  <a:tcPr/>
                </a:tc>
              </a:tr>
              <a:tr h="388445">
                <a:tc>
                  <a:txBody>
                    <a:bodyPr/>
                    <a:lstStyle/>
                    <a:p>
                      <a:r>
                        <a:rPr sz="1100" b="0"/>
                        <a:t>聯邦商業銀行</a:t>
                      </a:r>
                    </a:p>
                  </a:txBody>
                  <a:tcPr/>
                </a:tc>
                <a:tc>
                  <a:txBody>
                    <a:bodyPr/>
                    <a:lstStyle/>
                    <a:p>
                      <a:r>
                        <a:rPr sz="1100" b="0"/>
                        <a:t>14,598,387</a:t>
                      </a:r>
                    </a:p>
                  </a:txBody>
                  <a:tcPr/>
                </a:tc>
                <a:tc>
                  <a:txBody>
                    <a:bodyPr/>
                    <a:lstStyle/>
                    <a:p>
                      <a:r>
                        <a:rPr sz="1100" b="0"/>
                        <a:t>13,372,699</a:t>
                      </a:r>
                    </a:p>
                  </a:txBody>
                  <a:tcPr/>
                </a:tc>
                <a:tc>
                  <a:txBody>
                    <a:bodyPr/>
                    <a:lstStyle/>
                    <a:p>
                      <a:r>
                        <a:rPr sz="1100" b="0"/>
                        <a:t>14,085,756</a:t>
                      </a:r>
                    </a:p>
                  </a:txBody>
                  <a:tcPr/>
                </a:tc>
                <a:tc>
                  <a:txBody>
                    <a:bodyPr/>
                    <a:lstStyle/>
                    <a:p>
                      <a:r>
                        <a:rPr sz="1100" b="0"/>
                        <a:t>13,283,971</a:t>
                      </a:r>
                    </a:p>
                  </a:txBody>
                  <a:tcPr/>
                </a:tc>
                <a:tc>
                  <a:txBody>
                    <a:bodyPr/>
                    <a:lstStyle/>
                    <a:p>
                      <a:r>
                        <a:rPr sz="1100" b="0"/>
                        <a:t>13,893,740</a:t>
                      </a:r>
                    </a:p>
                  </a:txBody>
                  <a:tcPr/>
                </a:tc>
                <a:tc>
                  <a:txBody>
                    <a:bodyPr/>
                    <a:lstStyle/>
                    <a:p>
                      <a:r>
                        <a:rPr sz="1100" b="0"/>
                        <a:t>14,276,318</a:t>
                      </a:r>
                    </a:p>
                  </a:txBody>
                  <a:tcPr/>
                </a:tc>
                <a:tc>
                  <a:txBody>
                    <a:bodyPr/>
                    <a:lstStyle/>
                    <a:p>
                      <a:r>
                        <a:rPr sz="1100" b="0"/>
                        <a:t>23,142,116</a:t>
                      </a:r>
                    </a:p>
                  </a:txBody>
                  <a:tcPr/>
                </a:tc>
                <a:tc>
                  <a:txBody>
                    <a:bodyPr/>
                    <a:lstStyle/>
                    <a:p>
                      <a:r>
                        <a:rPr sz="1100" b="0"/>
                        <a:t>14,375,683</a:t>
                      </a:r>
                    </a:p>
                  </a:txBody>
                  <a:tcPr/>
                </a:tc>
                <a:tc>
                  <a:txBody>
                    <a:bodyPr/>
                    <a:lstStyle/>
                    <a:p>
                      <a:r>
                        <a:rPr sz="1100" b="0"/>
                        <a:t>14,540,278</a:t>
                      </a:r>
                    </a:p>
                  </a:txBody>
                  <a:tcPr/>
                </a:tc>
                <a:tc>
                  <a:txBody>
                    <a:bodyPr/>
                    <a:lstStyle/>
                    <a:p>
                      <a:r>
                        <a:rPr sz="1100" b="0"/>
                        <a:t>14,412,897</a:t>
                      </a:r>
                    </a:p>
                  </a:txBody>
                  <a:tcPr/>
                </a:tc>
                <a:tc>
                  <a:txBody>
                    <a:bodyPr/>
                    <a:lstStyle/>
                    <a:p>
                      <a:r>
                        <a:rPr sz="1100" b="0"/>
                        <a:t>13,967,540</a:t>
                      </a:r>
                    </a:p>
                  </a:txBody>
                  <a:tcPr/>
                </a:tc>
                <a:tc>
                  <a:txBody>
                    <a:bodyPr/>
                    <a:lstStyle/>
                    <a:p>
                      <a:r>
                        <a:rPr sz="1100" b="0"/>
                        <a:t>15,000,911</a:t>
                      </a:r>
                    </a:p>
                  </a:txBody>
                  <a:tcPr/>
                </a:tc>
              </a:tr>
              <a:tr h="388445">
                <a:tc>
                  <a:txBody>
                    <a:bodyPr/>
                    <a:lstStyle/>
                    <a:p>
                      <a:r>
                        <a:rPr sz="1100" b="0"/>
                        <a:t>滙豐(台灣)商業銀行</a:t>
                      </a:r>
                    </a:p>
                  </a:txBody>
                  <a:tcPr/>
                </a:tc>
                <a:tc>
                  <a:txBody>
                    <a:bodyPr/>
                    <a:lstStyle/>
                    <a:p>
                      <a:r>
                        <a:rPr sz="1100" b="0"/>
                        <a:t>8,279,847</a:t>
                      </a:r>
                    </a:p>
                  </a:txBody>
                  <a:tcPr/>
                </a:tc>
                <a:tc>
                  <a:txBody>
                    <a:bodyPr/>
                    <a:lstStyle/>
                    <a:p>
                      <a:r>
                        <a:rPr sz="1100" b="0"/>
                        <a:t>9,220,354</a:t>
                      </a:r>
                    </a:p>
                  </a:txBody>
                  <a:tcPr/>
                </a:tc>
                <a:tc>
                  <a:txBody>
                    <a:bodyPr/>
                    <a:lstStyle/>
                    <a:p>
                      <a:r>
                        <a:rPr sz="1100" b="0"/>
                        <a:t>8,917,125</a:t>
                      </a:r>
                    </a:p>
                  </a:txBody>
                  <a:tcPr/>
                </a:tc>
                <a:tc>
                  <a:txBody>
                    <a:bodyPr/>
                    <a:lstStyle/>
                    <a:p>
                      <a:r>
                        <a:rPr sz="1100" b="0"/>
                        <a:t>9,020,799</a:t>
                      </a:r>
                    </a:p>
                  </a:txBody>
                  <a:tcPr/>
                </a:tc>
                <a:tc>
                  <a:txBody>
                    <a:bodyPr/>
                    <a:lstStyle/>
                    <a:p>
                      <a:r>
                        <a:rPr sz="1100" b="0"/>
                        <a:t>9,330,429</a:t>
                      </a:r>
                    </a:p>
                  </a:txBody>
                  <a:tcPr/>
                </a:tc>
                <a:tc>
                  <a:txBody>
                    <a:bodyPr/>
                    <a:lstStyle/>
                    <a:p>
                      <a:r>
                        <a:rPr sz="1100" b="0"/>
                        <a:t>9,751,770</a:t>
                      </a:r>
                    </a:p>
                  </a:txBody>
                  <a:tcPr/>
                </a:tc>
                <a:tc>
                  <a:txBody>
                    <a:bodyPr/>
                    <a:lstStyle/>
                    <a:p>
                      <a:r>
                        <a:rPr sz="1100" b="0"/>
                        <a:t>12,010,721</a:t>
                      </a:r>
                    </a:p>
                  </a:txBody>
                  <a:tcPr/>
                </a:tc>
                <a:tc>
                  <a:txBody>
                    <a:bodyPr/>
                    <a:lstStyle/>
                    <a:p>
                      <a:r>
                        <a:rPr sz="1100" b="0"/>
                        <a:t>9,820,276</a:t>
                      </a:r>
                    </a:p>
                  </a:txBody>
                  <a:tcPr/>
                </a:tc>
                <a:tc>
                  <a:txBody>
                    <a:bodyPr/>
                    <a:lstStyle/>
                    <a:p>
                      <a:r>
                        <a:rPr sz="1100" b="0"/>
                        <a:t>10,194,971</a:t>
                      </a:r>
                    </a:p>
                  </a:txBody>
                  <a:tcPr/>
                </a:tc>
                <a:tc>
                  <a:txBody>
                    <a:bodyPr/>
                    <a:lstStyle/>
                    <a:p>
                      <a:r>
                        <a:rPr sz="1100" b="0"/>
                        <a:t>11,633,535</a:t>
                      </a:r>
                    </a:p>
                  </a:txBody>
                  <a:tcPr/>
                </a:tc>
                <a:tc>
                  <a:txBody>
                    <a:bodyPr/>
                    <a:lstStyle/>
                    <a:p>
                      <a:r>
                        <a:rPr sz="1100" b="0"/>
                        <a:t>10,415,918</a:t>
                      </a:r>
                    </a:p>
                  </a:txBody>
                  <a:tcPr/>
                </a:tc>
                <a:tc>
                  <a:txBody>
                    <a:bodyPr/>
                    <a:lstStyle/>
                    <a:p>
                      <a:r>
                        <a:rPr sz="1100" b="0"/>
                        <a:t>11,715,342</a:t>
                      </a:r>
                    </a:p>
                  </a:txBody>
                  <a:tcPr/>
                </a:tc>
              </a:tr>
              <a:tr h="388450">
                <a:tc>
                  <a:txBody>
                    <a:bodyPr/>
                    <a:lstStyle/>
                    <a:p>
                      <a:r>
                        <a:rPr sz="1100" b="0"/>
                        <a:t>第一商業銀行</a:t>
                      </a:r>
                    </a:p>
                  </a:txBody>
                  <a:tcPr/>
                </a:tc>
                <a:tc>
                  <a:txBody>
                    <a:bodyPr/>
                    <a:lstStyle/>
                    <a:p>
                      <a:r>
                        <a:rPr sz="1100" b="0"/>
                        <a:t>5,585,168</a:t>
                      </a:r>
                    </a:p>
                  </a:txBody>
                  <a:tcPr/>
                </a:tc>
                <a:tc>
                  <a:txBody>
                    <a:bodyPr/>
                    <a:lstStyle/>
                    <a:p>
                      <a:r>
                        <a:rPr sz="1100" b="0"/>
                        <a:t>7,043,300</a:t>
                      </a:r>
                    </a:p>
                  </a:txBody>
                  <a:tcPr/>
                </a:tc>
                <a:tc>
                  <a:txBody>
                    <a:bodyPr/>
                    <a:lstStyle/>
                    <a:p>
                      <a:r>
                        <a:rPr sz="1100" b="0"/>
                        <a:t>6,326,457</a:t>
                      </a:r>
                    </a:p>
                  </a:txBody>
                  <a:tcPr/>
                </a:tc>
                <a:tc>
                  <a:txBody>
                    <a:bodyPr/>
                    <a:lstStyle/>
                    <a:p>
                      <a:r>
                        <a:rPr sz="1100" b="0"/>
                        <a:t>6,469,282</a:t>
                      </a:r>
                    </a:p>
                  </a:txBody>
                  <a:tcPr/>
                </a:tc>
                <a:tc>
                  <a:txBody>
                    <a:bodyPr/>
                    <a:lstStyle/>
                    <a:p>
                      <a:r>
                        <a:rPr sz="1100" b="0"/>
                        <a:t>6,437,411</a:t>
                      </a:r>
                    </a:p>
                  </a:txBody>
                  <a:tcPr/>
                </a:tc>
                <a:tc>
                  <a:txBody>
                    <a:bodyPr/>
                    <a:lstStyle/>
                    <a:p>
                      <a:r>
                        <a:rPr sz="1100" b="0"/>
                        <a:t>6,620,350</a:t>
                      </a:r>
                    </a:p>
                  </a:txBody>
                  <a:tcPr/>
                </a:tc>
                <a:tc>
                  <a:txBody>
                    <a:bodyPr/>
                    <a:lstStyle/>
                    <a:p>
                      <a:r>
                        <a:rPr sz="1100" b="0"/>
                        <a:t>10,410,441</a:t>
                      </a:r>
                    </a:p>
                  </a:txBody>
                  <a:tcPr/>
                </a:tc>
                <a:tc>
                  <a:txBody>
                    <a:bodyPr/>
                    <a:lstStyle/>
                    <a:p>
                      <a:r>
                        <a:rPr sz="1100" b="0"/>
                        <a:t>6,450,972</a:t>
                      </a:r>
                    </a:p>
                  </a:txBody>
                  <a:tcPr/>
                </a:tc>
                <a:tc>
                  <a:txBody>
                    <a:bodyPr/>
                    <a:lstStyle/>
                    <a:p>
                      <a:r>
                        <a:rPr sz="1100" b="0"/>
                        <a:t>6,574,397</a:t>
                      </a:r>
                    </a:p>
                  </a:txBody>
                  <a:tcPr/>
                </a:tc>
                <a:tc>
                  <a:txBody>
                    <a:bodyPr/>
                    <a:lstStyle/>
                    <a:p>
                      <a:r>
                        <a:rPr sz="1100" b="0"/>
                        <a:t>7,618,009</a:t>
                      </a:r>
                    </a:p>
                  </a:txBody>
                  <a:tcPr/>
                </a:tc>
                <a:tc>
                  <a:txBody>
                    <a:bodyPr/>
                    <a:lstStyle/>
                    <a:p>
                      <a:r>
                        <a:rPr sz="1100" b="0"/>
                        <a:t>6,556,210</a:t>
                      </a:r>
                    </a:p>
                  </a:txBody>
                  <a:tcPr/>
                </a:tc>
                <a:tc>
                  <a:txBody>
                    <a:bodyPr/>
                    <a:lstStyle/>
                    <a:p>
                      <a:r>
                        <a:rPr sz="1100" b="0"/>
                        <a:t>7,583,238</a:t>
                      </a:r>
                    </a:p>
                  </a:txBody>
                  <a:tcPr/>
                </a:tc>
              </a:tr>
            </a:tbl>
          </a:graphicData>
        </a:graphic>
      </p:graphicFrame>
      <p:sp>
        <p:nvSpPr>
          <p:cNvPr id="7" name="TextBox 6"/>
          <p:cNvSpPr txBox="1"/>
          <p:nvPr/>
        </p:nvSpPr>
        <p:spPr>
          <a:xfrm>
            <a:off x="368595" y="6150000"/>
            <a:ext cx="11242500" cy="250000"/>
          </a:xfrm>
          <a:prstGeom prst="rect">
            <a:avLst/>
          </a:prstGeom>
          <a:noFill/>
        </p:spPr>
        <p:txBody>
          <a:bodyPr wrap="none">
            <a:spAutoFit/>
          </a:bodyPr>
          <a:lstStyle/>
          <a:p>
            <a:r>
              <a:rPr sz="1000" b="0">
                <a:solidFill>
                  <a:srgbClr val="666666"/>
                </a:solidFill>
                <a:latin typeface="微軟正黑體"/>
                <a:ea typeface="微軟正黑體"/>
                <a:cs typeface="微軟正黑體"/>
              </a:rPr>
              <a:t>本表數值與隨附 Excel 稽核檔逐格一致</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a:xfrm>
            <a:off x="368595" y="1247553"/>
            <a:ext cx="11242500" cy="4880100"/>
          </a:xfrm>
        </p:spPr>
        <p:txBody>
          <a:bodyPr wrap="square"/>
          <a:lstStyle/>
          <a:p>
            <a:pPr>
              <a:spcAft>
                <a:spcPts val="600"/>
              </a:spcAft>
            </a:pPr>
            <a:r>
              <a:rPr sz="1100" b="1">
                <a:solidFill>
                  <a:srgbClr val="C12026"/>
                </a:solidFill>
                <a:latin typeface="微軟正黑體"/>
                <a:ea typeface="微軟正黑體"/>
                <a:cs typeface="微軟正黑體"/>
              </a:rPr>
              <a:t>▸ Executive Summary｜</a:t>
            </a:r>
            <a:r>
              <a:rPr sz="1100" b="0">
                <a:solidFill>
                  <a:srgbClr val="4D4D4D"/>
                </a:solidFill>
                <a:latin typeface="微軟正黑體"/>
                <a:ea typeface="微軟正黑體"/>
                <a:cs typeface="微軟正黑體"/>
              </a:rPr>
              <a:t>市場規模於 </a:t>
            </a:r>
            <a:r>
              <a:rPr sz="1100" b="1">
                <a:solidFill>
                  <a:srgbClr val="1A1A1A"/>
                </a:solidFill>
                <a:highlight>
                  <a:srgbClr val="FFFF00"/>
                </a:highlight>
                <a:latin typeface="微軟正黑體"/>
                <a:ea typeface="微軟正黑體"/>
                <a:cs typeface="微軟正黑體"/>
              </a:rPr>
              <a:t>60,485,911</a:t>
            </a:r>
            <a:r>
              <a:rPr sz="1100" b="0">
                <a:solidFill>
                  <a:srgbClr val="4D4D4D"/>
                </a:solidFill>
                <a:latin typeface="微軟正黑體"/>
                <a:ea typeface="微軟正黑體"/>
                <a:cs typeface="微軟正黑體"/>
              </a:rPr>
              <a:t> 達到波段高點，全年動能主要由消費金額擴增所驅動</a:t>
            </a:r>
            <a:r>
              <a:rPr sz="1000" b="0">
                <a:solidFill>
                  <a:srgbClr val="666666"/>
                </a:solidFill>
                <a:latin typeface="微軟正黑體"/>
                <a:ea typeface="微軟正黑體"/>
                <a:cs typeface="微軟正黑體"/>
              </a:rPr>
              <a:t>（P.4）</a:t>
            </a:r>
          </a:p>
          <a:p>
            <a:pPr>
              <a:spcAft>
                <a:spcPts val="600"/>
              </a:spcAft>
            </a:pPr>
            <a:r>
              <a:rPr sz="1100" b="1">
                <a:solidFill>
                  <a:srgbClr val="C12026"/>
                </a:solidFill>
                <a:latin typeface="微軟正黑體"/>
                <a:ea typeface="微軟正黑體"/>
                <a:cs typeface="微軟正黑體"/>
              </a:rPr>
              <a:t>▸ 市場整體概況｜</a:t>
            </a:r>
            <a:r>
              <a:rPr sz="1100" b="0">
                <a:solidFill>
                  <a:srgbClr val="4D4D4D"/>
                </a:solidFill>
                <a:latin typeface="微軟正黑體"/>
                <a:ea typeface="微軟正黑體"/>
                <a:cs typeface="微軟正黑體"/>
              </a:rPr>
              <a:t>信用卡市場成長動能轉向消費頻次深化，流通卡數規模在 </a:t>
            </a:r>
            <a:r>
              <a:rPr sz="1100" b="1">
                <a:solidFill>
                  <a:srgbClr val="1A1A1A"/>
                </a:solidFill>
                <a:highlight>
                  <a:srgbClr val="FFFF00"/>
                </a:highlight>
                <a:latin typeface="微軟正黑體"/>
                <a:ea typeface="微軟正黑體"/>
                <a:cs typeface="微軟正黑體"/>
              </a:rPr>
              <a:t>11412</a:t>
            </a:r>
            <a:r>
              <a:rPr sz="1100" b="0">
                <a:solidFill>
                  <a:srgbClr val="4D4D4D"/>
                </a:solidFill>
                <a:latin typeface="微軟正黑體"/>
                <a:ea typeface="微軟正黑體"/>
                <a:cs typeface="微軟正黑體"/>
              </a:rPr>
              <a:t> 達到波段高峰後進入實質存量調整階段</a:t>
            </a:r>
            <a:r>
              <a:rPr sz="1000" b="0">
                <a:solidFill>
                  <a:srgbClr val="666666"/>
                </a:solidFill>
                <a:latin typeface="微軟正黑體"/>
                <a:ea typeface="微軟正黑體"/>
                <a:cs typeface="微軟正黑體"/>
              </a:rPr>
              <a:t>（P.6）</a:t>
            </a:r>
          </a:p>
          <a:p>
            <a:pPr>
              <a:spcAft>
                <a:spcPts val="600"/>
              </a:spcAft>
            </a:pPr>
            <a:r>
              <a:rPr sz="1100" b="1">
                <a:solidFill>
                  <a:srgbClr val="C12026"/>
                </a:solidFill>
                <a:latin typeface="微軟正黑體"/>
                <a:ea typeface="微軟正黑體"/>
                <a:cs typeface="微軟正黑體"/>
              </a:rPr>
              <a:t>▸ 同業成長及競爭分析｜</a:t>
            </a:r>
            <a:r>
              <a:rPr sz="1100" b="0">
                <a:solidFill>
                  <a:srgbClr val="4D4D4D"/>
                </a:solidFill>
                <a:latin typeface="微軟正黑體"/>
                <a:ea typeface="微軟正黑體"/>
                <a:cs typeface="微軟正黑體"/>
              </a:rPr>
              <a:t>台新銀行在流通卡數市場份額位居前 5 大，其佔比達 </a:t>
            </a:r>
            <a:r>
              <a:rPr sz="1100" b="1">
                <a:solidFill>
                  <a:srgbClr val="1A1A1A"/>
                </a:solidFill>
                <a:highlight>
                  <a:srgbClr val="FFFF00"/>
                </a:highlight>
                <a:latin typeface="微軟正黑體"/>
                <a:ea typeface="微軟正黑體"/>
                <a:cs typeface="微軟正黑體"/>
              </a:rPr>
              <a:t>11.0%</a:t>
            </a:r>
            <a:r>
              <a:rPr sz="1100" b="0">
                <a:solidFill>
                  <a:srgbClr val="4D4D4D"/>
                </a:solidFill>
                <a:latin typeface="微軟正黑體"/>
                <a:ea typeface="微軟正黑體"/>
                <a:cs typeface="微軟正黑體"/>
              </a:rPr>
              <a:t>，顯示穩固的市場基本盤</a:t>
            </a:r>
            <a:r>
              <a:rPr sz="1000" b="0">
                <a:solidFill>
                  <a:srgbClr val="666666"/>
                </a:solidFill>
                <a:latin typeface="微軟正黑體"/>
                <a:ea typeface="微軟正黑體"/>
                <a:cs typeface="微軟正黑體"/>
              </a:rPr>
              <a:t>（P.8）</a:t>
            </a:r>
          </a:p>
          <a:p>
            <a:pPr>
              <a:spcAft>
                <a:spcPts val="600"/>
              </a:spcAft>
            </a:pPr>
            <a:r>
              <a:rPr sz="1100" b="1">
                <a:solidFill>
                  <a:srgbClr val="C12026"/>
                </a:solidFill>
                <a:latin typeface="微軟正黑體"/>
                <a:ea typeface="微軟正黑體"/>
                <a:cs typeface="微軟正黑體"/>
              </a:rPr>
              <a:t>▸ 客戶活躍度｜</a:t>
            </a:r>
            <a:r>
              <a:rPr sz="1100" b="0">
                <a:solidFill>
                  <a:srgbClr val="4D4D4D"/>
                </a:solidFill>
                <a:latin typeface="微軟正黑體"/>
                <a:ea typeface="微軟正黑體"/>
                <a:cs typeface="微軟正黑體"/>
              </a:rPr>
              <a:t>台新銀行有效卡數市場占比達 </a:t>
            </a:r>
            <a:r>
              <a:rPr sz="1100" b="1">
                <a:solidFill>
                  <a:srgbClr val="1A1A1A"/>
                </a:solidFill>
                <a:highlight>
                  <a:srgbClr val="FFFF00"/>
                </a:highlight>
                <a:latin typeface="微軟正黑體"/>
                <a:ea typeface="微軟正黑體"/>
                <a:cs typeface="微軟正黑體"/>
              </a:rPr>
              <a:t>12.0%</a:t>
            </a:r>
            <a:r>
              <a:rPr sz="1100" b="0">
                <a:solidFill>
                  <a:srgbClr val="4D4D4D"/>
                </a:solidFill>
                <a:latin typeface="微軟正黑體"/>
                <a:ea typeface="微軟正黑體"/>
                <a:cs typeface="微軟正黑體"/>
              </a:rPr>
              <a:t>，在競爭激烈的存量市場中位居前段班地位</a:t>
            </a:r>
            <a:r>
              <a:rPr sz="1000" b="0">
                <a:solidFill>
                  <a:srgbClr val="666666"/>
                </a:solidFill>
                <a:latin typeface="微軟正黑體"/>
                <a:ea typeface="微軟正黑體"/>
                <a:cs typeface="微軟正黑體"/>
              </a:rPr>
              <a:t>（P.10）</a:t>
            </a:r>
          </a:p>
          <a:p>
            <a:pPr>
              <a:spcAft>
                <a:spcPts val="600"/>
              </a:spcAft>
            </a:pPr>
            <a:r>
              <a:rPr sz="1100" b="1">
                <a:solidFill>
                  <a:srgbClr val="C12026"/>
                </a:solidFill>
                <a:latin typeface="微軟正黑體"/>
                <a:ea typeface="微軟正黑體"/>
                <a:cs typeface="微軟正黑體"/>
              </a:rPr>
              <a:t>▸ 獲利能力｜</a:t>
            </a:r>
            <a:r>
              <a:rPr sz="1100" b="0">
                <a:solidFill>
                  <a:srgbClr val="4D4D4D"/>
                </a:solidFill>
                <a:latin typeface="微軟正黑體"/>
                <a:ea typeface="微軟正黑體"/>
                <a:cs typeface="微軟正黑體"/>
              </a:rPr>
              <a:t>台新銀行於循環信用餘額市場占比具備穩固地位，其最高水準達 </a:t>
            </a:r>
            <a:r>
              <a:rPr sz="1100" b="1">
                <a:solidFill>
                  <a:srgbClr val="1A1A1A"/>
                </a:solidFill>
                <a:highlight>
                  <a:srgbClr val="FFFF00"/>
                </a:highlight>
                <a:latin typeface="微軟正黑體"/>
                <a:ea typeface="微軟正黑體"/>
                <a:cs typeface="微軟正黑體"/>
              </a:rPr>
              <a:t>18.7%</a:t>
            </a:r>
            <a:r>
              <a:rPr sz="1100" b="0">
                <a:solidFill>
                  <a:srgbClr val="4D4D4D"/>
                </a:solidFill>
                <a:latin typeface="微軟正黑體"/>
                <a:ea typeface="微軟正黑體"/>
                <a:cs typeface="微軟正黑體"/>
              </a:rPr>
              <a:t>，顯示利息收入核心動能維持穩健。</a:t>
            </a:r>
            <a:r>
              <a:rPr sz="1000" b="0">
                <a:solidFill>
                  <a:srgbClr val="666666"/>
                </a:solidFill>
                <a:latin typeface="微軟正黑體"/>
                <a:ea typeface="微軟正黑體"/>
                <a:cs typeface="微軟正黑體"/>
              </a:rPr>
              <a:t>（P.12）</a:t>
            </a:r>
          </a:p>
          <a:p>
            <a:pPr>
              <a:spcAft>
                <a:spcPts val="600"/>
              </a:spcAft>
            </a:pPr>
            <a:r>
              <a:rPr sz="1100" b="1">
                <a:solidFill>
                  <a:srgbClr val="C12026"/>
                </a:solidFill>
                <a:latin typeface="微軟正黑體"/>
                <a:ea typeface="微軟正黑體"/>
                <a:cs typeface="微軟正黑體"/>
              </a:rPr>
              <a:t>▸ 風險與警訊｜</a:t>
            </a:r>
            <a:r>
              <a:rPr sz="1100" b="0">
                <a:solidFill>
                  <a:srgbClr val="4D4D4D"/>
                </a:solidFill>
                <a:latin typeface="微軟正黑體"/>
                <a:ea typeface="微軟正黑體"/>
                <a:cs typeface="微軟正黑體"/>
              </a:rPr>
              <a:t>台新銀行轉銷呆帳金額占比達 </a:t>
            </a:r>
            <a:r>
              <a:rPr sz="1100" b="1">
                <a:solidFill>
                  <a:srgbClr val="1A1A1A"/>
                </a:solidFill>
                <a:highlight>
                  <a:srgbClr val="FFFF00"/>
                </a:highlight>
                <a:latin typeface="微軟正黑體"/>
                <a:ea typeface="微軟正黑體"/>
                <a:cs typeface="微軟正黑體"/>
              </a:rPr>
              <a:t>6.6%</a:t>
            </a:r>
            <a:r>
              <a:rPr sz="1100" b="0">
                <a:solidFill>
                  <a:srgbClr val="4D4D4D"/>
                </a:solidFill>
                <a:latin typeface="微軟正黑體"/>
                <a:ea typeface="微軟正黑體"/>
                <a:cs typeface="微軟正黑體"/>
              </a:rPr>
              <a:t>，資產品質結構需持續追蹤其變動趨勢</a:t>
            </a:r>
            <a:r>
              <a:rPr sz="1000" b="0">
                <a:solidFill>
                  <a:srgbClr val="666666"/>
                </a:solidFill>
                <a:latin typeface="微軟正黑體"/>
                <a:ea typeface="微軟正黑體"/>
                <a:cs typeface="微軟正黑體"/>
              </a:rPr>
              <a:t>（P.14）</a:t>
            </a:r>
          </a:p>
          <a:p>
            <a:pPr>
              <a:spcAft>
                <a:spcPts val="600"/>
              </a:spcAft>
            </a:pPr>
            <a:r>
              <a:rPr sz="1100" b="1">
                <a:solidFill>
                  <a:srgbClr val="C12026"/>
                </a:solidFill>
                <a:latin typeface="微軟正黑體"/>
                <a:ea typeface="微軟正黑體"/>
                <a:cs typeface="微軟正黑體"/>
              </a:rPr>
              <a:t>▸ 未來趨勢推測｜</a:t>
            </a:r>
            <a:r>
              <a:rPr sz="1100" b="0">
                <a:solidFill>
                  <a:srgbClr val="4D4D4D"/>
                </a:solidFill>
                <a:latin typeface="微軟正黑體"/>
                <a:ea typeface="微軟正黑體"/>
                <a:cs typeface="微軟正黑體"/>
              </a:rPr>
              <a:t>未來市場整體業務指標預估顯示流通卡數將達 </a:t>
            </a:r>
            <a:r>
              <a:rPr sz="1100" b="1">
                <a:solidFill>
                  <a:srgbClr val="1A1A1A"/>
                </a:solidFill>
                <a:highlight>
                  <a:srgbClr val="FFFF00"/>
                </a:highlight>
                <a:latin typeface="微軟正黑體"/>
                <a:ea typeface="微軟正黑體"/>
                <a:cs typeface="微軟正黑體"/>
              </a:rPr>
              <a:t>61,307,739.5</a:t>
            </a:r>
            <a:r>
              <a:rPr sz="1100" b="0">
                <a:solidFill>
                  <a:srgbClr val="4D4D4D"/>
                </a:solidFill>
                <a:latin typeface="微軟正黑體"/>
                <a:ea typeface="微軟正黑體"/>
                <a:cs typeface="微軟正黑體"/>
              </a:rPr>
              <a:t>，簽帳金額維持成長態勢，呆帳風險則在可控範圍內</a:t>
            </a:r>
            <a:r>
              <a:rPr sz="1000" b="0">
                <a:solidFill>
                  <a:srgbClr val="666666"/>
                </a:solidFill>
                <a:latin typeface="微軟正黑體"/>
                <a:ea typeface="微軟正黑體"/>
                <a:cs typeface="微軟正黑體"/>
              </a:rPr>
              <a:t>（P.16）</a:t>
            </a:r>
          </a:p>
          <a:p>
            <a:pPr>
              <a:spcAft>
                <a:spcPts val="600"/>
              </a:spcAft>
            </a:pPr>
            <a:r>
              <a:rPr sz="1100" b="1">
                <a:solidFill>
                  <a:srgbClr val="C12026"/>
                </a:solidFill>
                <a:latin typeface="微軟正黑體"/>
                <a:ea typeface="微軟正黑體"/>
                <a:cs typeface="微軟正黑體"/>
              </a:rPr>
              <a:t>▸ 對台新的策略建議｜</a:t>
            </a:r>
            <a:r>
              <a:rPr sz="1100" b="0">
                <a:solidFill>
                  <a:srgbClr val="4D4D4D"/>
                </a:solidFill>
                <a:latin typeface="微軟正黑體"/>
                <a:ea typeface="微軟正黑體"/>
                <a:cs typeface="微軟正黑體"/>
              </a:rPr>
              <a:t>台新於前十大同業中之當月簽帳金額為 </a:t>
            </a:r>
            <a:r>
              <a:rPr sz="1100" b="1">
                <a:solidFill>
                  <a:srgbClr val="1A1A1A"/>
                </a:solidFill>
                <a:highlight>
                  <a:srgbClr val="FFFF00"/>
                </a:highlight>
                <a:latin typeface="微軟正黑體"/>
                <a:ea typeface="微軟正黑體"/>
                <a:cs typeface="微軟正黑體"/>
              </a:rPr>
              <a:t>48,399,932</a:t>
            </a:r>
            <a:r>
              <a:rPr sz="1100" b="0">
                <a:solidFill>
                  <a:srgbClr val="4D4D4D"/>
                </a:solidFill>
                <a:latin typeface="微軟正黑體"/>
                <a:ea typeface="微軟正黑體"/>
                <a:cs typeface="微軟正黑體"/>
              </a:rPr>
              <a:t>，應聚焦高資產客群以優化獲利結構</a:t>
            </a:r>
            <a:r>
              <a:rPr sz="1000" b="0">
                <a:solidFill>
                  <a:srgbClr val="666666"/>
                </a:solidFill>
                <a:latin typeface="微軟正黑體"/>
                <a:ea typeface="微軟正黑體"/>
                <a:cs typeface="微軟正黑體"/>
              </a:rPr>
              <a:t>（P.18）</a:t>
            </a:r>
          </a:p>
        </p:txBody>
      </p:sp>
      <p:sp>
        <p:nvSpPr>
          <p:cNvPr id="3" name="Title 2"/>
          <p:cNvSpPr>
            <a:spLocks noGrp="1"/>
          </p:cNvSpPr>
          <p:nvPr>
            <p:ph type="title"/>
          </p:nvPr>
        </p:nvSpPr>
        <p:spPr/>
        <p:txBody>
          <a:bodyPr/>
          <a:lstStyle/>
          <a:p>
            <a:pPr algn="l"/>
            <a:r>
              <a:rPr sz="2200" b="0">
                <a:solidFill>
                  <a:srgbClr val="1A1A1A"/>
                </a:solidFill>
                <a:latin typeface="微軟正黑體"/>
                <a:ea typeface="微軟正黑體"/>
                <a:cs typeface="微軟正黑體"/>
              </a:rPr>
              <a:t>結論與後續行動</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200" b="1">
                <a:solidFill>
                  <a:srgbClr val="4D4D4D"/>
                </a:solidFill>
                <a:latin typeface="微軟正黑體"/>
                <a:ea typeface="微軟正黑體"/>
                <a:cs typeface="微軟正黑體"/>
              </a:rPr>
              <a:t>感謝聆聽</a:t>
            </a:r>
          </a:p>
        </p:txBody>
      </p:sp>
    </p:spTree>
  </p:cSld>
  <p:clrMapOvr>
    <a:masterClrMapping/>
  </p:clrMapOvr>
</p:sld>
</file>

<file path=ppt/theme/theme1.xml><?xml version="1.0" encoding="utf-8"?>
<a:theme xmlns:a="http://schemas.openxmlformats.org/drawingml/2006/main" name="1_Office 佈景主題">
  <a:themeElements>
    <a:clrScheme name="Office 佈景主題">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2</Words>
  <Application>Microsoft Office PowerPoint</Application>
  <PresentationFormat>寬螢幕</PresentationFormat>
  <Paragraphs>2</Paragraphs>
  <Slides>5</Slides>
  <Notes>0</Notes>
  <HiddenSlides>0</HiddenSlides>
  <MMClips>0</MMClips>
  <ScaleCrop>false</ScaleCrop>
  <HeadingPairs>
    <vt:vector size="6" baseType="variant">
      <vt:variant>
        <vt:lpstr>使用字型</vt:lpstr>
      </vt:variant>
      <vt:variant>
        <vt:i4>4</vt:i4>
      </vt:variant>
      <vt:variant>
        <vt:lpstr>佈景主題</vt:lpstr>
      </vt:variant>
      <vt:variant>
        <vt:i4>1</vt:i4>
      </vt:variant>
      <vt:variant>
        <vt:lpstr>投影片標題</vt:lpstr>
      </vt:variant>
      <vt:variant>
        <vt:i4>5</vt:i4>
      </vt:variant>
    </vt:vector>
  </HeadingPairs>
  <TitlesOfParts>
    <vt:vector size="10" baseType="lpstr">
      <vt:lpstr>Noto Sans Symbols</vt:lpstr>
      <vt:lpstr>Microsoft JhengHei</vt:lpstr>
      <vt:lpstr>Arial</vt:lpstr>
      <vt:lpstr>Noto Sans</vt:lpstr>
      <vt:lpstr>1_Office 佈景主題</vt:lpstr>
      <vt:lpstr>PowerPoint 簡報</vt:lpstr>
      <vt:lpstr>PowerPoint 簡報</vt:lpstr>
      <vt:lpstr>PowerPoint 簡報</vt:lpstr>
      <vt:lpstr>PowerPoint 簡報</vt:lpstr>
      <vt:lpstr>PowerPoint 簡報</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蕭宇喬</dc:creator>
  <cp:lastModifiedBy>蕭宇喬</cp:lastModifiedBy>
  <cp:revision>2</cp:revision>
  <dcterms:created xsi:type="dcterms:W3CDTF">2026-05-26T08:53:52Z</dcterms:created>
  <dcterms:modified xsi:type="dcterms:W3CDTF">2026-05-26T08:55:08Z</dcterms:modified>
</cp:coreProperties>
</file>