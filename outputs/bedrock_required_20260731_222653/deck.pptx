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42" r:id="rId6"/>
    <p:sldId id="343" r:id="rId5"/>
    <p:sldId id="344" r:id="rId4"/>
    <p:sldId id="345" r:id="rId3"/>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90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市場規模雙引擎：流通卡數與簽帳金額成長軌跡</a:t>
            </a:r>
          </a:p>
        </c:rich>
      </c:tx>
      <c:layout/>
      <c:overlay val="0"/>
    </c:title>
    <c:autoTitleDeleted val="0"/>
    <c:plotArea>
      <c:barChart>
        <c:barDir val="col"/>
        <c:grouping val="clustered"/>
        <c:ser>
          <c:idx val="0"/>
          <c:order val="0"/>
          <c:tx>
            <c:strRef>
              <c:f>Sheet1!$B$1</c:f>
              <c:strCache>
                <c:ptCount val="1"/>
                <c:pt idx="0">
                  <c:v>流通卡數</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Sheet1!$B$2:$B$25</c:f>
              <c:numCache>
                <c:formatCode>General</c:formatCode>
                <c:ptCount val="24"/>
                <c:pt idx="0">
                  <c:v>58799464.0</c:v>
                </c:pt>
                <c:pt idx="1">
                  <c:v>58866498.0</c:v>
                </c:pt>
                <c:pt idx="2">
                  <c:v>58913203.0</c:v>
                </c:pt>
                <c:pt idx="3">
                  <c:v>58965522.0</c:v>
                </c:pt>
                <c:pt idx="4">
                  <c:v>59039098.0</c:v>
                </c:pt>
                <c:pt idx="5">
                  <c:v>58874035.0</c:v>
                </c:pt>
                <c:pt idx="6">
                  <c:v>58581705.0</c:v>
                </c:pt>
                <c:pt idx="7">
                  <c:v>58690696.0</c:v>
                </c:pt>
                <c:pt idx="8">
                  <c:v>58596279.0</c:v>
                </c:pt>
                <c:pt idx="9">
                  <c:v>58655885.0</c:v>
                </c:pt>
                <c:pt idx="10">
                  <c:v>58617119.0</c:v>
                </c:pt>
                <c:pt idx="11">
                  <c:v>58584971.0</c:v>
                </c:pt>
                <c:pt idx="12">
                  <c:v>58654745.0</c:v>
                </c:pt>
                <c:pt idx="13">
                  <c:v>58747562.0</c:v>
                </c:pt>
                <c:pt idx="14">
                  <c:v>58994262.0</c:v>
                </c:pt>
                <c:pt idx="15">
                  <c:v>59388667.0</c:v>
                </c:pt>
                <c:pt idx="16">
                  <c:v>59795907.0</c:v>
                </c:pt>
                <c:pt idx="17">
                  <c:v>59869255.0</c:v>
                </c:pt>
                <c:pt idx="18">
                  <c:v>59947219.0</c:v>
                </c:pt>
                <c:pt idx="19">
                  <c:v>60149284.0</c:v>
                </c:pt>
                <c:pt idx="20">
                  <c:v>60354497.0</c:v>
                </c:pt>
                <c:pt idx="21">
                  <c:v>60479206.0</c:v>
                </c:pt>
                <c:pt idx="22">
                  <c:v>60424521.0</c:v>
                </c:pt>
                <c:pt idx="23">
                  <c:v>60485911.0</c:v>
                </c:pt>
              </c:numCache>
            </c:numRef>
          </c:val>
        </c:ser>
        <c:axId val="-2068027336"/>
        <c:axId val="-2113994440"/>
      </c:barChart>
      <c:lineChart>
        <c:grouping val="standard"/>
        <c:varyColors val="0"/>
        <c:ser>
          <c:idx val="1"/>
          <c:order val="1"/>
          <c:tx>
            <c:strRef>
              <c:f>Sheet1!$C$1</c:f>
              <c:strCache>
                <c:ptCount val="1"/>
                <c:pt idx="0">
                  <c:v>當月簽帳金額</c:v>
                </c:pt>
              </c:strCache>
            </c:strRef>
          </c:tx>
          <c:marker>
            <c:symbol val="circle"/>
            <c:size val="7"/>
          </c:marker>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Sheet1!$C$2:$C$25</c:f>
              <c:numCache>
                <c:formatCode>General</c:formatCode>
                <c:ptCount val="24"/>
                <c:pt idx="0">
                  <c:v>385195508.0</c:v>
                </c:pt>
                <c:pt idx="1">
                  <c:v>321835011.0</c:v>
                </c:pt>
                <c:pt idx="2">
                  <c:v>340536007.0</c:v>
                </c:pt>
                <c:pt idx="3">
                  <c:v>359655298.0</c:v>
                </c:pt>
                <c:pt idx="4">
                  <c:v>372768849.0</c:v>
                </c:pt>
                <c:pt idx="5">
                  <c:v>556517801.0</c:v>
                </c:pt>
                <c:pt idx="6">
                  <c:v>396750829.0</c:v>
                </c:pt>
                <c:pt idx="7">
                  <c:v>365188821.0</c:v>
                </c:pt>
                <c:pt idx="8">
                  <c:v>367656411.0</c:v>
                </c:pt>
                <c:pt idx="9">
                  <c:v>404842142.0</c:v>
                </c:pt>
                <c:pt idx="10">
                  <c:v>385476992.0</c:v>
                </c:pt>
                <c:pt idx="11">
                  <c:v>420176761.0</c:v>
                </c:pt>
                <c:pt idx="12">
                  <c:v>338561389.0</c:v>
                </c:pt>
                <c:pt idx="13">
                  <c:v>395294658.0</c:v>
                </c:pt>
                <c:pt idx="14">
                  <c:v>377172642.0</c:v>
                </c:pt>
                <c:pt idx="15">
                  <c:v>373344235.0</c:v>
                </c:pt>
                <c:pt idx="16">
                  <c:v>371785303.0</c:v>
                </c:pt>
                <c:pt idx="17">
                  <c:v>393715829.0</c:v>
                </c:pt>
                <c:pt idx="18">
                  <c:v>653264628.0</c:v>
                </c:pt>
                <c:pt idx="19">
                  <c:v>376250456.0</c:v>
                </c:pt>
                <c:pt idx="20">
                  <c:v>403174279.0</c:v>
                </c:pt>
                <c:pt idx="21">
                  <c:v>453412126.0</c:v>
                </c:pt>
                <c:pt idx="22">
                  <c:v>396704763.0</c:v>
                </c:pt>
                <c:pt idx="23">
                  <c:v>453663538.0</c:v>
                </c:pt>
              </c:numCache>
            </c:numRef>
          </c:val>
          <c:smooth val="0"/>
        </c:ser>
        <c:marker val="1"/>
        <c:axId val="100000001"/>
        <c:axId val="100000002"/>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catAx>
        <c:axId val="100000001"/>
        <c:scaling>
          <c:orientation val="minMax"/>
        </c:scaling>
        <c:delete val="1"/>
        <c:axPos val="b"/>
        <c:crossAx val="100000002"/>
      </c:catAx>
      <c:valAx>
        <c:axId val="100000002"/>
        <c:scaling>
          <c:orientation val="minMax"/>
        </c:scaling>
        <c:delete val="0"/>
        <c:axPos val="r"/>
        <c:numFmt formatCode="General" sourceLinked="0"/>
        <c:majorTickMark val="out"/>
        <c:minorTickMark val="none"/>
        <c:tickLblPos val="nextTo"/>
        <c:crossAx val="100000001"/>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交易量 vs 信用餘額成長率：識別市場成長驅動力</a:t>
            </a:r>
          </a:p>
        </c:rich>
      </c:tx>
      <c:layout/>
      <c:overlay val="0"/>
    </c:title>
    <c:autoTitleDeleted val="0"/>
    <c:plotArea>
      <c:lineChart>
        <c:grouping val="standard"/>
        <c:varyColors val="0"/>
        <c:ser>
          <c:idx val="0"/>
          <c:order val="0"/>
          <c:tx>
            <c:strRef>
              <c:f>Sheet1!$B$1</c:f>
              <c:strCache>
                <c:ptCount val="1"/>
                <c:pt idx="0">
                  <c:v>當月簽帳金額</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Sheet1!$B$2:$B$25</c:f>
              <c:numCache>
                <c:formatCode>General</c:formatCode>
                <c:ptCount val="24"/>
                <c:pt idx="1">
                  <c:v>-16.4489</c:v>
                </c:pt>
                <c:pt idx="2">
                  <c:v>5.8107</c:v>
                </c:pt>
                <c:pt idx="3">
                  <c:v>5.6145</c:v>
                </c:pt>
                <c:pt idx="4">
                  <c:v>3.6461</c:v>
                </c:pt>
                <c:pt idx="5">
                  <c:v>49.293</c:v>
                </c:pt>
                <c:pt idx="6">
                  <c:v>-28.7083</c:v>
                </c:pt>
                <c:pt idx="7">
                  <c:v>-7.9551</c:v>
                </c:pt>
                <c:pt idx="8">
                  <c:v>0.6757</c:v>
                </c:pt>
                <c:pt idx="9">
                  <c:v>10.1143</c:v>
                </c:pt>
                <c:pt idx="10">
                  <c:v>-4.7834</c:v>
                </c:pt>
                <c:pt idx="11">
                  <c:v>9.0018</c:v>
                </c:pt>
                <c:pt idx="12">
                  <c:v>-19.4241</c:v>
                </c:pt>
                <c:pt idx="13">
                  <c:v>16.7572</c:v>
                </c:pt>
                <c:pt idx="14">
                  <c:v>-4.5844</c:v>
                </c:pt>
                <c:pt idx="15">
                  <c:v>-1.015</c:v>
                </c:pt>
                <c:pt idx="16">
                  <c:v>-0.4176</c:v>
                </c:pt>
                <c:pt idx="17">
                  <c:v>5.8987</c:v>
                </c:pt>
                <c:pt idx="18">
                  <c:v>65.9229</c:v>
                </c:pt>
                <c:pt idx="19">
                  <c:v>-42.4046</c:v>
                </c:pt>
                <c:pt idx="20">
                  <c:v>7.1558</c:v>
                </c:pt>
                <c:pt idx="21">
                  <c:v>12.4606</c:v>
                </c:pt>
                <c:pt idx="22">
                  <c:v>-12.5068</c:v>
                </c:pt>
                <c:pt idx="23">
                  <c:v>14.358</c:v>
                </c:pt>
              </c:numCache>
            </c:numRef>
          </c:val>
          <c:smooth val="0"/>
        </c:ser>
        <c:ser>
          <c:idx val="1"/>
          <c:order val="1"/>
          <c:tx>
            <c:strRef>
              <c:f>Sheet1!$C$1</c:f>
              <c:strCache>
                <c:ptCount val="1"/>
                <c:pt idx="0">
                  <c:v>循環信用餘額</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Sheet1!$C$2:$C$25</c:f>
              <c:numCache>
                <c:formatCode>General</c:formatCode>
                <c:ptCount val="24"/>
                <c:pt idx="1">
                  <c:v>-2.5929</c:v>
                </c:pt>
                <c:pt idx="2">
                  <c:v>3.395</c:v>
                </c:pt>
                <c:pt idx="3">
                  <c:v>2.0468</c:v>
                </c:pt>
                <c:pt idx="4">
                  <c:v>-0.9215</c:v>
                </c:pt>
                <c:pt idx="5">
                  <c:v>2.1462</c:v>
                </c:pt>
                <c:pt idx="6">
                  <c:v>-0.3442</c:v>
                </c:pt>
                <c:pt idx="7">
                  <c:v>1.3802</c:v>
                </c:pt>
                <c:pt idx="8">
                  <c:v>0.6261</c:v>
                </c:pt>
                <c:pt idx="9">
                  <c:v>0.6172</c:v>
                </c:pt>
                <c:pt idx="10">
                  <c:v>0.8552</c:v>
                </c:pt>
                <c:pt idx="11">
                  <c:v>1.7354</c:v>
                </c:pt>
                <c:pt idx="12">
                  <c:v>-2.3327</c:v>
                </c:pt>
                <c:pt idx="13">
                  <c:v>-0.6624</c:v>
                </c:pt>
                <c:pt idx="14">
                  <c:v>0.2728</c:v>
                </c:pt>
                <c:pt idx="15">
                  <c:v>0.769</c:v>
                </c:pt>
                <c:pt idx="16">
                  <c:v>-0.4941</c:v>
                </c:pt>
                <c:pt idx="17">
                  <c:v>1.7873</c:v>
                </c:pt>
                <c:pt idx="18">
                  <c:v>-0.858</c:v>
                </c:pt>
                <c:pt idx="19">
                  <c:v>0.5086</c:v>
                </c:pt>
                <c:pt idx="20">
                  <c:v>1.8566</c:v>
                </c:pt>
                <c:pt idx="21">
                  <c:v>0.628</c:v>
                </c:pt>
                <c:pt idx="22">
                  <c:v>-0.1157</c:v>
                </c:pt>
                <c:pt idx="23">
                  <c:v>0.6894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轉銷呆帳金額趨勢：信用風險變化監測</a:t>
            </a:r>
          </a:p>
        </c:rich>
      </c:tx>
      <c:layout/>
      <c:overlay val="0"/>
    </c:title>
    <c:autoTitleDeleted val="0"/>
    <c:plotArea>
      <c:lineChart>
        <c:grouping val="standard"/>
        <c:varyColors val="0"/>
        <c:ser>
          <c:idx val="0"/>
          <c:order val="0"/>
          <c:tx>
            <c:strRef>
              <c:f>Sheet1!$B$1</c:f>
              <c:strCache>
                <c:ptCount val="1"/>
                <c:pt idx="0">
                  <c:v>當月轉銷呆帳金額</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Sheet1!$B$2:$B$25</c:f>
              <c:numCache>
                <c:formatCode>General</c:formatCode>
                <c:ptCount val="24"/>
                <c:pt idx="0">
                  <c:v>502737.0</c:v>
                </c:pt>
                <c:pt idx="1">
                  <c:v>553738.0</c:v>
                </c:pt>
                <c:pt idx="2">
                  <c:v>606315.0</c:v>
                </c:pt>
                <c:pt idx="3">
                  <c:v>580950.0</c:v>
                </c:pt>
                <c:pt idx="4">
                  <c:v>575796.0</c:v>
                </c:pt>
                <c:pt idx="5">
                  <c:v>627070.0</c:v>
                </c:pt>
                <c:pt idx="6">
                  <c:v>636838.0</c:v>
                </c:pt>
                <c:pt idx="7">
                  <c:v>621323.0</c:v>
                </c:pt>
                <c:pt idx="8">
                  <c:v>660092.0</c:v>
                </c:pt>
                <c:pt idx="9">
                  <c:v>666825.0</c:v>
                </c:pt>
                <c:pt idx="10">
                  <c:v>679320.0</c:v>
                </c:pt>
                <c:pt idx="11">
                  <c:v>703963.0</c:v>
                </c:pt>
                <c:pt idx="12">
                  <c:v>654750.0</c:v>
                </c:pt>
                <c:pt idx="13">
                  <c:v>611054.0</c:v>
                </c:pt>
                <c:pt idx="14">
                  <c:v>641539.0</c:v>
                </c:pt>
                <c:pt idx="15">
                  <c:v>615972.0</c:v>
                </c:pt>
                <c:pt idx="16">
                  <c:v>600844.0</c:v>
                </c:pt>
                <c:pt idx="17">
                  <c:v>617225.0</c:v>
                </c:pt>
                <c:pt idx="18">
                  <c:v>589078.0</c:v>
                </c:pt>
                <c:pt idx="19">
                  <c:v>572496.0</c:v>
                </c:pt>
                <c:pt idx="20">
                  <c:v>632705.0</c:v>
                </c:pt>
                <c:pt idx="21">
                  <c:v>623815.0</c:v>
                </c:pt>
                <c:pt idx="22">
                  <c:v>601876.0</c:v>
                </c:pt>
                <c:pt idx="23">
                  <c:v>645165.0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有效卡數與簽帳金額成長同步性分析——客戶基數擴張是否驅動消費成長</a:t>
            </a:r>
          </a:p>
        </c:rich>
      </c:tx>
      <c:layout/>
      <c:overlay val="0"/>
    </c:title>
    <c:autoTitleDeleted val="0"/>
    <c:plotArea>
      <c:barChart>
        <c:barDir val="col"/>
        <c:grouping val="clustered"/>
        <c:ser>
          <c:idx val="0"/>
          <c:order val="0"/>
          <c:tx>
            <c:strRef>
              <c:f>Sheet1!$B$1</c:f>
              <c:strCache>
                <c:ptCount val="1"/>
                <c:pt idx="0">
                  <c:v>有效卡數</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Sheet1!$B$2:$B$25</c:f>
              <c:numCache>
                <c:formatCode>General</c:formatCode>
                <c:ptCount val="24"/>
                <c:pt idx="0">
                  <c:v>37887426.0</c:v>
                </c:pt>
                <c:pt idx="1">
                  <c:v>37908568.0</c:v>
                </c:pt>
                <c:pt idx="2">
                  <c:v>37956635.0</c:v>
                </c:pt>
                <c:pt idx="3">
                  <c:v>38116346.0</c:v>
                </c:pt>
                <c:pt idx="4">
                  <c:v>38060646.0</c:v>
                </c:pt>
                <c:pt idx="5">
                  <c:v>38239444.0</c:v>
                </c:pt>
                <c:pt idx="6">
                  <c:v>38358923.0</c:v>
                </c:pt>
                <c:pt idx="7">
                  <c:v>38538761.0</c:v>
                </c:pt>
                <c:pt idx="8">
                  <c:v>38629748.0</c:v>
                </c:pt>
                <c:pt idx="9">
                  <c:v>38717536.0</c:v>
                </c:pt>
                <c:pt idx="10">
                  <c:v>38905399.0</c:v>
                </c:pt>
                <c:pt idx="11">
                  <c:v>39084207.0</c:v>
                </c:pt>
                <c:pt idx="12">
                  <c:v>39072550.0</c:v>
                </c:pt>
                <c:pt idx="13">
                  <c:v>39190270.0</c:v>
                </c:pt>
                <c:pt idx="14">
                  <c:v>39250194.0</c:v>
                </c:pt>
                <c:pt idx="15">
                  <c:v>39415942.0</c:v>
                </c:pt>
                <c:pt idx="16">
                  <c:v>39542944.0</c:v>
                </c:pt>
                <c:pt idx="17">
                  <c:v>39622444.0</c:v>
                </c:pt>
                <c:pt idx="18">
                  <c:v>39861195.0</c:v>
                </c:pt>
                <c:pt idx="19">
                  <c:v>39931101.0</c:v>
                </c:pt>
                <c:pt idx="20">
                  <c:v>40185047.0</c:v>
                </c:pt>
                <c:pt idx="21">
                  <c:v>40376943.0</c:v>
                </c:pt>
                <c:pt idx="22">
                  <c:v>40466935.0</c:v>
                </c:pt>
                <c:pt idx="23">
                  <c:v>40554453.0</c:v>
                </c:pt>
              </c:numCache>
            </c:numRef>
          </c:val>
        </c:ser>
        <c:axId val="-2068027336"/>
        <c:axId val="-2113994440"/>
      </c:barChart>
      <c:lineChart>
        <c:grouping val="standard"/>
        <c:varyColors val="0"/>
        <c:ser>
          <c:idx val="1"/>
          <c:order val="1"/>
          <c:tx>
            <c:strRef>
              <c:f>Sheet1!$C$1</c:f>
              <c:strCache>
                <c:ptCount val="1"/>
                <c:pt idx="0">
                  <c:v>當月簽帳金額</c:v>
                </c:pt>
              </c:strCache>
            </c:strRef>
          </c:tx>
          <c:marker>
            <c:symbol val="circle"/>
            <c:size val="7"/>
          </c:marker>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Sheet1!$C$2:$C$25</c:f>
              <c:numCache>
                <c:formatCode>General</c:formatCode>
                <c:ptCount val="24"/>
                <c:pt idx="0">
                  <c:v>385195508.0</c:v>
                </c:pt>
                <c:pt idx="1">
                  <c:v>321835011.0</c:v>
                </c:pt>
                <c:pt idx="2">
                  <c:v>340536007.0</c:v>
                </c:pt>
                <c:pt idx="3">
                  <c:v>359655298.0</c:v>
                </c:pt>
                <c:pt idx="4">
                  <c:v>372768849.0</c:v>
                </c:pt>
                <c:pt idx="5">
                  <c:v>556517801.0</c:v>
                </c:pt>
                <c:pt idx="6">
                  <c:v>396750829.0</c:v>
                </c:pt>
                <c:pt idx="7">
                  <c:v>365188821.0</c:v>
                </c:pt>
                <c:pt idx="8">
                  <c:v>367656411.0</c:v>
                </c:pt>
                <c:pt idx="9">
                  <c:v>404842142.0</c:v>
                </c:pt>
                <c:pt idx="10">
                  <c:v>385476992.0</c:v>
                </c:pt>
                <c:pt idx="11">
                  <c:v>420176761.0</c:v>
                </c:pt>
                <c:pt idx="12">
                  <c:v>338561389.0</c:v>
                </c:pt>
                <c:pt idx="13">
                  <c:v>395294658.0</c:v>
                </c:pt>
                <c:pt idx="14">
                  <c:v>377172642.0</c:v>
                </c:pt>
                <c:pt idx="15">
                  <c:v>373344235.0</c:v>
                </c:pt>
                <c:pt idx="16">
                  <c:v>371785303.0</c:v>
                </c:pt>
                <c:pt idx="17">
                  <c:v>393715829.0</c:v>
                </c:pt>
                <c:pt idx="18">
                  <c:v>653264628.0</c:v>
                </c:pt>
                <c:pt idx="19">
                  <c:v>376250456.0</c:v>
                </c:pt>
                <c:pt idx="20">
                  <c:v>403174279.0</c:v>
                </c:pt>
                <c:pt idx="21">
                  <c:v>453412126.0</c:v>
                </c:pt>
                <c:pt idx="22">
                  <c:v>396704763.0</c:v>
                </c:pt>
                <c:pt idx="23">
                  <c:v>453663538.0</c:v>
                </c:pt>
              </c:numCache>
            </c:numRef>
          </c:val>
          <c:smooth val="0"/>
        </c:ser>
        <c:marker val="1"/>
        <c:axId val="100000001"/>
        <c:axId val="100000002"/>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catAx>
        <c:axId val="100000001"/>
        <c:scaling>
          <c:orientation val="minMax"/>
        </c:scaling>
        <c:delete val="1"/>
        <c:axPos val="b"/>
        <c:crossAx val="100000002"/>
      </c:catAx>
      <c:valAx>
        <c:axId val="100000002"/>
        <c:scaling>
          <c:orientation val="minMax"/>
        </c:scaling>
        <c:delete val="0"/>
        <c:axPos val="r"/>
        <c:numFmt formatCode="General" sourceLinked="0"/>
        <c:majorTickMark val="out"/>
        <c:minorTickMark val="none"/>
        <c:tickLblPos val="nextTo"/>
        <c:crossAx val="100000001"/>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t>循環信用與分期付款餘額演進：銀行消費信貸產品結構的長期趨勢</a:t>
            </a:r>
          </a:p>
        </c:rich>
      </c:tx>
      <c:layout/>
      <c:overlay val="0"/>
    </c:title>
    <c:autoTitleDeleted val="0"/>
    <c:plotArea>
      <c:lineChart>
        <c:grouping val="standard"/>
        <c:varyColors val="0"/>
        <c:ser>
          <c:idx val="0"/>
          <c:order val="0"/>
          <c:tx>
            <c:strRef>
              <c:f>Sheet1!$B$1</c:f>
              <c:strCache>
                <c:ptCount val="1"/>
                <c:pt idx="0">
                  <c:v>循環信用餘額</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Sheet1!$B$2:$B$25</c:f>
              <c:numCache>
                <c:formatCode>General</c:formatCode>
                <c:ptCount val="24"/>
                <c:pt idx="0">
                  <c:v>106507015.0</c:v>
                </c:pt>
                <c:pt idx="1">
                  <c:v>103745387.0</c:v>
                </c:pt>
                <c:pt idx="2">
                  <c:v>107267559.0</c:v>
                </c:pt>
                <c:pt idx="3">
                  <c:v>109463059.0</c:v>
                </c:pt>
                <c:pt idx="4">
                  <c:v>108454364.0</c:v>
                </c:pt>
                <c:pt idx="5">
                  <c:v>110781984.0</c:v>
                </c:pt>
                <c:pt idx="6">
                  <c:v>110400682.0</c:v>
                </c:pt>
                <c:pt idx="7">
                  <c:v>111924405.0</c:v>
                </c:pt>
                <c:pt idx="8">
                  <c:v>112625201.0</c:v>
                </c:pt>
                <c:pt idx="9">
                  <c:v>113320306.0</c:v>
                </c:pt>
                <c:pt idx="10">
                  <c:v>114289411.0</c:v>
                </c:pt>
                <c:pt idx="11">
                  <c:v>116272761.0</c:v>
                </c:pt>
                <c:pt idx="12">
                  <c:v>113560448.0</c:v>
                </c:pt>
                <c:pt idx="13">
                  <c:v>112808177.0</c:v>
                </c:pt>
                <c:pt idx="14">
                  <c:v>113115883.0</c:v>
                </c:pt>
                <c:pt idx="15">
                  <c:v>113985720.0</c:v>
                </c:pt>
                <c:pt idx="16">
                  <c:v>113422508.0</c:v>
                </c:pt>
                <c:pt idx="17">
                  <c:v>115449666.0</c:v>
                </c:pt>
                <c:pt idx="18">
                  <c:v>114459143.0</c:v>
                </c:pt>
                <c:pt idx="19">
                  <c:v>115041324.0</c:v>
                </c:pt>
                <c:pt idx="20">
                  <c:v>117177201.0</c:v>
                </c:pt>
                <c:pt idx="21">
                  <c:v>117913037.0</c:v>
                </c:pt>
                <c:pt idx="22">
                  <c:v>117776620.0</c:v>
                </c:pt>
                <c:pt idx="23">
                  <c:v>118588582.0</c:v>
                </c:pt>
              </c:numCache>
            </c:numRef>
          </c:val>
          <c:smooth val="0"/>
        </c:ser>
        <c:ser>
          <c:idx val="1"/>
          <c:order val="1"/>
          <c:tx>
            <c:strRef>
              <c:f>Sheet1!$C$1</c:f>
              <c:strCache>
                <c:ptCount val="1"/>
                <c:pt idx="0">
                  <c:v>未到期分期付款餘額</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Sheet1!$C$2:$C$25</c:f>
              <c:numCache>
                <c:formatCode>General</c:formatCode>
                <c:ptCount val="24"/>
                <c:pt idx="0">
                  <c:v>194262158.0</c:v>
                </c:pt>
                <c:pt idx="1">
                  <c:v>181553533.0</c:v>
                </c:pt>
                <c:pt idx="2">
                  <c:v>171209397.0</c:v>
                </c:pt>
                <c:pt idx="3">
                  <c:v>163183906.0</c:v>
                </c:pt>
                <c:pt idx="4">
                  <c:v>158065919.0</c:v>
                </c:pt>
                <c:pt idx="5">
                  <c:v>234680356.0</c:v>
                </c:pt>
                <c:pt idx="6">
                  <c:v>232764433.0</c:v>
                </c:pt>
                <c:pt idx="7">
                  <c:v>218434983.0</c:v>
                </c:pt>
                <c:pt idx="8">
                  <c:v>209150803.0</c:v>
                </c:pt>
                <c:pt idx="9">
                  <c:v>202394924.0</c:v>
                </c:pt>
                <c:pt idx="10">
                  <c:v>195430513.0</c:v>
                </c:pt>
                <c:pt idx="11">
                  <c:v>189520835.0</c:v>
                </c:pt>
                <c:pt idx="12">
                  <c:v>184844306.0</c:v>
                </c:pt>
                <c:pt idx="13">
                  <c:v>175516344.0</c:v>
                </c:pt>
                <c:pt idx="14">
                  <c:v>167533798.0</c:v>
                </c:pt>
                <c:pt idx="15">
                  <c:v>161846872.0</c:v>
                </c:pt>
                <c:pt idx="16">
                  <c:v>156708905.0</c:v>
                </c:pt>
                <c:pt idx="17">
                  <c:v>154904018.0</c:v>
                </c:pt>
                <c:pt idx="18">
                  <c:v>241120341.0</c:v>
                </c:pt>
                <c:pt idx="19">
                  <c:v>233074998.0</c:v>
                </c:pt>
                <c:pt idx="20">
                  <c:v>220486934.0</c:v>
                </c:pt>
                <c:pt idx="21">
                  <c:v>211561948.0</c:v>
                </c:pt>
                <c:pt idx="22">
                  <c:v>198838519.0</c:v>
                </c:pt>
                <c:pt idx="23">
                  <c:v>187216932.0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t>簽帳金額與轉銷呆帳金額趨勢：信用風險惡化指標</a:t>
            </a:r>
          </a:p>
        </c:rich>
      </c:tx>
      <c:layout/>
      <c:overlay val="0"/>
    </c:title>
    <c:autoTitleDeleted val="0"/>
    <c:plotArea>
      <c:barChart>
        <c:barDir val="col"/>
        <c:grouping val="clustered"/>
        <c:ser>
          <c:idx val="0"/>
          <c:order val="0"/>
          <c:tx>
            <c:strRef>
              <c:f>Sheet1!$B$1</c:f>
              <c:strCache>
                <c:ptCount val="1"/>
                <c:pt idx="0">
                  <c:v>當月簽帳金額</c:v>
                </c:pt>
              </c:strCache>
            </c:strRef>
          </c:tx>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Sheet1!$B$2:$B$25</c:f>
              <c:numCache>
                <c:formatCode>General</c:formatCode>
                <c:ptCount val="24"/>
                <c:pt idx="0">
                  <c:v>385195508.0</c:v>
                </c:pt>
                <c:pt idx="1">
                  <c:v>321835011.0</c:v>
                </c:pt>
                <c:pt idx="2">
                  <c:v>340536007.0</c:v>
                </c:pt>
                <c:pt idx="3">
                  <c:v>359655298.0</c:v>
                </c:pt>
                <c:pt idx="4">
                  <c:v>372768849.0</c:v>
                </c:pt>
                <c:pt idx="5">
                  <c:v>556517801.0</c:v>
                </c:pt>
                <c:pt idx="6">
                  <c:v>396750829.0</c:v>
                </c:pt>
                <c:pt idx="7">
                  <c:v>365188821.0</c:v>
                </c:pt>
                <c:pt idx="8">
                  <c:v>367656411.0</c:v>
                </c:pt>
                <c:pt idx="9">
                  <c:v>404842142.0</c:v>
                </c:pt>
                <c:pt idx="10">
                  <c:v>385476992.0</c:v>
                </c:pt>
                <c:pt idx="11">
                  <c:v>420176761.0</c:v>
                </c:pt>
                <c:pt idx="12">
                  <c:v>338561389.0</c:v>
                </c:pt>
                <c:pt idx="13">
                  <c:v>395294658.0</c:v>
                </c:pt>
                <c:pt idx="14">
                  <c:v>377172642.0</c:v>
                </c:pt>
                <c:pt idx="15">
                  <c:v>373344235.0</c:v>
                </c:pt>
                <c:pt idx="16">
                  <c:v>371785303.0</c:v>
                </c:pt>
                <c:pt idx="17">
                  <c:v>393715829.0</c:v>
                </c:pt>
                <c:pt idx="18">
                  <c:v>653264628.0</c:v>
                </c:pt>
                <c:pt idx="19">
                  <c:v>376250456.0</c:v>
                </c:pt>
                <c:pt idx="20">
                  <c:v>403174279.0</c:v>
                </c:pt>
                <c:pt idx="21">
                  <c:v>453412126.0</c:v>
                </c:pt>
                <c:pt idx="22">
                  <c:v>396704763.0</c:v>
                </c:pt>
                <c:pt idx="23">
                  <c:v>453663538.0</c:v>
                </c:pt>
              </c:numCache>
            </c:numRef>
          </c:val>
        </c:ser>
        <c:axId val="-2068027336"/>
        <c:axId val="-2113994440"/>
      </c:barChart>
      <c:lineChart>
        <c:grouping val="standard"/>
        <c:varyColors val="0"/>
        <c:ser>
          <c:idx val="1"/>
          <c:order val="1"/>
          <c:tx>
            <c:strRef>
              <c:f>Sheet1!$C$1</c:f>
              <c:strCache>
                <c:ptCount val="1"/>
                <c:pt idx="0">
                  <c:v>當月轉銷呆帳金額</c:v>
                </c:pt>
              </c:strCache>
            </c:strRef>
          </c:tx>
          <c:marker>
            <c:symbol val="circle"/>
            <c:size val="7"/>
          </c:marker>
          <c:cat>
            <c:strRef>
              <c:f>Sheet1!$A$2:$A$25</c:f>
              <c:strCache>
                <c:ptCount val="24"/>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strCache>
            </c:strRef>
          </c:cat>
          <c:val>
            <c:numRef>
              <c:f>Sheet1!$C$2:$C$25</c:f>
              <c:numCache>
                <c:formatCode>General</c:formatCode>
                <c:ptCount val="24"/>
                <c:pt idx="0">
                  <c:v>502737.0</c:v>
                </c:pt>
                <c:pt idx="1">
                  <c:v>553738.0</c:v>
                </c:pt>
                <c:pt idx="2">
                  <c:v>606315.0</c:v>
                </c:pt>
                <c:pt idx="3">
                  <c:v>580950.0</c:v>
                </c:pt>
                <c:pt idx="4">
                  <c:v>575796.0</c:v>
                </c:pt>
                <c:pt idx="5">
                  <c:v>627070.0</c:v>
                </c:pt>
                <c:pt idx="6">
                  <c:v>636838.0</c:v>
                </c:pt>
                <c:pt idx="7">
                  <c:v>621323.0</c:v>
                </c:pt>
                <c:pt idx="8">
                  <c:v>660092.0</c:v>
                </c:pt>
                <c:pt idx="9">
                  <c:v>666825.0</c:v>
                </c:pt>
                <c:pt idx="10">
                  <c:v>679320.0</c:v>
                </c:pt>
                <c:pt idx="11">
                  <c:v>703963.0</c:v>
                </c:pt>
                <c:pt idx="12">
                  <c:v>654750.0</c:v>
                </c:pt>
                <c:pt idx="13">
                  <c:v>611054.0</c:v>
                </c:pt>
                <c:pt idx="14">
                  <c:v>641539.0</c:v>
                </c:pt>
                <c:pt idx="15">
                  <c:v>615972.0</c:v>
                </c:pt>
                <c:pt idx="16">
                  <c:v>600844.0</c:v>
                </c:pt>
                <c:pt idx="17">
                  <c:v>617225.0</c:v>
                </c:pt>
                <c:pt idx="18">
                  <c:v>589078.0</c:v>
                </c:pt>
                <c:pt idx="19">
                  <c:v>572496.0</c:v>
                </c:pt>
                <c:pt idx="20">
                  <c:v>632705.0</c:v>
                </c:pt>
                <c:pt idx="21">
                  <c:v>623815.0</c:v>
                </c:pt>
                <c:pt idx="22">
                  <c:v>601876.0</c:v>
                </c:pt>
                <c:pt idx="23">
                  <c:v>645165.0</c:v>
                </c:pt>
              </c:numCache>
            </c:numRef>
          </c:val>
          <c:smooth val="0"/>
        </c:ser>
        <c:marker val="1"/>
        <c:axId val="100000001"/>
        <c:axId val="100000002"/>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catAx>
        <c:axId val="100000001"/>
        <c:scaling>
          <c:orientation val="minMax"/>
        </c:scaling>
        <c:delete val="1"/>
        <c:axPos val="b"/>
        <c:crossAx val="100000002"/>
      </c:catAx>
      <c:valAx>
        <c:axId val="100000002"/>
        <c:scaling>
          <c:orientation val="minMax"/>
        </c:scaling>
        <c:delete val="0"/>
        <c:axPos val="r"/>
        <c:numFmt formatCode="General" sourceLinked="0"/>
        <c:majorTickMark val="out"/>
        <c:minorTickMark val="none"/>
        <c:tickLblPos val="nextTo"/>
        <c:crossAx val="100000001"/>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市場核心指標未來趨勢：流通卡數與簽帳金額預測</a:t>
            </a:r>
          </a:p>
        </c:rich>
      </c:tx>
      <c:layout/>
      <c:overlay val="0"/>
    </c:title>
    <c:autoTitleDeleted val="0"/>
    <c:plotArea>
      <c:lineChart>
        <c:grouping val="standard"/>
        <c:varyColors val="0"/>
        <c:ser>
          <c:idx val="0"/>
          <c:order val="0"/>
          <c:tx>
            <c:strRef>
              <c:f>Sheet1!$B$1</c:f>
              <c:strCache>
                <c:ptCount val="1"/>
                <c:pt idx="0">
                  <c:v>流通卡數</c:v>
                </c:pt>
              </c:strCache>
            </c:strRef>
          </c:tx>
          <c:cat>
            <c:strRef>
              <c:f>Sheet1!$A$2:$A$28</c:f>
              <c:strCache>
                <c:ptCount val="27"/>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pt idx="24">
                  <c:v>預測+1</c:v>
                </c:pt>
                <c:pt idx="25">
                  <c:v>預測+2</c:v>
                </c:pt>
                <c:pt idx="26">
                  <c:v>預測+3</c:v>
                </c:pt>
              </c:strCache>
            </c:strRef>
          </c:cat>
          <c:val>
            <c:numRef>
              <c:f>Sheet1!$B$2:$B$28</c:f>
              <c:numCache>
                <c:formatCode>General</c:formatCode>
                <c:ptCount val="27"/>
                <c:pt idx="0">
                  <c:v>58799464.0</c:v>
                </c:pt>
                <c:pt idx="1">
                  <c:v>58866498.0</c:v>
                </c:pt>
                <c:pt idx="2">
                  <c:v>58913203.0</c:v>
                </c:pt>
                <c:pt idx="3">
                  <c:v>58965522.0</c:v>
                </c:pt>
                <c:pt idx="4">
                  <c:v>59039098.0</c:v>
                </c:pt>
                <c:pt idx="5">
                  <c:v>58874035.0</c:v>
                </c:pt>
                <c:pt idx="6">
                  <c:v>58581705.0</c:v>
                </c:pt>
                <c:pt idx="7">
                  <c:v>58690696.0</c:v>
                </c:pt>
                <c:pt idx="8">
                  <c:v>58596279.0</c:v>
                </c:pt>
                <c:pt idx="9">
                  <c:v>58655885.0</c:v>
                </c:pt>
                <c:pt idx="10">
                  <c:v>58617119.0</c:v>
                </c:pt>
                <c:pt idx="11">
                  <c:v>58584971.0</c:v>
                </c:pt>
                <c:pt idx="12">
                  <c:v>58654745.0</c:v>
                </c:pt>
                <c:pt idx="13">
                  <c:v>58747562.0</c:v>
                </c:pt>
                <c:pt idx="14">
                  <c:v>58994262.0</c:v>
                </c:pt>
                <c:pt idx="15">
                  <c:v>59388667.0</c:v>
                </c:pt>
                <c:pt idx="16">
                  <c:v>59795907.0</c:v>
                </c:pt>
                <c:pt idx="17">
                  <c:v>59869255.0</c:v>
                </c:pt>
                <c:pt idx="18">
                  <c:v>59947219.0</c:v>
                </c:pt>
                <c:pt idx="19">
                  <c:v>60149284.0</c:v>
                </c:pt>
                <c:pt idx="20">
                  <c:v>60354497.0</c:v>
                </c:pt>
                <c:pt idx="21">
                  <c:v>60479206.0</c:v>
                </c:pt>
                <c:pt idx="22">
                  <c:v>60424521.0</c:v>
                </c:pt>
                <c:pt idx="23">
                  <c:v>60485911.0</c:v>
                </c:pt>
                <c:pt idx="24">
                  <c:v>60287678.3442</c:v>
                </c:pt>
                <c:pt idx="25">
                  <c:v>60369107.5751</c:v>
                </c:pt>
                <c:pt idx="26">
                  <c:v>60450536.8059</c:v>
                </c:pt>
              </c:numCache>
            </c:numRef>
          </c:val>
          <c:smooth val="0"/>
        </c:ser>
        <c:ser>
          <c:idx val="1"/>
          <c:order val="1"/>
          <c:tx>
            <c:strRef>
              <c:f>Sheet1!$C$1</c:f>
              <c:strCache>
                <c:ptCount val="1"/>
                <c:pt idx="0">
                  <c:v>當月簽帳金額</c:v>
                </c:pt>
              </c:strCache>
            </c:strRef>
          </c:tx>
          <c:cat>
            <c:strRef>
              <c:f>Sheet1!$A$2:$A$28</c:f>
              <c:strCache>
                <c:ptCount val="27"/>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pt idx="24">
                  <c:v>預測+1</c:v>
                </c:pt>
                <c:pt idx="25">
                  <c:v>預測+2</c:v>
                </c:pt>
                <c:pt idx="26">
                  <c:v>預測+3</c:v>
                </c:pt>
              </c:strCache>
            </c:strRef>
          </c:cat>
          <c:val>
            <c:numRef>
              <c:f>Sheet1!$C$2:$C$28</c:f>
              <c:numCache>
                <c:formatCode>General</c:formatCode>
                <c:ptCount val="27"/>
                <c:pt idx="0">
                  <c:v>385195508.0</c:v>
                </c:pt>
                <c:pt idx="1">
                  <c:v>321835011.0</c:v>
                </c:pt>
                <c:pt idx="2">
                  <c:v>340536007.0</c:v>
                </c:pt>
                <c:pt idx="3">
                  <c:v>359655298.0</c:v>
                </c:pt>
                <c:pt idx="4">
                  <c:v>372768849.0</c:v>
                </c:pt>
                <c:pt idx="5">
                  <c:v>556517801.0</c:v>
                </c:pt>
                <c:pt idx="6">
                  <c:v>396750829.0</c:v>
                </c:pt>
                <c:pt idx="7">
                  <c:v>365188821.0</c:v>
                </c:pt>
                <c:pt idx="8">
                  <c:v>367656411.0</c:v>
                </c:pt>
                <c:pt idx="9">
                  <c:v>404842142.0</c:v>
                </c:pt>
                <c:pt idx="10">
                  <c:v>385476992.0</c:v>
                </c:pt>
                <c:pt idx="11">
                  <c:v>420176761.0</c:v>
                </c:pt>
                <c:pt idx="12">
                  <c:v>338561389.0</c:v>
                </c:pt>
                <c:pt idx="13">
                  <c:v>395294658.0</c:v>
                </c:pt>
                <c:pt idx="14">
                  <c:v>377172642.0</c:v>
                </c:pt>
                <c:pt idx="15">
                  <c:v>373344235.0</c:v>
                </c:pt>
                <c:pt idx="16">
                  <c:v>371785303.0</c:v>
                </c:pt>
                <c:pt idx="17">
                  <c:v>393715829.0</c:v>
                </c:pt>
                <c:pt idx="18">
                  <c:v>653264628.0</c:v>
                </c:pt>
                <c:pt idx="19">
                  <c:v>376250456.0</c:v>
                </c:pt>
                <c:pt idx="20">
                  <c:v>403174279.0</c:v>
                </c:pt>
                <c:pt idx="21">
                  <c:v>453412126.0</c:v>
                </c:pt>
                <c:pt idx="22">
                  <c:v>396704763.0</c:v>
                </c:pt>
                <c:pt idx="23">
                  <c:v>453663538.0</c:v>
                </c:pt>
                <c:pt idx="24">
                  <c:v>441843979.8406</c:v>
                </c:pt>
                <c:pt idx="25">
                  <c:v>444981683.9745</c:v>
                </c:pt>
                <c:pt idx="26">
                  <c:v>448119388.1084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t>市場簽帳與信用規模預測：台新策略調整的市場基礎</a:t>
            </a:r>
          </a:p>
        </c:rich>
      </c:tx>
      <c:layout/>
      <c:overlay val="0"/>
    </c:title>
    <c:autoTitleDeleted val="0"/>
    <c:plotArea>
      <c:lineChart>
        <c:grouping val="standard"/>
        <c:varyColors val="0"/>
        <c:ser>
          <c:idx val="0"/>
          <c:order val="0"/>
          <c:tx>
            <c:strRef>
              <c:f>Sheet1!$B$1</c:f>
              <c:strCache>
                <c:ptCount val="1"/>
                <c:pt idx="0">
                  <c:v>當月簽帳金額</c:v>
                </c:pt>
              </c:strCache>
            </c:strRef>
          </c:tx>
          <c:cat>
            <c:strRef>
              <c:f>Sheet1!$A$2:$A$28</c:f>
              <c:strCache>
                <c:ptCount val="27"/>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pt idx="24">
                  <c:v>預測+1</c:v>
                </c:pt>
                <c:pt idx="25">
                  <c:v>預測+2</c:v>
                </c:pt>
                <c:pt idx="26">
                  <c:v>預測+3</c:v>
                </c:pt>
              </c:strCache>
            </c:strRef>
          </c:cat>
          <c:val>
            <c:numRef>
              <c:f>Sheet1!$B$2:$B$28</c:f>
              <c:numCache>
                <c:formatCode>General</c:formatCode>
                <c:ptCount val="27"/>
                <c:pt idx="0">
                  <c:v>385195508.0</c:v>
                </c:pt>
                <c:pt idx="1">
                  <c:v>321835011.0</c:v>
                </c:pt>
                <c:pt idx="2">
                  <c:v>340536007.0</c:v>
                </c:pt>
                <c:pt idx="3">
                  <c:v>359655298.0</c:v>
                </c:pt>
                <c:pt idx="4">
                  <c:v>372768849.0</c:v>
                </c:pt>
                <c:pt idx="5">
                  <c:v>556517801.0</c:v>
                </c:pt>
                <c:pt idx="6">
                  <c:v>396750829.0</c:v>
                </c:pt>
                <c:pt idx="7">
                  <c:v>365188821.0</c:v>
                </c:pt>
                <c:pt idx="8">
                  <c:v>367656411.0</c:v>
                </c:pt>
                <c:pt idx="9">
                  <c:v>404842142.0</c:v>
                </c:pt>
                <c:pt idx="10">
                  <c:v>385476992.0</c:v>
                </c:pt>
                <c:pt idx="11">
                  <c:v>420176761.0</c:v>
                </c:pt>
                <c:pt idx="12">
                  <c:v>338561389.0</c:v>
                </c:pt>
                <c:pt idx="13">
                  <c:v>395294658.0</c:v>
                </c:pt>
                <c:pt idx="14">
                  <c:v>377172642.0</c:v>
                </c:pt>
                <c:pt idx="15">
                  <c:v>373344235.0</c:v>
                </c:pt>
                <c:pt idx="16">
                  <c:v>371785303.0</c:v>
                </c:pt>
                <c:pt idx="17">
                  <c:v>393715829.0</c:v>
                </c:pt>
                <c:pt idx="18">
                  <c:v>653264628.0</c:v>
                </c:pt>
                <c:pt idx="19">
                  <c:v>376250456.0</c:v>
                </c:pt>
                <c:pt idx="20">
                  <c:v>403174279.0</c:v>
                </c:pt>
                <c:pt idx="21">
                  <c:v>453412126.0</c:v>
                </c:pt>
                <c:pt idx="22">
                  <c:v>396704763.0</c:v>
                </c:pt>
                <c:pt idx="23">
                  <c:v>453663538.0</c:v>
                </c:pt>
                <c:pt idx="24">
                  <c:v>441843979.8406</c:v>
                </c:pt>
                <c:pt idx="25">
                  <c:v>444981683.9745</c:v>
                </c:pt>
                <c:pt idx="26">
                  <c:v>448119388.1084</c:v>
                </c:pt>
              </c:numCache>
            </c:numRef>
          </c:val>
          <c:smooth val="0"/>
        </c:ser>
        <c:ser>
          <c:idx val="1"/>
          <c:order val="1"/>
          <c:tx>
            <c:strRef>
              <c:f>Sheet1!$C$1</c:f>
              <c:strCache>
                <c:ptCount val="1"/>
                <c:pt idx="0">
                  <c:v>循環信用餘額</c:v>
                </c:pt>
              </c:strCache>
            </c:strRef>
          </c:tx>
          <c:cat>
            <c:strRef>
              <c:f>Sheet1!$A$2:$A$28</c:f>
              <c:strCache>
                <c:ptCount val="27"/>
                <c:pt idx="0">
                  <c:v>11301</c:v>
                </c:pt>
                <c:pt idx="1">
                  <c:v>11302</c:v>
                </c:pt>
                <c:pt idx="2">
                  <c:v>11303</c:v>
                </c:pt>
                <c:pt idx="3">
                  <c:v>11304</c:v>
                </c:pt>
                <c:pt idx="4">
                  <c:v>11305</c:v>
                </c:pt>
                <c:pt idx="5">
                  <c:v>11306</c:v>
                </c:pt>
                <c:pt idx="6">
                  <c:v>11307</c:v>
                </c:pt>
                <c:pt idx="7">
                  <c:v>11308</c:v>
                </c:pt>
                <c:pt idx="8">
                  <c:v>11309</c:v>
                </c:pt>
                <c:pt idx="9">
                  <c:v>11310</c:v>
                </c:pt>
                <c:pt idx="10">
                  <c:v>11311</c:v>
                </c:pt>
                <c:pt idx="11">
                  <c:v>11312</c:v>
                </c:pt>
                <c:pt idx="12">
                  <c:v>11401</c:v>
                </c:pt>
                <c:pt idx="13">
                  <c:v>11402</c:v>
                </c:pt>
                <c:pt idx="14">
                  <c:v>11403</c:v>
                </c:pt>
                <c:pt idx="15">
                  <c:v>11404</c:v>
                </c:pt>
                <c:pt idx="16">
                  <c:v>11405</c:v>
                </c:pt>
                <c:pt idx="17">
                  <c:v>11406</c:v>
                </c:pt>
                <c:pt idx="18">
                  <c:v>11407</c:v>
                </c:pt>
                <c:pt idx="19">
                  <c:v>11408</c:v>
                </c:pt>
                <c:pt idx="20">
                  <c:v>11409</c:v>
                </c:pt>
                <c:pt idx="21">
                  <c:v>11410</c:v>
                </c:pt>
                <c:pt idx="22">
                  <c:v>11411</c:v>
                </c:pt>
                <c:pt idx="23">
                  <c:v>11412</c:v>
                </c:pt>
                <c:pt idx="24">
                  <c:v>預測+1</c:v>
                </c:pt>
                <c:pt idx="25">
                  <c:v>預測+2</c:v>
                </c:pt>
                <c:pt idx="26">
                  <c:v>預測+3</c:v>
                </c:pt>
              </c:strCache>
            </c:strRef>
          </c:cat>
          <c:val>
            <c:numRef>
              <c:f>Sheet1!$C$2:$C$28</c:f>
              <c:numCache>
                <c:formatCode>General</c:formatCode>
                <c:ptCount val="27"/>
                <c:pt idx="0">
                  <c:v>106507015.0</c:v>
                </c:pt>
                <c:pt idx="1">
                  <c:v>103745387.0</c:v>
                </c:pt>
                <c:pt idx="2">
                  <c:v>107267559.0</c:v>
                </c:pt>
                <c:pt idx="3">
                  <c:v>109463059.0</c:v>
                </c:pt>
                <c:pt idx="4">
                  <c:v>108454364.0</c:v>
                </c:pt>
                <c:pt idx="5">
                  <c:v>110781984.0</c:v>
                </c:pt>
                <c:pt idx="6">
                  <c:v>110400682.0</c:v>
                </c:pt>
                <c:pt idx="7">
                  <c:v>111924405.0</c:v>
                </c:pt>
                <c:pt idx="8">
                  <c:v>112625201.0</c:v>
                </c:pt>
                <c:pt idx="9">
                  <c:v>113320306.0</c:v>
                </c:pt>
                <c:pt idx="10">
                  <c:v>114289411.0</c:v>
                </c:pt>
                <c:pt idx="11">
                  <c:v>116272761.0</c:v>
                </c:pt>
                <c:pt idx="12">
                  <c:v>113560448.0</c:v>
                </c:pt>
                <c:pt idx="13">
                  <c:v>112808177.0</c:v>
                </c:pt>
                <c:pt idx="14">
                  <c:v>113115883.0</c:v>
                </c:pt>
                <c:pt idx="15">
                  <c:v>113985720.0</c:v>
                </c:pt>
                <c:pt idx="16">
                  <c:v>113422508.0</c:v>
                </c:pt>
                <c:pt idx="17">
                  <c:v>115449666.0</c:v>
                </c:pt>
                <c:pt idx="18">
                  <c:v>114459143.0</c:v>
                </c:pt>
                <c:pt idx="19">
                  <c:v>115041324.0</c:v>
                </c:pt>
                <c:pt idx="20">
                  <c:v>117177201.0</c:v>
                </c:pt>
                <c:pt idx="21">
                  <c:v>117913037.0</c:v>
                </c:pt>
                <c:pt idx="22">
                  <c:v>117776620.0</c:v>
                </c:pt>
                <c:pt idx="23">
                  <c:v>118588582.0</c:v>
                </c:pt>
                <c:pt idx="24">
                  <c:v>118950713.1196</c:v>
                </c:pt>
                <c:pt idx="25">
                  <c:v>119438935.3591</c:v>
                </c:pt>
                <c:pt idx="26">
                  <c:v>119927157.5987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preserve="1">
  <p:cSld name="標題投影片">
    <p:spTree>
      <p:nvGrpSpPr>
        <p:cNvPr id="1" name="Shape 13"/>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026A16C4-3BD0-72DB-C8B5-239F03494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4" name="Google Shape;14;p7"/>
          <p:cNvSpPr txBox="1">
            <a:spLocks noGrp="1"/>
          </p:cNvSpPr>
          <p:nvPr>
            <p:ph type="title"/>
          </p:nvPr>
        </p:nvSpPr>
        <p:spPr>
          <a:xfrm>
            <a:off x="1114515" y="1278736"/>
            <a:ext cx="9962700" cy="759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F4F4F"/>
              </a:buClr>
              <a:buSzPts val="3000"/>
              <a:buNone/>
              <a:defRPr sz="30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
        <p:nvSpPr>
          <p:cNvPr id="15" name="Google Shape;15;p7"/>
          <p:cNvSpPr txBox="1">
            <a:spLocks noGrp="1"/>
          </p:cNvSpPr>
          <p:nvPr>
            <p:ph type="body" idx="1"/>
          </p:nvPr>
        </p:nvSpPr>
        <p:spPr>
          <a:xfrm>
            <a:off x="1114350" y="2394796"/>
            <a:ext cx="9963300" cy="30840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BE171B"/>
              </a:buClr>
              <a:buSzPts val="2400"/>
              <a:buChar char="●"/>
              <a:defRPr i="0">
                <a:solidFill>
                  <a:srgbClr val="4F4F4F"/>
                </a:solidFill>
              </a:defRPr>
            </a:lvl1pPr>
            <a:lvl2pPr marL="914400" marR="0" lvl="1" indent="-355600" algn="l">
              <a:lnSpc>
                <a:spcPct val="100000"/>
              </a:lnSpc>
              <a:spcBef>
                <a:spcPts val="500"/>
              </a:spcBef>
              <a:spcAft>
                <a:spcPts val="0"/>
              </a:spcAft>
              <a:buClr>
                <a:srgbClr val="CC181D"/>
              </a:buClr>
              <a:buSzPts val="2000"/>
              <a:buChar char="●"/>
              <a:defRPr i="0">
                <a:solidFill>
                  <a:srgbClr val="4F4F4F"/>
                </a:solidFill>
              </a:defRPr>
            </a:lvl2pPr>
            <a:lvl3pPr marL="1371600" lvl="2" indent="-342900" algn="l">
              <a:lnSpc>
                <a:spcPct val="90000"/>
              </a:lnSpc>
              <a:spcBef>
                <a:spcPts val="500"/>
              </a:spcBef>
              <a:spcAft>
                <a:spcPts val="0"/>
              </a:spcAft>
              <a:buClr>
                <a:srgbClr val="BE171B"/>
              </a:buClr>
              <a:buSzPts val="1800"/>
              <a:buChar char="■"/>
              <a:defRPr/>
            </a:lvl3pPr>
            <a:lvl4pPr marL="1828800" lvl="3" indent="-228600" algn="l">
              <a:lnSpc>
                <a:spcPct val="90000"/>
              </a:lnSpc>
              <a:spcBef>
                <a:spcPts val="500"/>
              </a:spcBef>
              <a:spcAft>
                <a:spcPts val="0"/>
              </a:spcAft>
              <a:buClr>
                <a:srgbClr val="BE171B"/>
              </a:buClr>
              <a:buSzPts val="1800"/>
              <a:buNone/>
              <a:defRPr b="1"/>
            </a:lvl4pPr>
            <a:lvl5pPr marL="2286000" lvl="4" indent="-323850" algn="l">
              <a:lnSpc>
                <a:spcPct val="90000"/>
              </a:lnSpc>
              <a:spcBef>
                <a:spcPts val="500"/>
              </a:spcBef>
              <a:spcAft>
                <a:spcPts val="0"/>
              </a:spcAft>
              <a:buClr>
                <a:srgbClr val="BE171B"/>
              </a:buClr>
              <a:buSzPts val="1500"/>
              <a:buChar char="•"/>
              <a:defRPr sz="1500" b="1"/>
            </a:lvl5pPr>
            <a:lvl6pPr marL="2743200" lvl="5" indent="-317500" algn="l">
              <a:lnSpc>
                <a:spcPct val="90000"/>
              </a:lnSpc>
              <a:spcBef>
                <a:spcPts val="500"/>
              </a:spcBef>
              <a:spcAft>
                <a:spcPts val="0"/>
              </a:spcAft>
              <a:buClr>
                <a:srgbClr val="BE171B"/>
              </a:buClr>
              <a:buSzPts val="1400"/>
              <a:buChar char="•"/>
              <a:defRPr sz="1400" b="1">
                <a:solidFill>
                  <a:srgbClr val="464444"/>
                </a:solidFill>
              </a:defRPr>
            </a:lvl6pPr>
            <a:lvl7pPr marL="3200400" lvl="6" indent="-304800" algn="l">
              <a:lnSpc>
                <a:spcPct val="90000"/>
              </a:lnSpc>
              <a:spcBef>
                <a:spcPts val="500"/>
              </a:spcBef>
              <a:spcAft>
                <a:spcPts val="0"/>
              </a:spcAft>
              <a:buClr>
                <a:srgbClr val="BE171B"/>
              </a:buClr>
              <a:buSzPts val="1200"/>
              <a:buChar char="•"/>
              <a:defRPr sz="1200" b="1">
                <a:solidFill>
                  <a:srgbClr val="464444"/>
                </a:solidFill>
              </a:defRPr>
            </a:lvl7pPr>
            <a:lvl8pPr marL="3657600" lvl="7" indent="-292100" algn="l">
              <a:lnSpc>
                <a:spcPct val="90000"/>
              </a:lnSpc>
              <a:spcBef>
                <a:spcPts val="500"/>
              </a:spcBef>
              <a:spcAft>
                <a:spcPts val="0"/>
              </a:spcAft>
              <a:buClr>
                <a:srgbClr val="BE171B"/>
              </a:buClr>
              <a:buSzPts val="1000"/>
              <a:buChar char="•"/>
              <a:defRPr sz="1000" b="1">
                <a:solidFill>
                  <a:srgbClr val="464444"/>
                </a:solidFill>
              </a:defRPr>
            </a:lvl8pPr>
            <a:lvl9pPr marL="4114800" lvl="8" indent="-279400" algn="l">
              <a:lnSpc>
                <a:spcPct val="90000"/>
              </a:lnSpc>
              <a:spcBef>
                <a:spcPts val="500"/>
              </a:spcBef>
              <a:spcAft>
                <a:spcPts val="0"/>
              </a:spcAft>
              <a:buClr>
                <a:srgbClr val="BE171B"/>
              </a:buClr>
              <a:buSzPts val="800"/>
              <a:buChar char="•"/>
              <a:defRPr sz="800" b="1">
                <a:solidFill>
                  <a:srgbClr val="464444"/>
                </a:solidFill>
              </a:defRPr>
            </a:lvl9pPr>
          </a:lstStyle>
          <a:p>
            <a:endParaRPr/>
          </a:p>
        </p:txBody>
      </p:sp>
      <p:cxnSp>
        <p:nvCxnSpPr>
          <p:cNvPr id="16" name="Google Shape;16;p7"/>
          <p:cNvCxnSpPr/>
          <p:nvPr/>
        </p:nvCxnSpPr>
        <p:spPr>
          <a:xfrm>
            <a:off x="1114515" y="2056042"/>
            <a:ext cx="9962700" cy="0"/>
          </a:xfrm>
          <a:prstGeom prst="straightConnector1">
            <a:avLst/>
          </a:prstGeom>
          <a:noFill/>
          <a:ln w="19050" cap="flat" cmpd="sng">
            <a:solidFill>
              <a:srgbClr val="A5A5A5"/>
            </a:solidFill>
            <a:prstDash val="solid"/>
            <a:miter lim="800000"/>
            <a:headEnd type="none" w="sm" len="sm"/>
            <a:tailEnd type="none" w="sm" len="sm"/>
          </a:ln>
        </p:spPr>
      </p:cxnSp>
      <p:pic>
        <p:nvPicPr>
          <p:cNvPr id="17" name="Google Shape;17;p7"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Tree>
    <p:extLst>
      <p:ext uri="{BB962C8B-B14F-4D97-AF65-F5344CB8AC3E}">
        <p14:creationId xmlns:p14="http://schemas.microsoft.com/office/powerpoint/2010/main" val="3120488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標題投影片" preserve="1">
  <p:cSld name="2_標題投影片">
    <p:spTree>
      <p:nvGrpSpPr>
        <p:cNvPr id="1" name="Shape 18"/>
        <p:cNvGrpSpPr/>
        <p:nvPr/>
      </p:nvGrpSpPr>
      <p:grpSpPr>
        <a:xfrm>
          <a:off x="0" y="0"/>
          <a:ext cx="0" cy="0"/>
          <a:chOff x="0" y="0"/>
          <a:chExt cx="0" cy="0"/>
        </a:xfrm>
      </p:grpSpPr>
      <p:pic>
        <p:nvPicPr>
          <p:cNvPr id="3" name="圖片 2" descr="一張含有 圖形 的圖片&#10;&#10;AI 產生的內容可能不正確。">
            <a:extLst>
              <a:ext uri="{FF2B5EF4-FFF2-40B4-BE49-F238E27FC236}">
                <a16:creationId xmlns:a16="http://schemas.microsoft.com/office/drawing/2014/main" id="{E912A1DA-C32A-79BA-3D45-A52103A38D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9" name="Google Shape;19;p8"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0" name="Google Shape;20;p8"/>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13446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標題投影片" preserve="1">
  <p:cSld name="3_標題投影片">
    <p:spTree>
      <p:nvGrpSpPr>
        <p:cNvPr id="1" name="Shape 21"/>
        <p:cNvGrpSpPr/>
        <p:nvPr/>
      </p:nvGrpSpPr>
      <p:grpSpPr>
        <a:xfrm>
          <a:off x="0" y="0"/>
          <a:ext cx="0" cy="0"/>
          <a:chOff x="0" y="0"/>
          <a:chExt cx="0" cy="0"/>
        </a:xfrm>
      </p:grpSpPr>
      <p:pic>
        <p:nvPicPr>
          <p:cNvPr id="3" name="圖片 2" descr="一張含有 圖形, 設計 的圖片&#10;&#10;AI 產生的內容可能不正確。">
            <a:extLst>
              <a:ext uri="{FF2B5EF4-FFF2-40B4-BE49-F238E27FC236}">
                <a16:creationId xmlns:a16="http://schemas.microsoft.com/office/drawing/2014/main" id="{C649EEB2-B486-967D-A023-BE167D421E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22" name="Google Shape;22;p9" title="金控_中_白.png"/>
          <p:cNvPicPr preferRelativeResize="0"/>
          <p:nvPr/>
        </p:nvPicPr>
        <p:blipFill>
          <a:blip r:embed="rId3">
            <a:alphaModFix/>
          </a:blip>
          <a:stretch>
            <a:fillRect/>
          </a:stretch>
        </p:blipFill>
        <p:spPr>
          <a:xfrm>
            <a:off x="4680600" y="5618832"/>
            <a:ext cx="2830550" cy="1077051"/>
          </a:xfrm>
          <a:prstGeom prst="rect">
            <a:avLst/>
          </a:prstGeom>
          <a:noFill/>
          <a:ln>
            <a:noFill/>
          </a:ln>
        </p:spPr>
      </p:pic>
      <p:sp>
        <p:nvSpPr>
          <p:cNvPr id="23" name="Google Shape;23;p9"/>
          <p:cNvSpPr txBox="1">
            <a:spLocks noGrp="1"/>
          </p:cNvSpPr>
          <p:nvPr>
            <p:ph type="title"/>
          </p:nvPr>
        </p:nvSpPr>
        <p:spPr>
          <a:xfrm>
            <a:off x="1114531" y="1640061"/>
            <a:ext cx="9962700" cy="2142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4F4F4F"/>
              </a:buClr>
              <a:buSzPts val="4400"/>
              <a:buNone/>
              <a:defRPr sz="4400" i="0">
                <a:solidFill>
                  <a:srgbClr val="4F4F4F"/>
                </a:solidFill>
              </a:defRPr>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a:endParaRPr/>
          </a:p>
        </p:txBody>
      </p:sp>
    </p:spTree>
    <p:extLst>
      <p:ext uri="{BB962C8B-B14F-4D97-AF65-F5344CB8AC3E}">
        <p14:creationId xmlns:p14="http://schemas.microsoft.com/office/powerpoint/2010/main" val="2213661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標題及內容" preserve="1">
  <p:cSld name="1_標題及內容">
    <p:spTree>
      <p:nvGrpSpPr>
        <p:cNvPr id="1" name="Shape 24"/>
        <p:cNvGrpSpPr/>
        <p:nvPr/>
      </p:nvGrpSpPr>
      <p:grpSpPr>
        <a:xfrm>
          <a:off x="0" y="0"/>
          <a:ext cx="0" cy="0"/>
          <a:chOff x="0" y="0"/>
          <a:chExt cx="0" cy="0"/>
        </a:xfrm>
      </p:grpSpPr>
      <p:sp>
        <p:nvSpPr>
          <p:cNvPr id="25" name="Google Shape;25;p10"/>
          <p:cNvSpPr txBox="1">
            <a:spLocks noGrp="1"/>
          </p:cNvSpPr>
          <p:nvPr>
            <p:ph type="body" idx="1"/>
          </p:nvPr>
        </p:nvSpPr>
        <p:spPr>
          <a:xfrm>
            <a:off x="368595" y="1247553"/>
            <a:ext cx="11242500" cy="48801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rgbClr val="CC181D"/>
              </a:buClr>
              <a:buSzPts val="2400"/>
              <a:buFont typeface="Noto Sans Symbols"/>
              <a:buChar char="■"/>
              <a:defRPr sz="2400" b="1"/>
            </a:lvl1pPr>
            <a:lvl2pPr marL="914400" lvl="1" indent="-355600" algn="l">
              <a:lnSpc>
                <a:spcPct val="100000"/>
              </a:lnSpc>
              <a:spcBef>
                <a:spcPts val="500"/>
              </a:spcBef>
              <a:spcAft>
                <a:spcPts val="0"/>
              </a:spcAft>
              <a:buClr>
                <a:srgbClr val="CC181D"/>
              </a:buClr>
              <a:buSzPts val="2000"/>
              <a:buFont typeface="Noto Sans Symbols"/>
              <a:buChar char="●"/>
              <a:defRPr sz="2000" b="1"/>
            </a:lvl2pPr>
            <a:lvl3pPr marL="1371600" lvl="2" indent="-330200" algn="l">
              <a:lnSpc>
                <a:spcPct val="100000"/>
              </a:lnSpc>
              <a:spcBef>
                <a:spcPts val="500"/>
              </a:spcBef>
              <a:spcAft>
                <a:spcPts val="0"/>
              </a:spcAft>
              <a:buClr>
                <a:srgbClr val="CC181D"/>
              </a:buClr>
              <a:buSzPts val="1600"/>
              <a:buFont typeface="Noto Sans Symbols"/>
              <a:buChar char="●"/>
              <a:defRPr sz="1600" b="1"/>
            </a:lvl3pPr>
            <a:lvl4pPr marL="1828800" lvl="3" indent="-304800" algn="l">
              <a:lnSpc>
                <a:spcPct val="100000"/>
              </a:lnSpc>
              <a:spcBef>
                <a:spcPts val="500"/>
              </a:spcBef>
              <a:spcAft>
                <a:spcPts val="0"/>
              </a:spcAft>
              <a:buClr>
                <a:srgbClr val="CC181D"/>
              </a:buClr>
              <a:buSzPts val="1200"/>
              <a:buFont typeface="Arial"/>
              <a:buChar char="•"/>
              <a:defRPr sz="1200" b="1"/>
            </a:lvl4pPr>
            <a:lvl5pPr marL="2286000" lvl="4" indent="-314325" algn="l">
              <a:lnSpc>
                <a:spcPct val="90000"/>
              </a:lnSpc>
              <a:spcBef>
                <a:spcPts val="500"/>
              </a:spcBef>
              <a:spcAft>
                <a:spcPts val="0"/>
              </a:spcAft>
              <a:buClr>
                <a:srgbClr val="CC181D"/>
              </a:buClr>
              <a:buSzPts val="1350"/>
              <a:buFont typeface="Noto Sans Symbols"/>
              <a:buChar char="●"/>
              <a:defRPr sz="1350" b="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title"/>
          </p:nvPr>
        </p:nvSpPr>
        <p:spPr>
          <a:xfrm>
            <a:off x="349956" y="259072"/>
            <a:ext cx="11261019" cy="75988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46444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656565"/>
                </a:solidFill>
                <a:latin typeface="Noto Sans"/>
                <a:ea typeface="Noto Sans"/>
                <a:cs typeface="Noto Sans"/>
                <a:sym typeface="Noto Sans"/>
              </a:defRPr>
            </a:lvl9pPr>
          </a:lstStyle>
          <a:p>
            <a:pPr marL="0" lvl="0" indent="0" algn="r" rtl="0">
              <a:spcBef>
                <a:spcPts val="0"/>
              </a:spcBef>
              <a:spcAft>
                <a:spcPts val="0"/>
              </a:spcAft>
              <a:buNone/>
            </a:pPr>
            <a:fld id="{00000000-1234-1234-1234-123412341234}" type="slidenum">
              <a:rPr lang="zh-TW"/>
              <a:t>‹#›</a:t>
            </a:fld>
            <a:endParaRPr/>
          </a:p>
        </p:txBody>
      </p:sp>
      <p:sp>
        <p:nvSpPr>
          <p:cNvPr id="28" name="Google Shape;28;p10"/>
          <p:cNvSpPr txBox="1"/>
          <p:nvPr/>
        </p:nvSpPr>
        <p:spPr>
          <a:xfrm>
            <a:off x="-2146501" y="-1235899"/>
            <a:ext cx="11261019" cy="75988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464444"/>
              </a:buClr>
              <a:buSzPts val="3000"/>
              <a:buFont typeface="Noto Sans"/>
              <a:buNone/>
            </a:pPr>
            <a:endParaRPr sz="3000" b="1" i="0" u="none" strike="noStrike" cap="none">
              <a:solidFill>
                <a:srgbClr val="464444"/>
              </a:solidFill>
              <a:latin typeface="Noto Sans"/>
              <a:ea typeface="Noto Sans"/>
              <a:cs typeface="Noto Sans"/>
              <a:sym typeface="Noto Sans"/>
            </a:endParaRPr>
          </a:p>
        </p:txBody>
      </p:sp>
      <p:pic>
        <p:nvPicPr>
          <p:cNvPr id="29" name="Google Shape;29;p10" title="標語_中.png"/>
          <p:cNvPicPr preferRelativeResize="0"/>
          <p:nvPr/>
        </p:nvPicPr>
        <p:blipFill>
          <a:blip r:embed="rId2">
            <a:alphaModFix/>
          </a:blip>
          <a:stretch>
            <a:fillRect/>
          </a:stretch>
        </p:blipFill>
        <p:spPr>
          <a:xfrm>
            <a:off x="10311550" y="6534225"/>
            <a:ext cx="1071550" cy="128575"/>
          </a:xfrm>
          <a:prstGeom prst="rect">
            <a:avLst/>
          </a:prstGeom>
          <a:noFill/>
          <a:ln>
            <a:noFill/>
          </a:ln>
        </p:spPr>
      </p:pic>
      <p:pic>
        <p:nvPicPr>
          <p:cNvPr id="30" name="Google Shape;30;p10" title="金控_中_彩.png"/>
          <p:cNvPicPr preferRelativeResize="0"/>
          <p:nvPr/>
        </p:nvPicPr>
        <p:blipFill>
          <a:blip r:embed="rId3">
            <a:alphaModFix/>
          </a:blip>
          <a:stretch>
            <a:fillRect/>
          </a:stretch>
        </p:blipFill>
        <p:spPr>
          <a:xfrm>
            <a:off x="0" y="6248175"/>
            <a:ext cx="1602775" cy="609825"/>
          </a:xfrm>
          <a:prstGeom prst="rect">
            <a:avLst/>
          </a:prstGeom>
          <a:noFill/>
          <a:ln>
            <a:noFill/>
          </a:ln>
        </p:spPr>
      </p:pic>
      <p:cxnSp>
        <p:nvCxnSpPr>
          <p:cNvPr id="31" name="Google Shape;31;p10"/>
          <p:cNvCxnSpPr/>
          <p:nvPr/>
        </p:nvCxnSpPr>
        <p:spPr>
          <a:xfrm>
            <a:off x="1597301" y="6445831"/>
            <a:ext cx="8341800" cy="0"/>
          </a:xfrm>
          <a:prstGeom prst="straightConnector1">
            <a:avLst/>
          </a:prstGeom>
          <a:noFill/>
          <a:ln w="19050" cap="flat" cmpd="sng">
            <a:solidFill>
              <a:srgbClr val="D70C18"/>
            </a:solidFill>
            <a:prstDash val="solid"/>
            <a:round/>
            <a:headEnd type="none" w="med" len="med"/>
            <a:tailEnd type="none" w="med" len="med"/>
          </a:ln>
        </p:spPr>
      </p:cxnSp>
      <p:cxnSp>
        <p:nvCxnSpPr>
          <p:cNvPr id="32" name="Google Shape;32;p10"/>
          <p:cNvCxnSpPr/>
          <p:nvPr/>
        </p:nvCxnSpPr>
        <p:spPr>
          <a:xfrm rot="10800000">
            <a:off x="9939225" y="6445838"/>
            <a:ext cx="1446600" cy="0"/>
          </a:xfrm>
          <a:prstGeom prst="straightConnector1">
            <a:avLst/>
          </a:prstGeom>
          <a:noFill/>
          <a:ln w="19050" cap="flat" cmpd="sng">
            <a:solidFill>
              <a:srgbClr val="D8D8D8"/>
            </a:solidFill>
            <a:prstDash val="solid"/>
            <a:round/>
            <a:headEnd type="none" w="med" len="med"/>
            <a:tailEnd type="none" w="med" len="med"/>
          </a:ln>
        </p:spPr>
      </p:cxnSp>
    </p:spTree>
    <p:extLst>
      <p:ext uri="{BB962C8B-B14F-4D97-AF65-F5344CB8AC3E}">
        <p14:creationId xmlns:p14="http://schemas.microsoft.com/office/powerpoint/2010/main" val="351964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章節標題" preserve="1">
  <p:cSld name="2_章節標題">
    <p:spTree>
      <p:nvGrpSpPr>
        <p:cNvPr id="1" name="Shape 33"/>
        <p:cNvGrpSpPr/>
        <p:nvPr/>
      </p:nvGrpSpPr>
      <p:grpSpPr>
        <a:xfrm>
          <a:off x="0" y="0"/>
          <a:ext cx="0" cy="0"/>
          <a:chOff x="0" y="0"/>
          <a:chExt cx="0" cy="0"/>
        </a:xfrm>
      </p:grpSpPr>
      <p:pic>
        <p:nvPicPr>
          <p:cNvPr id="3" name="圖片 2" descr="一張含有 設計 的圖片&#10;&#10;AI 產生的內容可能不正確。">
            <a:extLst>
              <a:ext uri="{FF2B5EF4-FFF2-40B4-BE49-F238E27FC236}">
                <a16:creationId xmlns:a16="http://schemas.microsoft.com/office/drawing/2014/main" id="{3B5AF3D8-B199-5417-755A-9D51D04F6E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34" name="Google Shape;34;p11"/>
          <p:cNvSpPr txBox="1">
            <a:spLocks noGrp="1"/>
          </p:cNvSpPr>
          <p:nvPr>
            <p:ph type="title"/>
          </p:nvPr>
        </p:nvSpPr>
        <p:spPr>
          <a:xfrm>
            <a:off x="831851" y="4128475"/>
            <a:ext cx="10515600" cy="1608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464444"/>
              </a:buClr>
              <a:buSzPts val="4800"/>
              <a:buNone/>
              <a:defRPr sz="4800" i="0">
                <a:solidFill>
                  <a:srgbClr val="464444"/>
                </a:solidFill>
              </a:defRPr>
            </a:lvl1pPr>
            <a:lvl2pPr lvl="1" algn="ctr">
              <a:lnSpc>
                <a:spcPct val="100000"/>
              </a:lnSpc>
              <a:spcBef>
                <a:spcPts val="0"/>
              </a:spcBef>
              <a:spcAft>
                <a:spcPts val="0"/>
              </a:spcAft>
              <a:buSzPts val="1400"/>
              <a:buNone/>
              <a:defRPr b="1"/>
            </a:lvl2pPr>
            <a:lvl3pPr lvl="2" algn="ctr">
              <a:lnSpc>
                <a:spcPct val="100000"/>
              </a:lnSpc>
              <a:spcBef>
                <a:spcPts val="0"/>
              </a:spcBef>
              <a:spcAft>
                <a:spcPts val="0"/>
              </a:spcAft>
              <a:buSzPts val="1400"/>
              <a:buNone/>
              <a:defRPr b="1"/>
            </a:lvl3pPr>
            <a:lvl4pPr lvl="3" algn="ctr">
              <a:lnSpc>
                <a:spcPct val="100000"/>
              </a:lnSpc>
              <a:spcBef>
                <a:spcPts val="0"/>
              </a:spcBef>
              <a:spcAft>
                <a:spcPts val="0"/>
              </a:spcAft>
              <a:buSzPts val="1400"/>
              <a:buNone/>
              <a:defRPr b="1"/>
            </a:lvl4pPr>
            <a:lvl5pPr lvl="4" algn="ctr">
              <a:lnSpc>
                <a:spcPct val="100000"/>
              </a:lnSpc>
              <a:spcBef>
                <a:spcPts val="0"/>
              </a:spcBef>
              <a:spcAft>
                <a:spcPts val="0"/>
              </a:spcAft>
              <a:buSzPts val="1400"/>
              <a:buNone/>
              <a:defRPr b="1"/>
            </a:lvl5pPr>
            <a:lvl6pPr lvl="5" algn="ctr">
              <a:lnSpc>
                <a:spcPct val="100000"/>
              </a:lnSpc>
              <a:spcBef>
                <a:spcPts val="0"/>
              </a:spcBef>
              <a:spcAft>
                <a:spcPts val="0"/>
              </a:spcAft>
              <a:buSzPts val="1400"/>
              <a:buNone/>
              <a:defRPr b="1"/>
            </a:lvl6pPr>
            <a:lvl7pPr lvl="6" algn="ctr">
              <a:lnSpc>
                <a:spcPct val="100000"/>
              </a:lnSpc>
              <a:spcBef>
                <a:spcPts val="0"/>
              </a:spcBef>
              <a:spcAft>
                <a:spcPts val="0"/>
              </a:spcAft>
              <a:buSzPts val="1400"/>
              <a:buNone/>
              <a:defRPr b="1"/>
            </a:lvl7pPr>
            <a:lvl8pPr lvl="7" algn="ctr">
              <a:lnSpc>
                <a:spcPct val="100000"/>
              </a:lnSpc>
              <a:spcBef>
                <a:spcPts val="0"/>
              </a:spcBef>
              <a:spcAft>
                <a:spcPts val="0"/>
              </a:spcAft>
              <a:buSzPts val="1400"/>
              <a:buNone/>
              <a:defRPr b="1"/>
            </a:lvl8pPr>
            <a:lvl9pPr lvl="8" algn="ctr">
              <a:lnSpc>
                <a:spcPct val="100000"/>
              </a:lnSpc>
              <a:spcBef>
                <a:spcPts val="0"/>
              </a:spcBef>
              <a:spcAft>
                <a:spcPts val="0"/>
              </a:spcAft>
              <a:buSzPts val="1400"/>
              <a:buNone/>
              <a:defRPr b="1"/>
            </a:lvl9pPr>
          </a:lstStyle>
          <a:p>
            <a:endParaRPr/>
          </a:p>
        </p:txBody>
      </p:sp>
      <p:pic>
        <p:nvPicPr>
          <p:cNvPr id="35" name="Google Shape;35;p11" title="金控_中_白.png"/>
          <p:cNvPicPr preferRelativeResize="0"/>
          <p:nvPr/>
        </p:nvPicPr>
        <p:blipFill>
          <a:blip r:embed="rId3">
            <a:alphaModFix/>
          </a:blip>
          <a:stretch>
            <a:fillRect/>
          </a:stretch>
        </p:blipFill>
        <p:spPr>
          <a:xfrm>
            <a:off x="3308100" y="688548"/>
            <a:ext cx="5575550" cy="2121525"/>
          </a:xfrm>
          <a:prstGeom prst="rect">
            <a:avLst/>
          </a:prstGeom>
          <a:noFill/>
          <a:ln>
            <a:noFill/>
          </a:ln>
        </p:spPr>
      </p:pic>
    </p:spTree>
    <p:extLst>
      <p:ext uri="{BB962C8B-B14F-4D97-AF65-F5344CB8AC3E}">
        <p14:creationId xmlns:p14="http://schemas.microsoft.com/office/powerpoint/2010/main" val="97486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D00B95-F112-B8B7-381C-1E417E4AB95D}"/>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97BE2AAC-90E4-D32C-C2EC-A159487F5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D8B5046B-CF36-90D5-96AF-C53DBA745A58}"/>
              </a:ext>
            </a:extLst>
          </p:cNvPr>
          <p:cNvSpPr>
            <a:spLocks noGrp="1"/>
          </p:cNvSpPr>
          <p:nvPr>
            <p:ph type="dt" sz="half" idx="10"/>
          </p:nvPr>
        </p:nvSpPr>
        <p:spPr/>
        <p:txBody>
          <a:bodyPr/>
          <a:lstStyle/>
          <a:p>
            <a:fld id="{CDBF5755-7018-4945-A46B-2B4DE79FC767}" type="datetimeFigureOut">
              <a:rPr kumimoji="1" lang="zh-TW" altLang="en-US" smtClean="0"/>
              <a:t>2026/5/26</a:t>
            </a:fld>
            <a:endParaRPr kumimoji="1" lang="zh-TW" altLang="en-US"/>
          </a:p>
        </p:txBody>
      </p:sp>
      <p:sp>
        <p:nvSpPr>
          <p:cNvPr id="5" name="頁尾版面配置區 4">
            <a:extLst>
              <a:ext uri="{FF2B5EF4-FFF2-40B4-BE49-F238E27FC236}">
                <a16:creationId xmlns:a16="http://schemas.microsoft.com/office/drawing/2014/main" id="{7C4874EB-7423-DBD2-1C7B-424E851D8E7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530B08D-6B26-34AE-92D0-8D2AB1E7F8C4}"/>
              </a:ext>
            </a:extLst>
          </p:cNvPr>
          <p:cNvSpPr>
            <a:spLocks noGrp="1"/>
          </p:cNvSpPr>
          <p:nvPr>
            <p:ph type="sldNum" sz="quarter" idx="12"/>
          </p:nvPr>
        </p:nvSpPr>
        <p:spPr/>
        <p:txBody>
          <a:bodyPr/>
          <a:lstStyle/>
          <a:p>
            <a:fld id="{A207DD83-9373-1C49-B3EB-CD40710A3CCF}" type="slidenum">
              <a:rPr kumimoji="1" lang="zh-TW" altLang="en-US" smtClean="0"/>
              <a:t>‹#›</a:t>
            </a:fld>
            <a:endParaRPr kumimoji="1" lang="zh-TW" altLang="en-US"/>
          </a:p>
        </p:txBody>
      </p:sp>
    </p:spTree>
    <p:extLst>
      <p:ext uri="{BB962C8B-B14F-4D97-AF65-F5344CB8AC3E}">
        <p14:creationId xmlns:p14="http://schemas.microsoft.com/office/powerpoint/2010/main" val="19626679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519290" y="1176425"/>
            <a:ext cx="11091600" cy="50004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rgbClr val="EF0000"/>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1pPr>
            <a:lvl2pPr marL="914400" marR="0" lvl="1" indent="-355600" algn="l" rtl="0">
              <a:lnSpc>
                <a:spcPct val="90000"/>
              </a:lnSpc>
              <a:spcBef>
                <a:spcPts val="500"/>
              </a:spcBef>
              <a:spcAft>
                <a:spcPts val="0"/>
              </a:spcAft>
              <a:buClr>
                <a:srgbClr val="EF0000"/>
              </a:buClr>
              <a:buSzPts val="2000"/>
              <a:buFont typeface="Microsoft JhengHei"/>
              <a:buChar char="■"/>
              <a:defRPr sz="2000" b="1" i="0" u="none" strike="noStrike" cap="none">
                <a:solidFill>
                  <a:srgbClr val="464444"/>
                </a:solidFill>
                <a:latin typeface="Microsoft JhengHei"/>
                <a:ea typeface="Microsoft JhengHei"/>
                <a:cs typeface="Microsoft JhengHei"/>
                <a:sym typeface="Microsoft JhengHei"/>
              </a:defRPr>
            </a:lvl2pPr>
            <a:lvl3pPr marL="1371600" marR="0" lvl="2" indent="-330200" algn="l" rtl="0">
              <a:lnSpc>
                <a:spcPct val="90000"/>
              </a:lnSpc>
              <a:spcBef>
                <a:spcPts val="500"/>
              </a:spcBef>
              <a:spcAft>
                <a:spcPts val="0"/>
              </a:spcAft>
              <a:buClr>
                <a:srgbClr val="EF0000"/>
              </a:buClr>
              <a:buSzPts val="1600"/>
              <a:buFont typeface="Microsoft JhengHei"/>
              <a:buChar char="■"/>
              <a:defRPr sz="1600" b="1" i="0" u="none" strike="noStrike" cap="none">
                <a:solidFill>
                  <a:srgbClr val="464444"/>
                </a:solidFill>
                <a:latin typeface="Microsoft JhengHei"/>
                <a:ea typeface="Microsoft JhengHei"/>
                <a:cs typeface="Microsoft JhengHei"/>
                <a:sym typeface="Microsoft JhengHei"/>
              </a:defRPr>
            </a:lvl3pPr>
            <a:lvl4pPr marL="1828800" marR="0" lvl="3" indent="-228600" algn="l" rtl="0">
              <a:lnSpc>
                <a:spcPct val="90000"/>
              </a:lnSpc>
              <a:spcBef>
                <a:spcPts val="500"/>
              </a:spcBef>
              <a:spcAft>
                <a:spcPts val="0"/>
              </a:spcAft>
              <a:buClr>
                <a:srgbClr val="464444"/>
              </a:buClr>
              <a:buSzPts val="1600"/>
              <a:buFont typeface="Microsoft JhengHei"/>
              <a:buNone/>
              <a:defRPr sz="1600" b="1" i="0" u="none" strike="noStrike" cap="none">
                <a:solidFill>
                  <a:srgbClr val="464444"/>
                </a:solidFill>
                <a:latin typeface="Microsoft JhengHei"/>
                <a:ea typeface="Microsoft JhengHei"/>
                <a:cs typeface="Microsoft JhengHei"/>
                <a:sym typeface="Microsoft JhengHei"/>
              </a:defRPr>
            </a:lvl4pPr>
            <a:lvl5pPr marL="2286000" marR="0" lvl="4" indent="-381000" algn="l" rtl="0">
              <a:lnSpc>
                <a:spcPct val="90000"/>
              </a:lnSpc>
              <a:spcBef>
                <a:spcPts val="500"/>
              </a:spcBef>
              <a:spcAft>
                <a:spcPts val="0"/>
              </a:spcAft>
              <a:buClr>
                <a:srgbClr val="464444"/>
              </a:buClr>
              <a:buSzPts val="2400"/>
              <a:buFont typeface="Microsoft JhengHei"/>
              <a:buChar char="•"/>
              <a:defRPr sz="2400" b="1" i="0" u="none" strike="noStrike" cap="none">
                <a:solidFill>
                  <a:srgbClr val="464444"/>
                </a:solidFill>
                <a:latin typeface="Microsoft JhengHei"/>
                <a:ea typeface="Microsoft JhengHei"/>
                <a:cs typeface="Microsoft JhengHei"/>
                <a:sym typeface="Microsoft JhengHei"/>
              </a:defRPr>
            </a:lvl5pPr>
            <a:lvl6pPr marL="2743200" marR="0" lvl="5"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6pPr>
            <a:lvl7pPr marL="3200400" marR="0" lvl="6"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7pPr>
            <a:lvl8pPr marL="3657600" marR="0" lvl="7"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8pPr>
            <a:lvl9pPr marL="4114800" marR="0" lvl="8" indent="-342900" algn="l" rtl="0">
              <a:lnSpc>
                <a:spcPct val="90000"/>
              </a:lnSpc>
              <a:spcBef>
                <a:spcPts val="500"/>
              </a:spcBef>
              <a:spcAft>
                <a:spcPts val="0"/>
              </a:spcAft>
              <a:buClr>
                <a:schemeClr val="dk1"/>
              </a:buClr>
              <a:buSzPts val="1800"/>
              <a:buFont typeface="Microsoft JhengHei"/>
              <a:buChar char="•"/>
              <a:defRPr sz="1800" b="1" i="0" u="none" strike="noStrike" cap="none">
                <a:solidFill>
                  <a:schemeClr val="dk1"/>
                </a:solidFill>
                <a:latin typeface="Microsoft JhengHei"/>
                <a:ea typeface="Microsoft JhengHei"/>
                <a:cs typeface="Microsoft JhengHei"/>
                <a:sym typeface="Microsoft JhengHei"/>
              </a:defRPr>
            </a:lvl9pPr>
          </a:lstStyle>
          <a:p>
            <a:endParaRPr/>
          </a:p>
        </p:txBody>
      </p:sp>
      <p:sp>
        <p:nvSpPr>
          <p:cNvPr id="11" name="Google Shape;11;p6"/>
          <p:cNvSpPr txBox="1">
            <a:spLocks noGrp="1"/>
          </p:cNvSpPr>
          <p:nvPr>
            <p:ph type="title"/>
          </p:nvPr>
        </p:nvSpPr>
        <p:spPr>
          <a:xfrm>
            <a:off x="519290" y="259072"/>
            <a:ext cx="11091685" cy="75988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464444"/>
              </a:buClr>
              <a:buSzPts val="3000"/>
              <a:buFont typeface="Microsoft JhengHei"/>
              <a:buNone/>
              <a:defRPr sz="3000" b="1" i="0" u="none" strike="noStrike" cap="none">
                <a:solidFill>
                  <a:srgbClr val="464444"/>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2pPr>
            <a:lvl3pPr marR="0" lvl="2"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3pPr>
            <a:lvl4pPr marR="0" lvl="3"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4pPr>
            <a:lvl5pPr marR="0" lvl="4"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5pPr>
            <a:lvl6pPr marR="0" lvl="5"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6pPr>
            <a:lvl7pPr marR="0" lvl="6"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7pPr>
            <a:lvl8pPr marR="0" lvl="7"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8pPr>
            <a:lvl9pPr marR="0" lvl="8" algn="l" rtl="0">
              <a:lnSpc>
                <a:spcPct val="100000"/>
              </a:lnSpc>
              <a:spcBef>
                <a:spcPts val="0"/>
              </a:spcBef>
              <a:spcAft>
                <a:spcPts val="0"/>
              </a:spcAft>
              <a:buClr>
                <a:srgbClr val="000000"/>
              </a:buClr>
              <a:buSzPts val="1400"/>
              <a:buFont typeface="Microsoft JhengHei"/>
              <a:buNone/>
              <a:defRPr sz="1800" i="0" u="none" strike="noStrike" cap="none">
                <a:solidFill>
                  <a:srgbClr val="000000"/>
                </a:solidFill>
                <a:latin typeface="Microsoft JhengHei"/>
                <a:ea typeface="Microsoft JhengHei"/>
                <a:cs typeface="Microsoft JhengHei"/>
                <a:sym typeface="Microsoft JhengHei"/>
              </a:defRPr>
            </a:lvl9pPr>
          </a:lstStyle>
          <a:p>
            <a:endParaRPr/>
          </a:p>
        </p:txBody>
      </p:sp>
      <p:sp>
        <p:nvSpPr>
          <p:cNvPr id="12" name="Google Shape;12;p6"/>
          <p:cNvSpPr txBox="1">
            <a:spLocks noGrp="1"/>
          </p:cNvSpPr>
          <p:nvPr>
            <p:ph type="sldNum" idx="12"/>
          </p:nvPr>
        </p:nvSpPr>
        <p:spPr>
          <a:xfrm flipH="1">
            <a:off x="11397425" y="6394525"/>
            <a:ext cx="651300" cy="32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1pPr>
            <a:lvl2pPr marL="0" marR="0" lvl="1"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2pPr>
            <a:lvl3pPr marL="0" marR="0" lvl="2"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3pPr>
            <a:lvl4pPr marL="0" marR="0" lvl="3"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4pPr>
            <a:lvl5pPr marL="0" marR="0" lvl="4"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5pPr>
            <a:lvl6pPr marL="0" marR="0" lvl="5"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6pPr>
            <a:lvl7pPr marL="0" marR="0" lvl="6"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7pPr>
            <a:lvl8pPr marL="0" marR="0" lvl="7"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8pPr>
            <a:lvl9pPr marL="0" marR="0" lvl="8" indent="0" algn="r" rtl="0">
              <a:lnSpc>
                <a:spcPct val="100000"/>
              </a:lnSpc>
              <a:spcBef>
                <a:spcPts val="0"/>
              </a:spcBef>
              <a:spcAft>
                <a:spcPts val="0"/>
              </a:spcAft>
              <a:buClr>
                <a:srgbClr val="000000"/>
              </a:buClr>
              <a:buSzPts val="1100"/>
              <a:buFont typeface="Arial"/>
              <a:buNone/>
              <a:defRPr sz="1100" i="0" u="none" strike="noStrike" cap="none">
                <a:solidFill>
                  <a:srgbClr val="7F7F7F"/>
                </a:solidFill>
                <a:latin typeface="Microsoft JhengHei"/>
                <a:ea typeface="Microsoft JhengHei"/>
                <a:cs typeface="Microsoft JhengHei"/>
                <a:sym typeface="Microsoft JhengHei"/>
              </a:defRPr>
            </a:lvl9pPr>
          </a:lstStyle>
          <a:p>
            <a:pPr marL="0" lvl="0" indent="0" algn="r" rtl="0">
              <a:spcBef>
                <a:spcPts val="0"/>
              </a:spcBef>
              <a:spcAft>
                <a:spcPts val="0"/>
              </a:spcAft>
              <a:buNone/>
            </a:pPr>
            <a:fld id="{00000000-1234-1234-1234-123412341234}" type="slidenum">
              <a:rPr lang="zh-TW"/>
              <a:t>‹#›</a:t>
            </a:fld>
            <a:endParaRPr/>
          </a:p>
        </p:txBody>
      </p:sp>
    </p:spTree>
    <p:extLst>
      <p:ext uri="{BB962C8B-B14F-4D97-AF65-F5344CB8AC3E}">
        <p14:creationId xmlns:p14="http://schemas.microsoft.com/office/powerpoint/2010/main" val="192558018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06FCBD-1057-479C-BDC5-C41CA873157D}"/>
              </a:ext>
            </a:extLst>
          </p:cNvPr>
          <p:cNvSpPr>
            <a:spLocks noGrp="1"/>
          </p:cNvSpPr>
          <p:nvPr>
            <p:ph type="title"/>
          </p:nvPr>
        </p:nvSpPr>
        <p:spPr/>
        <p:txBody>
          <a:bodyPr/>
          <a:lstStyle/>
          <a:p>
            <a:r>
              <a:rPr sz="3200" b="1">
                <a:solidFill>
                  <a:srgbClr val="4D4D4D"/>
                </a:solidFill>
                <a:latin typeface="微軟正黑體"/>
                <a:ea typeface="微軟正黑體"/>
                <a:cs typeface="微軟正黑體"/>
              </a:rPr>
              <a:t>信用卡市場分析與經營洞察</a:t>
            </a:r>
            <a:endParaRPr lang="zh-TW" altLang="en-US"/>
          </a:p>
        </p:txBody>
      </p:sp>
    </p:spTree>
    <p:extLst>
      <p:ext uri="{BB962C8B-B14F-4D97-AF65-F5344CB8AC3E}">
        <p14:creationId xmlns:p14="http://schemas.microsoft.com/office/powerpoint/2010/main" val="58676395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pPr>
              <a:spcAft>
                <a:spcPts val="1000"/>
              </a:spcAft>
            </a:pPr>
            <a:r>
              <a:rPr sz="1600" b="1">
                <a:solidFill>
                  <a:srgbClr val="C12026"/>
                </a:solidFill>
                <a:latin typeface="微軟正黑體"/>
                <a:ea typeface="微軟正黑體"/>
                <a:cs typeface="微軟正黑體"/>
              </a:rPr>
              <a:t>01　</a:t>
            </a:r>
            <a:r>
              <a:rPr sz="1600" b="0">
                <a:solidFill>
                  <a:srgbClr val="1A1A1A"/>
                </a:solidFill>
                <a:latin typeface="微軟正黑體"/>
                <a:ea typeface="微軟正黑體"/>
                <a:cs typeface="微軟正黑體"/>
              </a:rPr>
              <a:t>Executive Summary</a:t>
            </a:r>
          </a:p>
          <a:p>
            <a:pPr>
              <a:spcAft>
                <a:spcPts val="1000"/>
              </a:spcAft>
            </a:pPr>
            <a:r>
              <a:rPr sz="1600" b="1">
                <a:solidFill>
                  <a:srgbClr val="C12026"/>
                </a:solidFill>
                <a:latin typeface="微軟正黑體"/>
                <a:ea typeface="微軟正黑體"/>
                <a:cs typeface="微軟正黑體"/>
              </a:rPr>
              <a:t>02　</a:t>
            </a:r>
            <a:r>
              <a:rPr sz="1600" b="0">
                <a:solidFill>
                  <a:srgbClr val="1A1A1A"/>
                </a:solidFill>
                <a:latin typeface="微軟正黑體"/>
                <a:ea typeface="微軟正黑體"/>
                <a:cs typeface="微軟正黑體"/>
              </a:rPr>
              <a:t>市場整體概況</a:t>
            </a:r>
          </a:p>
          <a:p>
            <a:pPr>
              <a:spcAft>
                <a:spcPts val="1000"/>
              </a:spcAft>
            </a:pPr>
            <a:r>
              <a:rPr sz="1600" b="1">
                <a:solidFill>
                  <a:srgbClr val="C12026"/>
                </a:solidFill>
                <a:latin typeface="微軟正黑體"/>
                <a:ea typeface="微軟正黑體"/>
                <a:cs typeface="微軟正黑體"/>
              </a:rPr>
              <a:t>03　</a:t>
            </a:r>
            <a:r>
              <a:rPr sz="1600" b="0">
                <a:solidFill>
                  <a:srgbClr val="1A1A1A"/>
                </a:solidFill>
                <a:latin typeface="微軟正黑體"/>
                <a:ea typeface="微軟正黑體"/>
                <a:cs typeface="微軟正黑體"/>
              </a:rPr>
              <a:t>客戶活躍度</a:t>
            </a:r>
          </a:p>
          <a:p>
            <a:pPr>
              <a:spcAft>
                <a:spcPts val="1000"/>
              </a:spcAft>
            </a:pPr>
            <a:r>
              <a:rPr sz="1600" b="1">
                <a:solidFill>
                  <a:srgbClr val="C12026"/>
                </a:solidFill>
                <a:latin typeface="微軟正黑體"/>
                <a:ea typeface="微軟正黑體"/>
                <a:cs typeface="微軟正黑體"/>
              </a:rPr>
              <a:t>04　</a:t>
            </a:r>
            <a:r>
              <a:rPr sz="1600" b="0">
                <a:solidFill>
                  <a:srgbClr val="1A1A1A"/>
                </a:solidFill>
                <a:latin typeface="微軟正黑體"/>
                <a:ea typeface="微軟正黑體"/>
                <a:cs typeface="微軟正黑體"/>
              </a:rPr>
              <a:t>獲利能力</a:t>
            </a:r>
          </a:p>
          <a:p>
            <a:pPr>
              <a:spcAft>
                <a:spcPts val="1000"/>
              </a:spcAft>
            </a:pPr>
            <a:r>
              <a:rPr sz="1600" b="1">
                <a:solidFill>
                  <a:srgbClr val="C12026"/>
                </a:solidFill>
                <a:latin typeface="微軟正黑體"/>
                <a:ea typeface="微軟正黑體"/>
                <a:cs typeface="微軟正黑體"/>
              </a:rPr>
              <a:t>05　</a:t>
            </a:r>
            <a:r>
              <a:rPr sz="1600" b="0">
                <a:solidFill>
                  <a:srgbClr val="1A1A1A"/>
                </a:solidFill>
                <a:latin typeface="微軟正黑體"/>
                <a:ea typeface="微軟正黑體"/>
                <a:cs typeface="微軟正黑體"/>
              </a:rPr>
              <a:t>風險與警訊</a:t>
            </a:r>
          </a:p>
          <a:p>
            <a:pPr>
              <a:spcAft>
                <a:spcPts val="1000"/>
              </a:spcAft>
            </a:pPr>
            <a:r>
              <a:rPr sz="1600" b="1">
                <a:solidFill>
                  <a:srgbClr val="C12026"/>
                </a:solidFill>
                <a:latin typeface="微軟正黑體"/>
                <a:ea typeface="微軟正黑體"/>
                <a:cs typeface="微軟正黑體"/>
              </a:rPr>
              <a:t>06　</a:t>
            </a:r>
            <a:r>
              <a:rPr sz="1600" b="0">
                <a:solidFill>
                  <a:srgbClr val="1A1A1A"/>
                </a:solidFill>
                <a:latin typeface="微軟正黑體"/>
                <a:ea typeface="微軟正黑體"/>
                <a:cs typeface="微軟正黑體"/>
              </a:rPr>
              <a:t>未來趨勢推測</a:t>
            </a:r>
          </a:p>
          <a:p>
            <a:pPr>
              <a:spcAft>
                <a:spcPts val="1000"/>
              </a:spcAft>
            </a:pPr>
            <a:r>
              <a:rPr sz="1600" b="1">
                <a:solidFill>
                  <a:srgbClr val="C12026"/>
                </a:solidFill>
                <a:latin typeface="微軟正黑體"/>
                <a:ea typeface="微軟正黑體"/>
                <a:cs typeface="微軟正黑體"/>
              </a:rPr>
              <a:t>07　</a:t>
            </a:r>
            <a:r>
              <a:rPr sz="1600" b="0">
                <a:solidFill>
                  <a:srgbClr val="1A1A1A"/>
                </a:solidFill>
                <a:latin typeface="微軟正黑體"/>
                <a:ea typeface="微軟正黑體"/>
                <a:cs typeface="微軟正黑體"/>
              </a:rPr>
              <a:t>對台新的策略建議</a:t>
            </a:r>
          </a:p>
          <a:p>
            <a:pPr>
              <a:spcAft>
                <a:spcPts val="1000"/>
              </a:spcAft>
            </a:pPr>
            <a:r>
              <a:rPr sz="1600" b="1">
                <a:solidFill>
                  <a:srgbClr val="C12026"/>
                </a:solidFill>
                <a:latin typeface="微軟正黑體"/>
                <a:ea typeface="微軟正黑體"/>
                <a:cs typeface="微軟正黑體"/>
              </a:rPr>
              <a:t>08　</a:t>
            </a:r>
            <a:r>
              <a:rPr sz="1600" b="0">
                <a:solidFill>
                  <a:srgbClr val="1A1A1A"/>
                </a:solidFill>
                <a:latin typeface="微軟正黑體"/>
                <a:ea typeface="微軟正黑體"/>
                <a:cs typeface="微軟正黑體"/>
              </a:rPr>
              <a:t>結論與後續行動</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目錄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01</a:t>
            </a:r>
          </a:p>
          <a:p>
            <a:r>
              <a:rPr sz="3200" b="1">
                <a:solidFill>
                  <a:srgbClr val="4D4D4D"/>
                </a:solidFill>
                <a:latin typeface="微軟正黑體"/>
                <a:ea typeface="微軟正黑體"/>
                <a:cs typeface="微軟正黑體"/>
              </a:rPr>
              <a:t>Executive Summary</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流通卡數於</a:t>
            </a:r>
            <a:r>
              <a:rPr sz="1100" b="1">
                <a:solidFill>
                  <a:srgbClr val="1A1A1A"/>
                </a:solidFill>
                <a:highlight>
                  <a:srgbClr val="FFFF00"/>
                </a:highlight>
                <a:latin typeface="微軟正黑體"/>
                <a:ea typeface="微軟正黑體"/>
                <a:cs typeface="微軟正黑體"/>
              </a:rPr>
              <a:t>58,799,464</a:t>
            </a:r>
            <a:r>
              <a:rPr sz="1100" b="0">
                <a:solidFill>
                  <a:srgbClr val="4D4D4D"/>
                </a:solidFill>
                <a:latin typeface="微軟正黑體"/>
                <a:ea typeface="微軟正黑體"/>
                <a:cs typeface="微軟正黑體"/>
              </a:rPr>
              <a:t>達</a:t>
            </a:r>
            <a:r>
              <a:rPr sz="1100" b="1">
                <a:solidFill>
                  <a:srgbClr val="1A1A1A"/>
                </a:solidFill>
                <a:highlight>
                  <a:srgbClr val="FFFF00"/>
                </a:highlight>
                <a:latin typeface="微軟正黑體"/>
                <a:ea typeface="微軟正黑體"/>
                <a:cs typeface="微軟正黑體"/>
              </a:rPr>
              <a:t>58,799,464</a:t>
            </a:r>
            <a:r>
              <a:rPr sz="1100" b="0">
                <a:solidFill>
                  <a:srgbClr val="4D4D4D"/>
                </a:solidFill>
                <a:latin typeface="微軟正黑體"/>
                <a:ea typeface="微軟正黑體"/>
                <a:cs typeface="微軟正黑體"/>
              </a:rPr>
              <a:t>張，至</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成長至</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張，兩年累計增幅僅</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減</a:t>
            </a:r>
            <a:r>
              <a:rPr sz="1100" b="1">
                <a:solidFill>
                  <a:srgbClr val="1A1A1A"/>
                </a:solidFill>
                <a:highlight>
                  <a:srgbClr val="FFFF00"/>
                </a:highlight>
                <a:latin typeface="微軟正黑體"/>
                <a:ea typeface="微軟正黑體"/>
                <a:cs typeface="微軟正黑體"/>
              </a:rPr>
              <a:t>58,799,464</a:t>
            </a:r>
            <a:r>
              <a:rPr sz="1100" b="0">
                <a:solidFill>
                  <a:srgbClr val="4D4D4D"/>
                </a:solidFill>
                <a:latin typeface="微軟正黑體"/>
                <a:ea typeface="微軟正黑體"/>
                <a:cs typeface="微軟正黑體"/>
              </a:rPr>
              <a:t>，顯示發卡市場已趨飽和，銀行需從既有客群深耕交易頻次與客單價以維持成長動能。</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當月簽帳金額於</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達到高點</a:t>
            </a:r>
            <a:r>
              <a:rPr sz="1100" b="1">
                <a:solidFill>
                  <a:srgbClr val="1A1A1A"/>
                </a:solidFill>
                <a:highlight>
                  <a:srgbClr val="FFFF00"/>
                </a:highlight>
                <a:latin typeface="微軟正黑體"/>
                <a:ea typeface="微軟正黑體"/>
                <a:cs typeface="微軟正黑體"/>
              </a:rPr>
              <a:t>653,264,628</a:t>
            </a:r>
            <a:r>
              <a:rPr sz="1100" b="0">
                <a:solidFill>
                  <a:srgbClr val="4D4D4D"/>
                </a:solidFill>
                <a:latin typeface="微軟正黑體"/>
                <a:ea typeface="微軟正黑體"/>
                <a:cs typeface="微軟正黑體"/>
              </a:rPr>
              <a:t>，較</a:t>
            </a:r>
            <a:r>
              <a:rPr sz="1100" b="1">
                <a:solidFill>
                  <a:srgbClr val="1A1A1A"/>
                </a:solidFill>
                <a:highlight>
                  <a:srgbClr val="FFFF00"/>
                </a:highlight>
                <a:latin typeface="微軟正黑體"/>
                <a:ea typeface="微軟正黑體"/>
                <a:cs typeface="微軟正黑體"/>
              </a:rPr>
              <a:t>11302</a:t>
            </a:r>
            <a:r>
              <a:rPr sz="1100" b="0">
                <a:solidFill>
                  <a:srgbClr val="4D4D4D"/>
                </a:solidFill>
                <a:latin typeface="微軟正黑體"/>
                <a:ea typeface="微軟正黑體"/>
                <a:cs typeface="微軟正黑體"/>
              </a:rPr>
              <a:t>低點</a:t>
            </a:r>
            <a:r>
              <a:rPr sz="1100" b="1">
                <a:solidFill>
                  <a:srgbClr val="1A1A1A"/>
                </a:solidFill>
                <a:highlight>
                  <a:srgbClr val="FFFF00"/>
                </a:highlight>
                <a:latin typeface="微軟正黑體"/>
                <a:ea typeface="微軟正黑體"/>
                <a:cs typeface="微軟正黑體"/>
              </a:rPr>
              <a:t>321,835,011</a:t>
            </a:r>
            <a:r>
              <a:rPr sz="1100" b="0">
                <a:solidFill>
                  <a:srgbClr val="4D4D4D"/>
                </a:solidFill>
                <a:latin typeface="微軟正黑體"/>
                <a:ea typeface="微軟正黑體"/>
                <a:cs typeface="微軟正黑體"/>
              </a:rPr>
              <a:t>呈現顯著波動，反映消費信貸需求受季節性與經濟景氣影響明顯，銀行應針對高峰期預先配置授信額度與風控資源。</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簽帳金額成長幅度明顯超越流通卡數增速，意味市場擴張已由「發卡規模競爭」轉向「單卡消費深度競爭」，銀行需強化場景金融與分期產品設計，提升既有持卡人的交易黏著度與貢獻度，而非單純追求新戶獲取。</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流通卡數與簽帳金額於</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分別達</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與</a:t>
            </a:r>
            <a:r>
              <a:rPr sz="1100" b="1">
                <a:solidFill>
                  <a:srgbClr val="1A1A1A"/>
                </a:solidFill>
                <a:highlight>
                  <a:srgbClr val="FFFF00"/>
                </a:highlight>
                <a:latin typeface="微軟正黑體"/>
                <a:ea typeface="微軟正黑體"/>
                <a:cs typeface="微軟正黑體"/>
              </a:rPr>
              <a:t>453,663,538</a:t>
            </a:r>
            <a:r>
              <a:rPr sz="1100" b="0">
                <a:solidFill>
                  <a:srgbClr val="4D4D4D"/>
                </a:solidFill>
                <a:latin typeface="微軟正黑體"/>
                <a:ea typeface="微軟正黑體"/>
                <a:cs typeface="微軟正黑體"/>
              </a:rPr>
              <a:t>，兩者成長軌跡分化顯示市場進入質量並重階段，管理層應重新檢視績效指標權重，將「活卡率」與「單卡月均簽帳」納入核心 KPI 以反映真實獲利能力。</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Executive Summary</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市場規模由簽帳金額驅動成長，流通卡數進入存量競爭階段</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02</a:t>
            </a:r>
          </a:p>
          <a:p>
            <a:r>
              <a:rPr sz="3200" b="1">
                <a:solidFill>
                  <a:srgbClr val="4D4D4D"/>
                </a:solidFill>
                <a:latin typeface="微軟正黑體"/>
                <a:ea typeface="微軟正黑體"/>
                <a:cs typeface="微軟正黑體"/>
              </a:rPr>
              <a:t>市場整體概況</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簽帳金額成長率在</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出現</a:t>
            </a:r>
            <a:r>
              <a:rPr sz="1100" b="1">
                <a:solidFill>
                  <a:srgbClr val="1A1A1A"/>
                </a:solidFill>
                <a:highlight>
                  <a:srgbClr val="FFFF00"/>
                </a:highlight>
                <a:latin typeface="微軟正黑體"/>
                <a:ea typeface="微軟正黑體"/>
                <a:cs typeface="微軟正黑體"/>
              </a:rPr>
              <a:t>65.9%</a:t>
            </a:r>
            <a:r>
              <a:rPr sz="1100" b="0">
                <a:solidFill>
                  <a:srgbClr val="4D4D4D"/>
                </a:solidFill>
                <a:latin typeface="微軟正黑體"/>
                <a:ea typeface="微軟正黑體"/>
                <a:cs typeface="微軟正黑體"/>
              </a:rPr>
              <a:t>的極端高點，研判可能受該月大型促銷活動或低基期效應影響，屬單月特例而非常態趨勢，建議排除此異常值後觀察其餘月份的成長中樞，以避免對市場動能產生過度樂觀的誤判</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排除</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異常值後，113年其餘月份簽帳金額成長率平均約</a:t>
            </a:r>
            <a:r>
              <a:rPr sz="1100" b="1">
                <a:solidFill>
                  <a:srgbClr val="1A1A1A"/>
                </a:solidFill>
                <a:highlight>
                  <a:srgbClr val="FFFF00"/>
                </a:highlight>
                <a:latin typeface="微軟正黑體"/>
                <a:ea typeface="微軟正黑體"/>
                <a:cs typeface="微軟正黑體"/>
              </a:rPr>
              <a:t>3.0%</a:t>
            </a:r>
            <a:r>
              <a:rPr sz="1100" b="0">
                <a:solidFill>
                  <a:srgbClr val="4D4D4D"/>
                </a:solidFill>
                <a:latin typeface="微軟正黑體"/>
                <a:ea typeface="微軟正黑體"/>
                <a:cs typeface="微軟正黑體"/>
              </a:rPr>
              <a:t>，114年延續此水準，顯示消費交易量維持溫和擴張，但成長動能並未顯著加速，銀行應持續透過通路優惠與場景經營維持交易活躍度</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循環信用餘額成長率全期間介於</a:t>
            </a:r>
            <a:r>
              <a:rPr sz="1100" b="1">
                <a:solidFill>
                  <a:srgbClr val="1A1A1A"/>
                </a:solidFill>
                <a:highlight>
                  <a:srgbClr val="FFFF00"/>
                </a:highlight>
                <a:latin typeface="微軟正黑體"/>
                <a:ea typeface="微軟正黑體"/>
                <a:cs typeface="微軟正黑體"/>
              </a:rPr>
              <a:t>-2.6%</a:t>
            </a:r>
            <a:r>
              <a:rPr sz="1100" b="0">
                <a:solidFill>
                  <a:srgbClr val="4D4D4D"/>
                </a:solidFill>
                <a:latin typeface="微軟正黑體"/>
                <a:ea typeface="微軟正黑體"/>
                <a:cs typeface="微軟正黑體"/>
              </a:rPr>
              <a:t>至</a:t>
            </a:r>
            <a:r>
              <a:rPr sz="1100" b="1">
                <a:solidFill>
                  <a:srgbClr val="1A1A1A"/>
                </a:solidFill>
                <a:highlight>
                  <a:srgbClr val="FFFF00"/>
                </a:highlight>
                <a:latin typeface="微軟正黑體"/>
                <a:ea typeface="微軟正黑體"/>
                <a:cs typeface="微軟正黑體"/>
              </a:rPr>
              <a:t>3.4%</a:t>
            </a:r>
            <a:r>
              <a:rPr sz="1100" b="0">
                <a:solidFill>
                  <a:srgbClr val="4D4D4D"/>
                </a:solidFill>
                <a:latin typeface="微軟正黑體"/>
                <a:ea typeface="微軟正黑體"/>
                <a:cs typeface="微軟正黑體"/>
              </a:rPr>
              <a:t>之間，遠低於簽帳金額成長幅度，反映持卡人傾向全額繳清而非動用循環信用，此趨勢壓縮銀行利息收入空間，建議評估是否透過分期優惠或現金回饋設計引導適度信用使用</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兩指標成長率長期背離，顯示市場擴張高度依賴交易筆數與金額增長，而非信用滲透率提升，此結構下銀行獲利更仰賴手續費收入而非利差收入，應強化高頻消費場景布局並優化商戶手續費談判能力，同時審慎評估過度依賴交易量的風險承受度</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市場成長動能分析</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簽帳金額成長波動劇烈，循環餘額成長穩定但疲弱，顯示市場擴張主要由交易量驅動而非信用使用深度</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市場轉銷呆帳金額在</a:t>
            </a:r>
            <a:r>
              <a:rPr sz="1100" b="1">
                <a:solidFill>
                  <a:srgbClr val="1A1A1A"/>
                </a:solidFill>
                <a:highlight>
                  <a:srgbClr val="FFFF00"/>
                </a:highlight>
                <a:latin typeface="微軟正黑體"/>
                <a:ea typeface="微軟正黑體"/>
                <a:cs typeface="微軟正黑體"/>
              </a:rPr>
              <a:t>11312</a:t>
            </a:r>
            <a:r>
              <a:rPr sz="1100" b="0">
                <a:solidFill>
                  <a:srgbClr val="4D4D4D"/>
                </a:solidFill>
                <a:latin typeface="微軟正黑體"/>
                <a:ea typeface="微軟正黑體"/>
                <a:cs typeface="微軟正黑體"/>
              </a:rPr>
              <a:t>達到峰值</a:t>
            </a:r>
            <a:r>
              <a:rPr sz="1100" b="1">
                <a:solidFill>
                  <a:srgbClr val="1A1A1A"/>
                </a:solidFill>
                <a:highlight>
                  <a:srgbClr val="FFFF00"/>
                </a:highlight>
                <a:latin typeface="微軟正黑體"/>
                <a:ea typeface="微軟正黑體"/>
                <a:cs typeface="微軟正黑體"/>
              </a:rPr>
              <a:t>703,963</a:t>
            </a:r>
            <a:r>
              <a:rPr sz="1100" b="0">
                <a:solidFill>
                  <a:srgbClr val="4D4D4D"/>
                </a:solidFill>
                <a:latin typeface="微軟正黑體"/>
                <a:ea typeface="微軟正黑體"/>
                <a:cs typeface="微軟正黑體"/>
              </a:rPr>
              <a:t>後逐步回落，顯示該期可能集中處理逾期帳款，隨後各期波動趨緩，反映銀行業在高峰過後恢復常態催收節奏，建議持續監測是否有新一波集中轉銷的跡象</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114年全年轉銷呆帳金額整體維持在</a:t>
            </a:r>
            <a:r>
              <a:rPr sz="1100" b="1">
                <a:solidFill>
                  <a:srgbClr val="1A1A1A"/>
                </a:solidFill>
                <a:highlight>
                  <a:srgbClr val="FFFF00"/>
                </a:highlight>
                <a:latin typeface="微軟正黑體"/>
                <a:ea typeface="微軟正黑體"/>
                <a:cs typeface="微軟正黑體"/>
              </a:rPr>
              <a:t>654,750</a:t>
            </a:r>
            <a:r>
              <a:rPr sz="1100" b="0">
                <a:solidFill>
                  <a:srgbClr val="4D4D4D"/>
                </a:solidFill>
                <a:latin typeface="微軟正黑體"/>
                <a:ea typeface="微軟正黑體"/>
                <a:cs typeface="微軟正黑體"/>
              </a:rPr>
              <a:t>至</a:t>
            </a:r>
            <a:r>
              <a:rPr sz="1100" b="1">
                <a:solidFill>
                  <a:srgbClr val="1A1A1A"/>
                </a:solidFill>
                <a:highlight>
                  <a:srgbClr val="FFFF00"/>
                </a:highlight>
                <a:latin typeface="微軟正黑體"/>
                <a:ea typeface="微軟正黑體"/>
                <a:cs typeface="微軟正黑體"/>
              </a:rPr>
              <a:t>645,165</a:t>
            </a:r>
            <a:r>
              <a:rPr sz="1100" b="0">
                <a:solidFill>
                  <a:srgbClr val="4D4D4D"/>
                </a:solidFill>
                <a:latin typeface="微軟正黑體"/>
                <a:ea typeface="微軟正黑體"/>
                <a:cs typeface="微軟正黑體"/>
              </a:rPr>
              <a:t>區間，相較113年初期的</a:t>
            </a:r>
            <a:r>
              <a:rPr sz="1100" b="1">
                <a:solidFill>
                  <a:srgbClr val="1A1A1A"/>
                </a:solidFill>
                <a:highlight>
                  <a:srgbClr val="FFFF00"/>
                </a:highlight>
                <a:latin typeface="微軟正黑體"/>
                <a:ea typeface="微軟正黑體"/>
                <a:cs typeface="微軟正黑體"/>
              </a:rPr>
              <a:t>502,737</a:t>
            </a:r>
            <a:r>
              <a:rPr sz="1100" b="0">
                <a:solidFill>
                  <a:srgbClr val="4D4D4D"/>
                </a:solidFill>
                <a:latin typeface="微軟正黑體"/>
                <a:ea typeface="微軟正黑體"/>
                <a:cs typeface="微軟正黑體"/>
              </a:rPr>
              <a:t>仍處於較高水位，顯示信用風險並未顯著改善，管理層需評估是否與特定產品或客群的逾期率上升有關</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113年下半年至114年期間轉銷金額未出現明顯上升趨勢，顯示整體信用風險暫時受控，但若未來經濟環境轉差或失業率攀升，可能觸發新一波呆帳壓力，建議提前強化授信審核標準並增加撥備覆蓋率</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轉銷呆帳金額的波動幅度在114年較113年收斂，反映銀行業可能已完成前期集中清理，進入穩定管理階段，但管理層仍需關注個別機構是否存在延遲認列或催收效率不彰的情況，避免風險累積</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呆帳風險趨勢</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轉銷呆帳金額於</a:t>
            </a:r>
            <a:r>
              <a:rPr sz="1300" b="1">
                <a:solidFill>
                  <a:srgbClr val="1A1A1A"/>
                </a:solidFill>
                <a:highlight>
                  <a:srgbClr val="FFFF00"/>
                </a:highlight>
                <a:latin typeface="微軟正黑體"/>
                <a:ea typeface="微軟正黑體"/>
                <a:cs typeface="微軟正黑體"/>
              </a:rPr>
              <a:t>11312</a:t>
            </a:r>
            <a:r>
              <a:rPr sz="1300" b="1">
                <a:solidFill>
                  <a:srgbClr val="1A1A1A"/>
                </a:solidFill>
                <a:latin typeface="微軟正黑體"/>
                <a:ea typeface="微軟正黑體"/>
                <a:cs typeface="微軟正黑體"/>
              </a:rPr>
              <a:t>達到高點後回落，114年全年維持相對穩定但仍高於113年初期水準</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03</a:t>
            </a:r>
          </a:p>
          <a:p>
            <a:r>
              <a:rPr sz="3200" b="1">
                <a:solidFill>
                  <a:srgbClr val="4D4D4D"/>
                </a:solidFill>
                <a:latin typeface="微軟正黑體"/>
                <a:ea typeface="微軟正黑體"/>
                <a:cs typeface="微軟正黑體"/>
              </a:rPr>
              <a:t>客戶活躍度</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有效卡數自 113 年 1 月至 114 年 12 月呈穩定成長，累計增幅達 </a:t>
            </a:r>
            <a:r>
              <a:rPr sz="1100" b="1">
                <a:solidFill>
                  <a:srgbClr val="1A1A1A"/>
                </a:solidFill>
                <a:highlight>
                  <a:srgbClr val="FFFF00"/>
                </a:highlight>
                <a:latin typeface="微軟正黑體"/>
                <a:ea typeface="微軟正黑體"/>
                <a:cs typeface="微軟正黑體"/>
              </a:rPr>
              <a:t>40,554,453</a:t>
            </a:r>
            <a:r>
              <a:rPr sz="1100" b="0">
                <a:solidFill>
                  <a:srgbClr val="4D4D4D"/>
                </a:solidFill>
                <a:latin typeface="微軟正黑體"/>
                <a:ea typeface="微軟正黑體"/>
                <a:cs typeface="微軟正黑體"/>
              </a:rPr>
              <a:t> 相較 </a:t>
            </a:r>
            <a:r>
              <a:rPr sz="1100" b="1">
                <a:solidFill>
                  <a:srgbClr val="1A1A1A"/>
                </a:solidFill>
                <a:highlight>
                  <a:srgbClr val="FFFF00"/>
                </a:highlight>
                <a:latin typeface="微軟正黑體"/>
                <a:ea typeface="微軟正黑體"/>
                <a:cs typeface="微軟正黑體"/>
              </a:rPr>
              <a:t>37,887,426</a:t>
            </a:r>
            <a:r>
              <a:rPr sz="1100" b="0">
                <a:solidFill>
                  <a:srgbClr val="4D4D4D"/>
                </a:solidFill>
                <a:latin typeface="微軟正黑體"/>
                <a:ea typeface="微軟正黑體"/>
                <a:cs typeface="微軟正黑體"/>
              </a:rPr>
              <a:t>，但當月簽帳金額波動幅度明顯更大，兩者成長曲線分化程度逐季加深，顯示新增卡數未能帶動等比例的消費金額提升。</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簽帳金額在 </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 達到高點，而同期有效卡數仍處中等水位，說明消費成長主要由既有客戶消費意願提升驅動，而非新客戶基數擴張，這意味著市場已進入存量客戶深化階段。</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若有效卡數與簽帳金額保持同步成長，應呈現平行線走勢，但實際觀察兩線在多個月份出現明顯背離，特別是下半年有效卡數持續增長而簽帳金額卻出現回落，暗示新增卡片的活躍度或客單價低於平均水準，需檢視新客戶的消費習慣與留存質量。</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從客戶活躍度角度，有效卡數增長未能帶動簽帳金額同步擴張，反映單卡平均簽帳金額呈下降趨勢，這可能源於新增客戶層級下沉、消費頻次提升但客單價下降，或既有高消費客戶流失，建議按客群分層分析消費結構變化以精準定位問題根源。</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客戶活躍度指標：有效卡數與簽帳金額的關係</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有效卡數與簽帳金額成長步調不一致，反映客戶基數擴張未能同步轉化為消費動能</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04</a:t>
            </a:r>
          </a:p>
          <a:p>
            <a:r>
              <a:rPr sz="3200" b="1">
                <a:solidFill>
                  <a:srgbClr val="4D4D4D"/>
                </a:solidFill>
                <a:latin typeface="微軟正黑體"/>
                <a:ea typeface="微軟正黑體"/>
                <a:cs typeface="微軟正黑體"/>
              </a:rPr>
              <a:t>獲利能力</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循環信用餘額從 </a:t>
            </a:r>
            <a:r>
              <a:rPr sz="1100" b="1">
                <a:solidFill>
                  <a:srgbClr val="1A1A1A"/>
                </a:solidFill>
                <a:highlight>
                  <a:srgbClr val="FFFF00"/>
                </a:highlight>
                <a:latin typeface="微軟正黑體"/>
                <a:ea typeface="微軟正黑體"/>
                <a:cs typeface="微軟正黑體"/>
              </a:rPr>
              <a:t>106,507,015</a:t>
            </a:r>
            <a:r>
              <a:rPr sz="1100" b="0">
                <a:solidFill>
                  <a:srgbClr val="4D4D4D"/>
                </a:solidFill>
                <a:latin typeface="微軟正黑體"/>
                <a:ea typeface="微軟正黑體"/>
                <a:cs typeface="微軟正黑體"/>
              </a:rPr>
              <a:t> 成長至 </a:t>
            </a:r>
            <a:r>
              <a:rPr sz="1100" b="1">
                <a:solidFill>
                  <a:srgbClr val="1A1A1A"/>
                </a:solidFill>
                <a:highlight>
                  <a:srgbClr val="FFFF00"/>
                </a:highlight>
                <a:latin typeface="微軟正黑體"/>
                <a:ea typeface="微軟正黑體"/>
                <a:cs typeface="微軟正黑體"/>
              </a:rPr>
              <a:t>118,588,582</a:t>
            </a:r>
            <a:r>
              <a:rPr sz="1100" b="0">
                <a:solidFill>
                  <a:srgbClr val="4D4D4D"/>
                </a:solidFill>
                <a:latin typeface="微軟正黑體"/>
                <a:ea typeface="微軟正黑體"/>
                <a:cs typeface="微軟正黑體"/>
              </a:rPr>
              <a:t>，整體呈現溫和成長態勢，顯示持卡人短期週轉需求維持穩定但成長動能有限，銀行需留意循環利息收入的成長空間受限。</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未到期分期付款餘額從 </a:t>
            </a:r>
            <a:r>
              <a:rPr sz="1100" b="1">
                <a:solidFill>
                  <a:srgbClr val="1A1A1A"/>
                </a:solidFill>
                <a:highlight>
                  <a:srgbClr val="FFFF00"/>
                </a:highlight>
                <a:latin typeface="微軟正黑體"/>
                <a:ea typeface="微軟正黑體"/>
                <a:cs typeface="微軟正黑體"/>
              </a:rPr>
              <a:t>194,262,158</a:t>
            </a:r>
            <a:r>
              <a:rPr sz="1100" b="0">
                <a:solidFill>
                  <a:srgbClr val="4D4D4D"/>
                </a:solidFill>
                <a:latin typeface="微軟正黑體"/>
                <a:ea typeface="微軟正黑體"/>
                <a:cs typeface="微軟正黑體"/>
              </a:rPr>
              <a:t> 大幅成長至 </a:t>
            </a:r>
            <a:r>
              <a:rPr sz="1100" b="1">
                <a:solidFill>
                  <a:srgbClr val="1A1A1A"/>
                </a:solidFill>
                <a:highlight>
                  <a:srgbClr val="FFFF00"/>
                </a:highlight>
                <a:latin typeface="微軟正黑體"/>
                <a:ea typeface="微軟正黑體"/>
                <a:cs typeface="微軟正黑體"/>
              </a:rPr>
              <a:t>187,216,932</a:t>
            </a:r>
            <a:r>
              <a:rPr sz="1100" b="0">
                <a:solidFill>
                  <a:srgbClr val="4D4D4D"/>
                </a:solidFill>
                <a:latin typeface="微軟正黑體"/>
                <a:ea typeface="微軟正黑體"/>
                <a:cs typeface="微軟正黑體"/>
              </a:rPr>
              <a:t>，成長幅度明顯高於循環信用，反映消費者偏好將大額消費轉為固定期數攤還，銀行應強化分期手續費與利差管理以優化收益結構。</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觀察期間內分期付款餘額持續擴大與循環信用的差距，兩者規模比例變化顯示消費信貸產品組合正在重構，銀行需重新評估風險定價策略，因分期付款的信用風險特性與循環信用不同，需要差異化的授信與催收管理機制。</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循環信用餘額在 </a:t>
            </a:r>
            <a:r>
              <a:rPr sz="1100" b="1">
                <a:solidFill>
                  <a:srgbClr val="1A1A1A"/>
                </a:solidFill>
                <a:highlight>
                  <a:srgbClr val="FFFF00"/>
                </a:highlight>
                <a:latin typeface="微軟正黑體"/>
                <a:ea typeface="微軟正黑體"/>
                <a:cs typeface="微軟正黑體"/>
              </a:rPr>
              <a:t>11412</a:t>
            </a:r>
            <a:r>
              <a:rPr sz="1100" b="0">
                <a:solidFill>
                  <a:srgbClr val="4D4D4D"/>
                </a:solidFill>
                <a:latin typeface="微軟正黑體"/>
                <a:ea typeface="微軟正黑體"/>
                <a:cs typeface="微軟正黑體"/>
              </a:rPr>
              <a:t> 達到高點 </a:t>
            </a:r>
            <a:r>
              <a:rPr sz="1100" b="1">
                <a:solidFill>
                  <a:srgbClr val="1A1A1A"/>
                </a:solidFill>
                <a:highlight>
                  <a:srgbClr val="FFFF00"/>
                </a:highlight>
                <a:latin typeface="微軟正黑體"/>
                <a:ea typeface="微軟正黑體"/>
                <a:cs typeface="微軟正黑體"/>
              </a:rPr>
              <a:t>118,588,582</a:t>
            </a:r>
            <a:r>
              <a:rPr sz="1100" b="0">
                <a:solidFill>
                  <a:srgbClr val="4D4D4D"/>
                </a:solidFill>
                <a:latin typeface="微軟正黑體"/>
                <a:ea typeface="微軟正黑體"/>
                <a:cs typeface="微軟正黑體"/>
              </a:rPr>
              <a:t>，而分期付款餘額在 </a:t>
            </a:r>
            <a:r>
              <a:rPr sz="1100" b="1">
                <a:solidFill>
                  <a:srgbClr val="1A1A1A"/>
                </a:solidFill>
                <a:highlight>
                  <a:srgbClr val="FFFF00"/>
                </a:highlight>
                <a:latin typeface="微軟正黑體"/>
                <a:ea typeface="微軟正黑體"/>
                <a:cs typeface="微軟正黑體"/>
              </a:rPr>
              <a:t>11407</a:t>
            </a:r>
            <a:r>
              <a:rPr sz="1100" b="0">
                <a:solidFill>
                  <a:srgbClr val="4D4D4D"/>
                </a:solidFill>
                <a:latin typeface="微軟正黑體"/>
                <a:ea typeface="微軟正黑體"/>
                <a:cs typeface="微軟正黑體"/>
              </a:rPr>
              <a:t> 達到高點 </a:t>
            </a:r>
            <a:r>
              <a:rPr sz="1100" b="1">
                <a:solidFill>
                  <a:srgbClr val="1A1A1A"/>
                </a:solidFill>
                <a:highlight>
                  <a:srgbClr val="FFFF00"/>
                </a:highlight>
                <a:latin typeface="微軟正黑體"/>
                <a:ea typeface="微軟正黑體"/>
                <a:cs typeface="微軟正黑體"/>
              </a:rPr>
              <a:t>241,120,341</a:t>
            </a:r>
            <a:r>
              <a:rPr sz="1100" b="0">
                <a:solidFill>
                  <a:srgbClr val="4D4D4D"/>
                </a:solidFill>
                <a:latin typeface="微軟正黑體"/>
                <a:ea typeface="微軟正黑體"/>
                <a:cs typeface="微軟正黑體"/>
              </a:rPr>
              <a:t>，兩者高點時間差異反映不同產品的成長週期，建議銀行針對分期付款持續投入行銷資源以鞏固市場地位。</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消費信貸結構：循環信用與分期付款的占比</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分期付款餘額在觀察期間內超越循環信用，反映消費信貸結構由短期週轉轉向長期分期</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05</a:t>
            </a:r>
          </a:p>
          <a:p>
            <a:r>
              <a:rPr sz="3200" b="1">
                <a:solidFill>
                  <a:srgbClr val="4D4D4D"/>
                </a:solidFill>
                <a:latin typeface="微軟正黑體"/>
                <a:ea typeface="微軟正黑體"/>
                <a:cs typeface="微軟正黑體"/>
              </a:rPr>
              <a:t>風險與警訊</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轉銷呆帳金額在</a:t>
            </a:r>
            <a:r>
              <a:rPr sz="1100" b="1">
                <a:solidFill>
                  <a:srgbClr val="1A1A1A"/>
                </a:solidFill>
                <a:highlight>
                  <a:srgbClr val="FFFF00"/>
                </a:highlight>
                <a:latin typeface="微軟正黑體"/>
                <a:ea typeface="微軟正黑體"/>
                <a:cs typeface="微軟正黑體"/>
              </a:rPr>
              <a:t>11312</a:t>
            </a:r>
            <a:r>
              <a:rPr sz="1100" b="0">
                <a:solidFill>
                  <a:srgbClr val="4D4D4D"/>
                </a:solidFill>
                <a:latin typeface="微軟正黑體"/>
                <a:ea typeface="微軟正黑體"/>
                <a:cs typeface="微軟正黑體"/>
              </a:rPr>
              <a:t>達到高峰，較113年1月增幅顯著，反映信用品質承壓。同期簽帳金額</a:t>
            </a:r>
            <a:r>
              <a:rPr sz="1100" b="1">
                <a:solidFill>
                  <a:srgbClr val="1A1A1A"/>
                </a:solidFill>
                <a:highlight>
                  <a:srgbClr val="FFFF00"/>
                </a:highlight>
                <a:latin typeface="微軟正黑體"/>
                <a:ea typeface="微軟正黑體"/>
                <a:cs typeface="微軟正黑體"/>
              </a:rPr>
              <a:t>453,663,538</a:t>
            </a:r>
            <a:r>
              <a:rPr sz="1100" b="0">
                <a:solidFill>
                  <a:srgbClr val="4D4D4D"/>
                </a:solidFill>
                <a:latin typeface="微軟正黑體"/>
                <a:ea typeface="微軟正黑體"/>
                <a:cs typeface="微軟正黑體"/>
              </a:rPr>
              <a:t>的成長幅度未能抵消呆帳增速，導致風險比例惡化。</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呆帳與簽帳的比例關係在觀測期間呈現上升軌跡，意味著每單位簽帳所對應的風險資產增加。這反映消費者信用品質下滑或逾期戶清收效率下降，需要重新評估風險定價與催收策略。</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簽帳金額</a:t>
            </a:r>
            <a:r>
              <a:rPr sz="1100" b="1">
                <a:solidFill>
                  <a:srgbClr val="1A1A1A"/>
                </a:solidFill>
                <a:highlight>
                  <a:srgbClr val="FFFF00"/>
                </a:highlight>
                <a:latin typeface="微軟正黑體"/>
                <a:ea typeface="微軟正黑體"/>
                <a:cs typeface="微軟正黑體"/>
              </a:rPr>
              <a:t>385,195,508</a:t>
            </a:r>
            <a:r>
              <a:rPr sz="1100" b="0">
                <a:solidFill>
                  <a:srgbClr val="4D4D4D"/>
                </a:solidFill>
                <a:latin typeface="微軟正黑體"/>
                <a:ea typeface="微軟正黑體"/>
                <a:cs typeface="微軟正黑體"/>
              </a:rPr>
              <a:t>至</a:t>
            </a:r>
            <a:r>
              <a:rPr sz="1100" b="1">
                <a:solidFill>
                  <a:srgbClr val="1A1A1A"/>
                </a:solidFill>
                <a:highlight>
                  <a:srgbClr val="FFFF00"/>
                </a:highlight>
                <a:latin typeface="微軟正黑體"/>
                <a:ea typeface="微軟正黑體"/>
                <a:cs typeface="微軟正黑體"/>
              </a:rPr>
              <a:t>453,663,538</a:t>
            </a:r>
            <a:r>
              <a:rPr sz="1100" b="0">
                <a:solidFill>
                  <a:srgbClr val="4D4D4D"/>
                </a:solidFill>
                <a:latin typeface="微軟正黑體"/>
                <a:ea typeface="微軟正黑體"/>
                <a:cs typeface="微軟正黑體"/>
              </a:rPr>
              <a:t>的成長速度相對平穩，但轉銷呆帳金額</a:t>
            </a:r>
            <a:r>
              <a:rPr sz="1100" b="1">
                <a:solidFill>
                  <a:srgbClr val="1A1A1A"/>
                </a:solidFill>
                <a:highlight>
                  <a:srgbClr val="FFFF00"/>
                </a:highlight>
                <a:latin typeface="微軟正黑體"/>
                <a:ea typeface="微軟正黑體"/>
                <a:cs typeface="微軟正黑體"/>
              </a:rPr>
              <a:t>502,737</a:t>
            </a:r>
            <a:r>
              <a:rPr sz="1100" b="0">
                <a:solidFill>
                  <a:srgbClr val="4D4D4D"/>
                </a:solidFill>
                <a:latin typeface="微軟正黑體"/>
                <a:ea typeface="微軟正黑體"/>
                <a:cs typeface="微軟正黑體"/>
              </a:rPr>
              <a:t>至</a:t>
            </a:r>
            <a:r>
              <a:rPr sz="1100" b="1">
                <a:solidFill>
                  <a:srgbClr val="1A1A1A"/>
                </a:solidFill>
                <a:highlight>
                  <a:srgbClr val="FFFF00"/>
                </a:highlight>
                <a:latin typeface="微軟正黑體"/>
                <a:ea typeface="微軟正黑體"/>
                <a:cs typeface="微軟正黑體"/>
              </a:rPr>
              <a:t>645,165</a:t>
            </a:r>
            <a:r>
              <a:rPr sz="1100" b="0">
                <a:solidFill>
                  <a:srgbClr val="4D4D4D"/>
                </a:solidFill>
                <a:latin typeface="微軟正黑體"/>
                <a:ea typeface="微軟正黑體"/>
                <a:cs typeface="微軟正黑體"/>
              </a:rPr>
              <a:t>的波動幅度更大，顯示風險因子變動性高於業務成長性。</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若呆帳比例持續惡化，將直接衝擊淨利潤與資本適足率。建議加強前端核貸標準、強化中期監控機制，並檢視現有催收資源配置是否足以應對風險上升的趨勢。</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呆帳風險與簽帳金額的關係</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轉銷呆帳金額與簽帳金額比例自113年以來持續上升，信用風險惡化趨勢明顯</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06</a:t>
            </a:r>
          </a:p>
          <a:p>
            <a:r>
              <a:rPr sz="3200" b="1">
                <a:solidFill>
                  <a:srgbClr val="4D4D4D"/>
                </a:solidFill>
                <a:latin typeface="微軟正黑體"/>
                <a:ea typeface="微軟正黑體"/>
                <a:cs typeface="微軟正黑體"/>
              </a:rPr>
              <a:t>未來趨勢推測</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流通卡數自 </a:t>
            </a:r>
            <a:r>
              <a:rPr sz="1100" b="1">
                <a:solidFill>
                  <a:srgbClr val="1A1A1A"/>
                </a:solidFill>
                <a:highlight>
                  <a:srgbClr val="FFFF00"/>
                </a:highlight>
                <a:latin typeface="微軟正黑體"/>
                <a:ea typeface="微軟正黑體"/>
                <a:cs typeface="微軟正黑體"/>
              </a:rPr>
              <a:t>58,799,464</a:t>
            </a:r>
            <a:r>
              <a:rPr sz="1100" b="0">
                <a:solidFill>
                  <a:srgbClr val="4D4D4D"/>
                </a:solidFill>
                <a:latin typeface="微軟正黑體"/>
                <a:ea typeface="微軟正黑體"/>
                <a:cs typeface="微軟正黑體"/>
              </a:rPr>
              <a:t> 於 </a:t>
            </a:r>
            <a:r>
              <a:rPr sz="1100" b="1">
                <a:solidFill>
                  <a:srgbClr val="1A1A1A"/>
                </a:solidFill>
                <a:highlight>
                  <a:srgbClr val="FFFF00"/>
                </a:highlight>
                <a:latin typeface="微軟正黑體"/>
                <a:ea typeface="微軟正黑體"/>
                <a:cs typeface="微軟正黑體"/>
              </a:rPr>
              <a:t>11412</a:t>
            </a:r>
            <a:r>
              <a:rPr sz="1100" b="0">
                <a:solidFill>
                  <a:srgbClr val="4D4D4D"/>
                </a:solidFill>
                <a:latin typeface="微軟正黑體"/>
                <a:ea typeface="微軟正黑體"/>
                <a:cs typeface="微軟正黑體"/>
              </a:rPr>
              <a:t> 達到高點後持續下滑，至 </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 已降至 </a:t>
            </a:r>
            <a:r>
              <a:rPr sz="1100" b="1">
                <a:solidFill>
                  <a:srgbClr val="1A1A1A"/>
                </a:solidFill>
                <a:highlight>
                  <a:srgbClr val="FFFF00"/>
                </a:highlight>
                <a:latin typeface="微軟正黑體"/>
                <a:ea typeface="微軟正黑體"/>
                <a:cs typeface="微軟正黑體"/>
              </a:rPr>
              <a:t>60,485,911</a:t>
            </a:r>
            <a:r>
              <a:rPr sz="1100" b="0">
                <a:solidFill>
                  <a:srgbClr val="4D4D4D"/>
                </a:solidFill>
                <a:latin typeface="微軟正黑體"/>
                <a:ea typeface="微軟正黑體"/>
                <a:cs typeface="微軟正黑體"/>
              </a:rPr>
              <a:t>，顯示發卡市場已進入存量競爭階段，新戶開發難度提升，業者應將資源重心從衝發卡量轉向提升既有卡片活化率與單卡貢獻度。</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當月簽帳金額則呈現穩定成長軌跡，從 </a:t>
            </a:r>
            <a:r>
              <a:rPr sz="1100" b="1">
                <a:solidFill>
                  <a:srgbClr val="1A1A1A"/>
                </a:solidFill>
                <a:highlight>
                  <a:srgbClr val="FFFF00"/>
                </a:highlight>
                <a:latin typeface="微軟正黑體"/>
                <a:ea typeface="微軟正黑體"/>
                <a:cs typeface="微軟正黑體"/>
              </a:rPr>
              <a:t>385,195,508</a:t>
            </a:r>
            <a:r>
              <a:rPr sz="1100" b="0">
                <a:solidFill>
                  <a:srgbClr val="4D4D4D"/>
                </a:solidFill>
                <a:latin typeface="微軟正黑體"/>
                <a:ea typeface="微軟正黑體"/>
                <a:cs typeface="微軟正黑體"/>
              </a:rPr>
              <a:t> 成長至 </a:t>
            </a:r>
            <a:r>
              <a:rPr sz="1100" b="1">
                <a:solidFill>
                  <a:srgbClr val="1A1A1A"/>
                </a:solidFill>
                <a:highlight>
                  <a:srgbClr val="FFFF00"/>
                </a:highlight>
                <a:latin typeface="微軟正黑體"/>
                <a:ea typeface="微軟正黑體"/>
                <a:cs typeface="微軟正黑體"/>
              </a:rPr>
              <a:t>453,663,538</a:t>
            </a:r>
            <a:r>
              <a:rPr sz="1100" b="0">
                <a:solidFill>
                  <a:srgbClr val="4D4D4D"/>
                </a:solidFill>
                <a:latin typeface="微軟正黑體"/>
                <a:ea typeface="微軟正黑體"/>
                <a:cs typeface="微軟正黑體"/>
              </a:rPr>
              <a:t>，預測模型顯示未來三期仍將維持上升趨勢至 </a:t>
            </a:r>
            <a:r>
              <a:rPr sz="1100" b="1">
                <a:solidFill>
                  <a:srgbClr val="1A1A1A"/>
                </a:solidFill>
                <a:highlight>
                  <a:srgbClr val="FFFF00"/>
                </a:highlight>
                <a:latin typeface="微軟正黑體"/>
                <a:ea typeface="微軟正黑體"/>
                <a:cs typeface="微軟正黑體"/>
              </a:rPr>
              <a:t>448,119,388.1</a:t>
            </a:r>
            <a:r>
              <a:rPr sz="1100" b="0">
                <a:solidFill>
                  <a:srgbClr val="4D4D4D"/>
                </a:solidFill>
                <a:latin typeface="微軟正黑體"/>
                <a:ea typeface="微軟正黑體"/>
                <a:cs typeface="微軟正黑體"/>
              </a:rPr>
              <a:t>，反映消費者支付習慣持續往信用卡集中，單卡平均簽帳額提升成為市場擴張的主要驅動力。</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流通卡數與簽帳金額走勢分化意味著市場競爭邏輯已改變，過去以發卡量為核心的市占率競賽將讓位給簽帳金額市占的爭奪，業者需強化消費場景經營、優化回饋機制與通路布局，才能在存量市場中維持或提升簽帳金額市占，單純依賴發卡促銷已難以創造持續性優勢。</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預測期間（預測+1 至預測+3）數值為線性外推結果，實際走勢仍受總體經濟、消費信心與競爭動態影響，建議將預測值視為趨勢方向參考而非精確目標，並持續監控實際數據與模型偏離程度，適時調整策略假設與資源配置優先順序。</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市場未來趨勢預測</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流通卡數進入負成長，簽帳金額仍維持擴張，市場成長動能已由量轉質</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400" b="0">
                <a:solidFill>
                  <a:srgbClr val="C12026"/>
                </a:solidFill>
                <a:latin typeface="微軟正黑體"/>
                <a:ea typeface="微軟正黑體"/>
                <a:cs typeface="微軟正黑體"/>
              </a:rPr>
              <a:t>CHAPTER 07</a:t>
            </a:r>
          </a:p>
          <a:p>
            <a:r>
              <a:rPr sz="3200" b="1">
                <a:solidFill>
                  <a:srgbClr val="4D4D4D"/>
                </a:solidFill>
                <a:latin typeface="微軟正黑體"/>
                <a:ea typeface="微軟正黑體"/>
                <a:cs typeface="微軟正黑體"/>
              </a:rPr>
              <a:t>對台新的策略建議</a:t>
            </a:r>
          </a:p>
        </p:txBody>
      </p:sp>
      <p:sp>
        <p:nvSpPr>
          <p:cNvPr id="3" name="Rectangle 2"/>
          <p:cNvSpPr/>
          <p:nvPr/>
        </p:nvSpPr>
        <p:spPr>
          <a:xfrm>
            <a:off x="831851" y="5737075"/>
            <a:ext cx="1905000" cy="28575"/>
          </a:xfrm>
          <a:prstGeom prst="rect">
            <a:avLst/>
          </a:prstGeom>
          <a:solidFill>
            <a:srgbClr val="C12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7205535" y="1854753"/>
            <a:ext cx="4405560" cy="4272900"/>
          </a:xfrm>
        </p:spPr>
        <p:txBody>
          <a:bodyPr wrap="square">
            <a:normAutofit/>
          </a:bodyPr>
          <a:lstStyle/>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簽帳金額與循環信用餘額均呈上升趨勢，預測至 114 年末兩指標將分別達 </a:t>
            </a:r>
            <a:r>
              <a:rPr sz="1100" b="1">
                <a:solidFill>
                  <a:srgbClr val="1A1A1A"/>
                </a:solidFill>
                <a:highlight>
                  <a:srgbClr val="FFFF00"/>
                </a:highlight>
                <a:latin typeface="微軟正黑體"/>
                <a:ea typeface="微軟正黑體"/>
                <a:cs typeface="微軟正黑體"/>
              </a:rPr>
              <a:t>448,119,388.1</a:t>
            </a:r>
            <a:r>
              <a:rPr sz="1100" b="0">
                <a:solidFill>
                  <a:srgbClr val="4D4D4D"/>
                </a:solidFill>
                <a:latin typeface="微軟正黑體"/>
                <a:ea typeface="微軟正黑體"/>
                <a:cs typeface="微軟正黑體"/>
              </a:rPr>
              <a:t> 與 </a:t>
            </a:r>
            <a:r>
              <a:rPr sz="1100" b="1">
                <a:solidFill>
                  <a:srgbClr val="1A1A1A"/>
                </a:solidFill>
                <a:highlight>
                  <a:srgbClr val="FFFF00"/>
                </a:highlight>
                <a:latin typeface="微軟正黑體"/>
                <a:ea typeface="微軟正黑體"/>
                <a:cs typeface="微軟正黑體"/>
              </a:rPr>
              <a:t>119,927,157.6</a:t>
            </a:r>
            <a:r>
              <a:rPr sz="1100" b="0">
                <a:solidFill>
                  <a:srgbClr val="4D4D4D"/>
                </a:solidFill>
                <a:latin typeface="微軟正黑體"/>
                <a:ea typeface="微軟正黑體"/>
                <a:cs typeface="微軟正黑體"/>
              </a:rPr>
              <a:t>，顯示市場仍有成長空間，但台新需評估自身資本與風險承載能力是否足以支撐同步擴張。</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循環信用餘額增速相對穩定，而簽帳金額波動性較大，反映消費行為的季節性與經濟周期敏感性，台新應強化預測模型與流動性管理，避免在高峰期過度投放信用額度。</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預測期間（114 年 1 月至 3 月）的外推值需謹慎解讀，實際市場表現可能受政策、利率或消費信心變化影響，台新應建立情景分析與壓力測試機制，為不同市場情境預先準備調整方案。</a:t>
            </a:r>
          </a:p>
          <a:p>
            <a:pPr>
              <a:spcAft>
                <a:spcPts val="800"/>
              </a:spcAft>
            </a:pPr>
            <a:r>
              <a:rPr sz="1100" b="1">
                <a:solidFill>
                  <a:srgbClr val="C12026"/>
                </a:solidFill>
                <a:latin typeface="微軟正黑體"/>
                <a:ea typeface="微軟正黑體"/>
                <a:cs typeface="微軟正黑體"/>
              </a:rPr>
              <a:t>▸ </a:t>
            </a:r>
            <a:r>
              <a:rPr sz="1100" b="0">
                <a:solidFill>
                  <a:srgbClr val="4D4D4D"/>
                </a:solidFill>
                <a:latin typeface="微軟正黑體"/>
                <a:ea typeface="微軟正黑體"/>
                <a:cs typeface="微軟正黑體"/>
              </a:rPr>
              <a:t>若簽帳與信用規模持續成長，台新應優先檢視客戶組合中高風險客群的占比與逾期率趨勢，並考慮調整定價策略或風險溢價，以確保收益成長不被信用成本侵蝕。</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台新的戰略建議與行動方向</a:t>
            </a:r>
          </a:p>
        </p:txBody>
      </p:sp>
      <p:sp>
        <p:nvSpPr>
          <p:cNvPr id="4" name="Rectangle 3"/>
          <p:cNvSpPr/>
          <p:nvPr/>
        </p:nvSpPr>
        <p:spPr>
          <a:xfrm>
            <a:off x="368595" y="1247553"/>
            <a:ext cx="57150" cy="4572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5745" y="1247553"/>
            <a:ext cx="11185350" cy="457200"/>
          </a:xfrm>
          <a:prstGeom prst="rect">
            <a:avLst/>
          </a:prstGeom>
          <a:solidFill>
            <a:srgbClr val="FFF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5260"/>
          <a:lstStyle/>
          <a:p>
            <a:pPr algn="l"/>
            <a:r>
              <a:rPr sz="1300" b="1">
                <a:solidFill>
                  <a:srgbClr val="C12026"/>
                </a:solidFill>
                <a:latin typeface="微軟正黑體"/>
                <a:ea typeface="微軟正黑體"/>
                <a:cs typeface="微軟正黑體"/>
              </a:rPr>
              <a:t>◆ </a:t>
            </a:r>
            <a:r>
              <a:rPr sz="1300" b="1">
                <a:solidFill>
                  <a:srgbClr val="1A1A1A"/>
                </a:solidFill>
                <a:latin typeface="微軟正黑體"/>
                <a:ea typeface="微軟正黑體"/>
                <a:cs typeface="微軟正黑體"/>
              </a:rPr>
              <a:t>市場簽帳與信用規模雙軌成長，台新需在量能擴張與風險管控間尋求平衡點</a:t>
            </a:r>
          </a:p>
        </p:txBody>
      </p:sp>
      <p:graphicFrame>
        <p:nvGraphicFramePr>
          <p:cNvPr id="6" name="Chart 5"/>
          <p:cNvGraphicFramePr>
            <a:graphicFrameLocks noGrp="1"/>
          </p:cNvGraphicFramePr>
          <p:nvPr/>
        </p:nvGraphicFramePr>
        <p:xfrm>
          <a:off x="368595" y="1854753"/>
          <a:ext cx="6608340" cy="4272900"/>
        </p:xfrm>
        <a:graphic>
          <a:graphicData uri="http://schemas.openxmlformats.org/drawingml/2006/chart">
            <c:chart xmlns:c="http://schemas.openxmlformats.org/drawingml/2006/chart" r:id="rId2"/>
          </a:graphicData>
        </a:graphic>
      </p:graphicFrame>
      <p:sp>
        <p:nvSpPr>
          <p:cNvPr id="7" name="TextBox 6"/>
          <p:cNvSpPr txBox="1"/>
          <p:nvPr/>
        </p:nvSpPr>
        <p:spPr>
          <a:xfrm>
            <a:off x="368595" y="6150000"/>
            <a:ext cx="11242500" cy="250000"/>
          </a:xfrm>
          <a:prstGeom prst="rect">
            <a:avLst/>
          </a:prstGeom>
          <a:noFill/>
        </p:spPr>
        <p:txBody>
          <a:bodyPr wrap="none">
            <a:spAutoFit/>
          </a:bodyPr>
          <a:lstStyle/>
          <a:p>
            <a:r>
              <a:rPr sz="1000" b="0">
                <a:solidFill>
                  <a:srgbClr val="666666"/>
                </a:solidFill>
                <a:latin typeface="微軟正黑體"/>
                <a:ea typeface="微軟正黑體"/>
                <a:cs typeface="微軟正黑體"/>
              </a:rPr>
              <a:t>可點選圖表右鍵「編輯資料」查看原始 EXCEL 資料表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68595" y="1247553"/>
            <a:ext cx="11242500" cy="4880100"/>
          </a:xfrm>
        </p:spPr>
        <p:txBody>
          <a:bodyPr wrap="square"/>
          <a:lstStyle/>
          <a:p>
            <a:pPr>
              <a:spcAft>
                <a:spcPts val="600"/>
              </a:spcAft>
            </a:pPr>
            <a:r>
              <a:rPr sz="1100" b="1">
                <a:solidFill>
                  <a:srgbClr val="C12026"/>
                </a:solidFill>
                <a:latin typeface="微軟正黑體"/>
                <a:ea typeface="微軟正黑體"/>
                <a:cs typeface="微軟正黑體"/>
              </a:rPr>
              <a:t>▸ Executive Summary｜</a:t>
            </a:r>
            <a:r>
              <a:rPr sz="1100" b="0">
                <a:solidFill>
                  <a:srgbClr val="4D4D4D"/>
                </a:solidFill>
                <a:latin typeface="微軟正黑體"/>
                <a:ea typeface="微軟正黑體"/>
                <a:cs typeface="微軟正黑體"/>
              </a:rPr>
              <a:t>市場規模由簽帳金額驅動成長，流通卡數進入存量競爭階段</a:t>
            </a:r>
            <a:r>
              <a:rPr sz="1000" b="0">
                <a:solidFill>
                  <a:srgbClr val="666666"/>
                </a:solidFill>
                <a:latin typeface="微軟正黑體"/>
                <a:ea typeface="微軟正黑體"/>
                <a:cs typeface="微軟正黑體"/>
              </a:rPr>
              <a:t>（P.4）</a:t>
            </a:r>
          </a:p>
          <a:p>
            <a:pPr>
              <a:spcAft>
                <a:spcPts val="600"/>
              </a:spcAft>
            </a:pPr>
            <a:r>
              <a:rPr sz="1100" b="1">
                <a:solidFill>
                  <a:srgbClr val="C12026"/>
                </a:solidFill>
                <a:latin typeface="微軟正黑體"/>
                <a:ea typeface="微軟正黑體"/>
                <a:cs typeface="微軟正黑體"/>
              </a:rPr>
              <a:t>▸ 市場整體概況｜</a:t>
            </a:r>
            <a:r>
              <a:rPr sz="1100" b="0">
                <a:solidFill>
                  <a:srgbClr val="4D4D4D"/>
                </a:solidFill>
                <a:latin typeface="微軟正黑體"/>
                <a:ea typeface="微軟正黑體"/>
                <a:cs typeface="微軟正黑體"/>
              </a:rPr>
              <a:t>簽帳金額成長波動劇烈，循環餘額成長穩定但疲弱，顯示市場擴張主要由交易量驅動而非信用使用深度</a:t>
            </a:r>
            <a:r>
              <a:rPr sz="1000" b="0">
                <a:solidFill>
                  <a:srgbClr val="666666"/>
                </a:solidFill>
                <a:latin typeface="微軟正黑體"/>
                <a:ea typeface="微軟正黑體"/>
                <a:cs typeface="微軟正黑體"/>
              </a:rPr>
              <a:t>（P.6）</a:t>
            </a:r>
          </a:p>
          <a:p>
            <a:pPr>
              <a:spcAft>
                <a:spcPts val="600"/>
              </a:spcAft>
            </a:pPr>
            <a:r>
              <a:rPr sz="1100" b="1">
                <a:solidFill>
                  <a:srgbClr val="C12026"/>
                </a:solidFill>
                <a:latin typeface="微軟正黑體"/>
                <a:ea typeface="微軟正黑體"/>
                <a:cs typeface="微軟正黑體"/>
              </a:rPr>
              <a:t>▸ 客戶活躍度｜</a:t>
            </a:r>
            <a:r>
              <a:rPr sz="1100" b="0">
                <a:solidFill>
                  <a:srgbClr val="4D4D4D"/>
                </a:solidFill>
                <a:latin typeface="微軟正黑體"/>
                <a:ea typeface="微軟正黑體"/>
                <a:cs typeface="微軟正黑體"/>
              </a:rPr>
              <a:t>有效卡數與簽帳金額成長步調不一致，反映客戶基數擴張未能同步轉化為消費動能</a:t>
            </a:r>
            <a:r>
              <a:rPr sz="1000" b="0">
                <a:solidFill>
                  <a:srgbClr val="666666"/>
                </a:solidFill>
                <a:latin typeface="微軟正黑體"/>
                <a:ea typeface="微軟正黑體"/>
                <a:cs typeface="微軟正黑體"/>
              </a:rPr>
              <a:t>（P.9）</a:t>
            </a:r>
          </a:p>
          <a:p>
            <a:pPr>
              <a:spcAft>
                <a:spcPts val="600"/>
              </a:spcAft>
            </a:pPr>
            <a:r>
              <a:rPr sz="1100" b="1">
                <a:solidFill>
                  <a:srgbClr val="C12026"/>
                </a:solidFill>
                <a:latin typeface="微軟正黑體"/>
                <a:ea typeface="微軟正黑體"/>
                <a:cs typeface="微軟正黑體"/>
              </a:rPr>
              <a:t>▸ 獲利能力｜</a:t>
            </a:r>
            <a:r>
              <a:rPr sz="1100" b="0">
                <a:solidFill>
                  <a:srgbClr val="4D4D4D"/>
                </a:solidFill>
                <a:latin typeface="微軟正黑體"/>
                <a:ea typeface="微軟正黑體"/>
                <a:cs typeface="微軟正黑體"/>
              </a:rPr>
              <a:t>分期付款餘額在觀察期間內超越循環信用，反映消費信貸結構由短期週轉轉向長期分期</a:t>
            </a:r>
            <a:r>
              <a:rPr sz="1000" b="0">
                <a:solidFill>
                  <a:srgbClr val="666666"/>
                </a:solidFill>
                <a:latin typeface="微軟正黑體"/>
                <a:ea typeface="微軟正黑體"/>
                <a:cs typeface="微軟正黑體"/>
              </a:rPr>
              <a:t>（P.11）</a:t>
            </a:r>
          </a:p>
          <a:p>
            <a:pPr>
              <a:spcAft>
                <a:spcPts val="600"/>
              </a:spcAft>
            </a:pPr>
            <a:r>
              <a:rPr sz="1100" b="1">
                <a:solidFill>
                  <a:srgbClr val="C12026"/>
                </a:solidFill>
                <a:latin typeface="微軟正黑體"/>
                <a:ea typeface="微軟正黑體"/>
                <a:cs typeface="微軟正黑體"/>
              </a:rPr>
              <a:t>▸ 風險與警訊｜</a:t>
            </a:r>
            <a:r>
              <a:rPr sz="1100" b="0">
                <a:solidFill>
                  <a:srgbClr val="4D4D4D"/>
                </a:solidFill>
                <a:latin typeface="微軟正黑體"/>
                <a:ea typeface="微軟正黑體"/>
                <a:cs typeface="微軟正黑體"/>
              </a:rPr>
              <a:t>轉銷呆帳金額與簽帳金額比例自113年以來持續上升，信用風險惡化趨勢明顯</a:t>
            </a:r>
            <a:r>
              <a:rPr sz="1000" b="0">
                <a:solidFill>
                  <a:srgbClr val="666666"/>
                </a:solidFill>
                <a:latin typeface="微軟正黑體"/>
                <a:ea typeface="微軟正黑體"/>
                <a:cs typeface="微軟正黑體"/>
              </a:rPr>
              <a:t>（P.13）</a:t>
            </a:r>
          </a:p>
          <a:p>
            <a:pPr>
              <a:spcAft>
                <a:spcPts val="600"/>
              </a:spcAft>
            </a:pPr>
            <a:r>
              <a:rPr sz="1100" b="1">
                <a:solidFill>
                  <a:srgbClr val="C12026"/>
                </a:solidFill>
                <a:latin typeface="微軟正黑體"/>
                <a:ea typeface="微軟正黑體"/>
                <a:cs typeface="微軟正黑體"/>
              </a:rPr>
              <a:t>▸ 未來趨勢推測｜</a:t>
            </a:r>
            <a:r>
              <a:rPr sz="1100" b="0">
                <a:solidFill>
                  <a:srgbClr val="4D4D4D"/>
                </a:solidFill>
                <a:latin typeface="微軟正黑體"/>
                <a:ea typeface="微軟正黑體"/>
                <a:cs typeface="微軟正黑體"/>
              </a:rPr>
              <a:t>流通卡數進入負成長，簽帳金額仍維持擴張，市場成長動能已由量轉質</a:t>
            </a:r>
            <a:r>
              <a:rPr sz="1000" b="0">
                <a:solidFill>
                  <a:srgbClr val="666666"/>
                </a:solidFill>
                <a:latin typeface="微軟正黑體"/>
                <a:ea typeface="微軟正黑體"/>
                <a:cs typeface="微軟正黑體"/>
              </a:rPr>
              <a:t>（P.15）</a:t>
            </a:r>
          </a:p>
          <a:p>
            <a:pPr>
              <a:spcAft>
                <a:spcPts val="600"/>
              </a:spcAft>
            </a:pPr>
            <a:r>
              <a:rPr sz="1100" b="1">
                <a:solidFill>
                  <a:srgbClr val="C12026"/>
                </a:solidFill>
                <a:latin typeface="微軟正黑體"/>
                <a:ea typeface="微軟正黑體"/>
                <a:cs typeface="微軟正黑體"/>
              </a:rPr>
              <a:t>▸ 對台新的策略建議｜</a:t>
            </a:r>
            <a:r>
              <a:rPr sz="1100" b="0">
                <a:solidFill>
                  <a:srgbClr val="4D4D4D"/>
                </a:solidFill>
                <a:latin typeface="微軟正黑體"/>
                <a:ea typeface="微軟正黑體"/>
                <a:cs typeface="微軟正黑體"/>
              </a:rPr>
              <a:t>市場簽帳與信用規模雙軌成長，台新需在量能擴張與風險管控間尋求平衡點</a:t>
            </a:r>
            <a:r>
              <a:rPr sz="1000" b="0">
                <a:solidFill>
                  <a:srgbClr val="666666"/>
                </a:solidFill>
                <a:latin typeface="微軟正黑體"/>
                <a:ea typeface="微軟正黑體"/>
                <a:cs typeface="微軟正黑體"/>
              </a:rPr>
              <a:t>（P.17）</a:t>
            </a:r>
          </a:p>
        </p:txBody>
      </p:sp>
      <p:sp>
        <p:nvSpPr>
          <p:cNvPr id="3" name="Title 2"/>
          <p:cNvSpPr>
            <a:spLocks noGrp="1"/>
          </p:cNvSpPr>
          <p:nvPr>
            <p:ph type="title"/>
          </p:nvPr>
        </p:nvSpPr>
        <p:spPr/>
        <p:txBody>
          <a:bodyPr/>
          <a:lstStyle/>
          <a:p>
            <a:pPr algn="l"/>
            <a:r>
              <a:rPr sz="2200" b="0">
                <a:solidFill>
                  <a:srgbClr val="1A1A1A"/>
                </a:solidFill>
                <a:latin typeface="微軟正黑體"/>
                <a:ea typeface="微軟正黑體"/>
                <a:cs typeface="微軟正黑體"/>
              </a:rPr>
              <a:t>結論與後續行動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4D4D4D"/>
                </a:solidFill>
                <a:latin typeface="微軟正黑體"/>
                <a:ea typeface="微軟正黑體"/>
                <a:cs typeface="微軟正黑體"/>
              </a:rPr>
              <a:t>感謝聆聽</a:t>
            </a:r>
          </a:p>
        </p:txBody>
      </p:sp>
    </p:spTree>
  </p:cSld>
  <p:clrMapOvr>
    <a:masterClrMapping/>
  </p:clrMapOvr>
</p:sld>
</file>

<file path=ppt/theme/theme1.xml><?xml version="1.0" encoding="utf-8"?>
<a:theme xmlns:a="http://schemas.openxmlformats.org/drawingml/2006/main" name="1_Office 佈景主題">
  <a:themeElements>
    <a:clrScheme name="Office 佈景主題">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Words>
  <Application>Microsoft Office PowerPoint</Application>
  <PresentationFormat>寬螢幕</PresentationFormat>
  <Paragraphs>2</Paragraphs>
  <Slides>5</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vt:i4>
      </vt:variant>
    </vt:vector>
  </HeadingPairs>
  <TitlesOfParts>
    <vt:vector size="10" baseType="lpstr">
      <vt:lpstr>Noto Sans Symbols</vt:lpstr>
      <vt:lpstr>Microsoft JhengHei</vt:lpstr>
      <vt:lpstr>Arial</vt:lpstr>
      <vt:lpstr>Noto Sans</vt:lpstr>
      <vt:lpstr>1_Office 佈景主題</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蕭宇喬</dc:creator>
  <cp:lastModifiedBy>蕭宇喬</cp:lastModifiedBy>
  <cp:revision>2</cp:revision>
  <dcterms:created xsi:type="dcterms:W3CDTF">2026-05-26T08:53:52Z</dcterms:created>
  <dcterms:modified xsi:type="dcterms:W3CDTF">2026-05-26T08:55:08Z</dcterms:modified>
</cp:coreProperties>
</file>