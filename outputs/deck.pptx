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1" r:id="rId2"/>
    <p:sldId id="342" r:id="rId6"/>
    <p:sldId id="343" r:id="rId5"/>
    <p:sldId id="344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市場規模穩健擴張，動能未見趨緩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2026年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6100.2</c:v>
                </c:pt>
                <c:pt idx="1">
                  <c:v>6150.9</c:v>
                </c:pt>
                <c:pt idx="2">
                  <c:v>6210.1</c:v>
                </c:pt>
                <c:pt idx="3">
                  <c:v>6280.4</c:v>
                </c:pt>
                <c:pt idx="4">
                  <c:v>6321.7</c:v>
                </c:pt>
                <c:pt idx="5">
                  <c:v>6355.2</c:v>
                </c:pt>
                <c:pt idx="6">
                  <c:v>6390.8</c:v>
                </c:pt>
                <c:pt idx="7">
                  <c:v>6421.3</c:v>
                </c:pt>
                <c:pt idx="8">
                  <c:v>6455.9</c:v>
                </c:pt>
                <c:pt idx="9">
                  <c:v>6490.2</c:v>
                </c:pt>
                <c:pt idx="10">
                  <c:v>6512.7</c:v>
                </c:pt>
                <c:pt idx="11">
                  <c:v>6548.1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年增動能逐季走高，反映滲透率持續提升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vs 2025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4.0014</c:v>
                </c:pt>
                <c:pt idx="1">
                  <c:v>4.6997</c:v>
                </c:pt>
                <c:pt idx="2">
                  <c:v>5.2666</c:v>
                </c:pt>
                <c:pt idx="3">
                  <c:v>5.7502</c:v>
                </c:pt>
                <c:pt idx="4">
                  <c:v>5.7211</c:v>
                </c:pt>
                <c:pt idx="5">
                  <c:v>6.1518</c:v>
                </c:pt>
                <c:pt idx="6">
                  <c:v>6.6075</c:v>
                </c:pt>
                <c:pt idx="7">
                  <c:v>6.7566</c:v>
                </c:pt>
                <c:pt idx="8">
                  <c:v>6.9672</c:v>
                </c:pt>
                <c:pt idx="9">
                  <c:v>7.3133</c:v>
                </c:pt>
                <c:pt idx="10">
                  <c:v>7.7815</c:v>
                </c:pt>
                <c:pt idx="11">
                  <c:v>8.2581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前三大業者掌握逾六成市占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中信</c:v>
                </c:pt>
                <c:pt idx="1">
                  <c:v>國泰</c:v>
                </c:pt>
                <c:pt idx="2">
                  <c:v>玉山</c:v>
                </c:pt>
                <c:pt idx="3">
                  <c:v>台新</c:v>
                </c:pt>
                <c:pt idx="4">
                  <c:v>富邦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25.8971</c:v>
                </c:pt>
                <c:pt idx="1">
                  <c:v>22.9544</c:v>
                </c:pt>
                <c:pt idx="2">
                  <c:v>19.6457</c:v>
                </c:pt>
                <c:pt idx="3">
                  <c:v>17.8185</c:v>
                </c:pt>
                <c:pt idx="4">
                  <c:v>13.6843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preserve="1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026A16C4-3BD0-72DB-C8B5-239F03494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1114515" y="1278736"/>
            <a:ext cx="99627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3000"/>
              <a:buNone/>
              <a:defRPr sz="30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1114350" y="2394796"/>
            <a:ext cx="9963300" cy="30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171B"/>
              </a:buClr>
              <a:buSzPts val="2400"/>
              <a:buChar char="●"/>
              <a:defRPr i="0">
                <a:solidFill>
                  <a:srgbClr val="4F4F4F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Char char="●"/>
              <a:defRPr i="0">
                <a:solidFill>
                  <a:srgbClr val="4F4F4F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Char char="■"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None/>
              <a:defRPr b="1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500"/>
              <a:buChar char="•"/>
              <a:defRPr sz="1500" b="1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400"/>
              <a:buChar char="•"/>
              <a:defRPr sz="1400" b="1">
                <a:solidFill>
                  <a:srgbClr val="464444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200"/>
              <a:buChar char="•"/>
              <a:defRPr sz="1200" b="1">
                <a:solidFill>
                  <a:srgbClr val="464444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000"/>
              <a:buChar char="•"/>
              <a:defRPr sz="1000" b="1">
                <a:solidFill>
                  <a:srgbClr val="464444"/>
                </a:solidFill>
              </a:defRPr>
            </a:lvl8pPr>
            <a:lvl9pPr marL="4114800" lvl="8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800"/>
              <a:buChar char="•"/>
              <a:defRPr sz="800" b="1">
                <a:solidFill>
                  <a:srgbClr val="464444"/>
                </a:solidFill>
              </a:defRPr>
            </a:lvl9pPr>
          </a:lstStyle>
          <a:p>
            <a:endParaRPr/>
          </a:p>
        </p:txBody>
      </p:sp>
      <p:cxnSp>
        <p:nvCxnSpPr>
          <p:cNvPr id="16" name="Google Shape;16;p7"/>
          <p:cNvCxnSpPr/>
          <p:nvPr/>
        </p:nvCxnSpPr>
        <p:spPr>
          <a:xfrm>
            <a:off x="1114515" y="2056042"/>
            <a:ext cx="99627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7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4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投影片" preserve="1">
  <p:cSld name="2_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E912A1DA-C32A-79BA-3D45-A52103A38D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9" name="Google Shape;19;p8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46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標題投影片" preserve="1">
  <p:cSld name="3_標題投影片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, 設計 的圖片&#10;&#10;AI 產生的內容可能不正確。">
            <a:extLst>
              <a:ext uri="{FF2B5EF4-FFF2-40B4-BE49-F238E27FC236}">
                <a16:creationId xmlns:a16="http://schemas.microsoft.com/office/drawing/2014/main" id="{C649EEB2-B486-967D-A023-BE167D42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22" name="Google Shape;22;p9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366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內容" preserve="1">
  <p:cSld name="1_標題及內容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181D"/>
              </a:buClr>
              <a:buSzPts val="2400"/>
              <a:buFont typeface="Noto Sans Symbols"/>
              <a:buChar char="■"/>
              <a:defRPr sz="2400" b="1"/>
            </a:lvl1pPr>
            <a:lvl2pPr marL="91440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Font typeface="Noto Sans Symbols"/>
              <a:buChar char="●"/>
              <a:defRPr sz="2000" b="1"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600"/>
              <a:buFont typeface="Noto Sans Symbols"/>
              <a:buChar char="●"/>
              <a:defRPr sz="1600" b="1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200"/>
              <a:buFont typeface="Arial"/>
              <a:buChar char="•"/>
              <a:defRPr sz="1200" b="1"/>
            </a:lvl4pPr>
            <a:lvl5pPr marL="2286000" lvl="4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350"/>
              <a:buFont typeface="Noto Sans Symbols"/>
              <a:buChar char="●"/>
              <a:defRPr sz="135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49956" y="259072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" name="Google Shape;28;p10"/>
          <p:cNvSpPr txBox="1"/>
          <p:nvPr/>
        </p:nvSpPr>
        <p:spPr>
          <a:xfrm>
            <a:off x="-2146501" y="-1235899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Noto Sans"/>
              <a:buNone/>
            </a:pPr>
            <a:endParaRPr sz="3000" b="1" i="0" u="none" strike="noStrike" cap="none">
              <a:solidFill>
                <a:srgbClr val="46444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" name="Google Shape;29;p10" title="標語_中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11550" y="6534225"/>
            <a:ext cx="1071550" cy="1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0" title="金控_中_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48175"/>
            <a:ext cx="1602775" cy="60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"/>
          <p:cNvCxnSpPr/>
          <p:nvPr/>
        </p:nvCxnSpPr>
        <p:spPr>
          <a:xfrm>
            <a:off x="1597301" y="6445831"/>
            <a:ext cx="8341800" cy="0"/>
          </a:xfrm>
          <a:prstGeom prst="straightConnector1">
            <a:avLst/>
          </a:prstGeom>
          <a:noFill/>
          <a:ln w="19050" cap="flat" cmpd="sng">
            <a:solidFill>
              <a:srgbClr val="D70C1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10"/>
          <p:cNvCxnSpPr/>
          <p:nvPr/>
        </p:nvCxnSpPr>
        <p:spPr>
          <a:xfrm rot="10800000">
            <a:off x="9939225" y="6445838"/>
            <a:ext cx="1446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1964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章節標題" preserve="1">
  <p:cSld name="2_章節標題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3B5AF3D8-B199-5417-755A-9D51D04F6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1851" y="4128475"/>
            <a:ext cx="105156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4800"/>
              <a:buNone/>
              <a:defRPr sz="4800" i="0">
                <a:solidFill>
                  <a:srgbClr val="46444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pic>
        <p:nvPicPr>
          <p:cNvPr id="35" name="Google Shape;35;p11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100" y="688548"/>
            <a:ext cx="5575550" cy="212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486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00B95-F112-B8B7-381C-1E417E4AB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BE2AAC-90E4-D32C-C2EC-A159487F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B5046B-CF36-90D5-96AF-C53DBA74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5755-7018-4945-A46B-2B4DE79FC767}" type="datetimeFigureOut">
              <a:rPr kumimoji="1" lang="zh-TW" altLang="en-US" smtClean="0"/>
              <a:t>2026/5/26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4874EB-7423-DBD2-1C7B-424E851D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0B08D-6B26-34AE-92D0-8D2AB1E7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DD83-9373-1C49-B3EB-CD40710A3C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2667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519290" y="1176425"/>
            <a:ext cx="11091600" cy="5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0000"/>
              </a:buClr>
              <a:buSzPts val="2400"/>
              <a:buFont typeface="Microsoft JhengHei"/>
              <a:buChar char="■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2000"/>
              <a:buFont typeface="Microsoft JhengHei"/>
              <a:buChar char="■"/>
              <a:defRPr sz="2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1600"/>
              <a:buFont typeface="Microsoft JhengHei"/>
              <a:buChar char="■"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1600"/>
              <a:buFont typeface="Microsoft JhengHei"/>
              <a:buNone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2400"/>
              <a:buFont typeface="Microsoft JhengHei"/>
              <a:buChar char="•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19290" y="259072"/>
            <a:ext cx="11091685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Microsoft JhengHei"/>
              <a:buNone/>
              <a:defRPr sz="3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580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6FCBD-1057-479C-BDC5-C41CA873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請根據我提供的 1-12 月信用卡業務統計資料，以台新新光金控簡報模板，製作一份</a:t>
            </a:r>
          </a:p>
        </p:txBody>
      </p:sp>
    </p:spTree>
    <p:extLst>
      <p:ext uri="{BB962C8B-B14F-4D97-AF65-F5344CB8AC3E}">
        <p14:creationId xmlns:p14="http://schemas.microsoft.com/office/powerpoint/2010/main" val="58676395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247553"/>
            <a:ext cx="4405560" cy="4880100"/>
          </a:xfrm>
        </p:spPr>
        <p:txBody>
          <a:bodyPr wrap="square"/>
          <a:lstStyle/>
          <a:p>
            <a:pPr/>
            <a:r>
              <a:rPr b="1" sz="1600"/>
              <a:t>市場規模穩健擴張，全年未見動能衰退</a:t>
            </a:r>
          </a:p>
          <a:p>
            <a:pPr lvl="1"/>
            <a:r>
              <a:rPr sz="1200"/>
              <a:t>流通卡數自年初 6,100.2萬張 增至 6,548.1萬張</a:t>
            </a:r>
          </a:p>
          <a:p>
            <a:pPr lvl="1"/>
            <a:r>
              <a:rPr sz="1200"/>
              <a:t>全年高點 6,548.1萬張 出現於 12月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市場整體概況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8595" y="1247553"/>
          <a:ext cx="6608340" cy="48801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247553"/>
            <a:ext cx="4405560" cy="4880100"/>
          </a:xfrm>
        </p:spPr>
        <p:txBody>
          <a:bodyPr wrap="square"/>
          <a:lstStyle/>
          <a:p>
            <a:pPr/>
            <a:r>
              <a:rPr b="1" sz="1600"/>
              <a:t>年增動能逐季轉強，成長並未趨緩</a:t>
            </a:r>
          </a:p>
          <a:p>
            <a:pPr lvl="1"/>
            <a:r>
              <a:rPr sz="1200"/>
              <a:t>年增率由 4.0% 提升至 8.3%</a:t>
            </a:r>
          </a:p>
          <a:p>
            <a:pPr lvl="1"/>
            <a:r>
              <a:rPr sz="1200"/>
              <a:t>全年平均年增 6.3%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成長動能檢視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8595" y="1247553"/>
          <a:ext cx="6608340" cy="48801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247553"/>
            <a:ext cx="4405560" cy="4880100"/>
          </a:xfrm>
        </p:spPr>
        <p:txBody>
          <a:bodyPr wrap="square"/>
          <a:lstStyle/>
          <a:p>
            <a:pPr/>
            <a:r>
              <a:rPr b="1" sz="1600"/>
              <a:t>市場集中度偏高，龍頭優勢穩固</a:t>
            </a:r>
          </a:p>
          <a:p>
            <a:pPr lvl="1"/>
            <a:r>
              <a:rPr sz="1200"/>
              <a:t>龍頭 中信 市占達 25.9%</a:t>
            </a:r>
          </a:p>
          <a:p>
            <a:pPr lvl="1"/>
            <a:r>
              <a:rPr sz="1200"/>
              <a:t>末位業者市占僅 13.7%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業者競爭態勢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8595" y="1247553"/>
          <a:ext cx="6608340" cy="48801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寬螢幕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Noto Sans Symbols</vt:lpstr>
      <vt:lpstr>Microsoft JhengHei</vt:lpstr>
      <vt:lpstr>Arial</vt:lpstr>
      <vt:lpstr>Noto Sans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蕭宇喬</dc:creator>
  <cp:lastModifiedBy>蕭宇喬</cp:lastModifiedBy>
  <cp:revision>2</cp:revision>
  <dcterms:created xsi:type="dcterms:W3CDTF">2026-05-26T08:53:52Z</dcterms:created>
  <dcterms:modified xsi:type="dcterms:W3CDTF">2026-05-26T08:55:08Z</dcterms:modified>
</cp:coreProperties>
</file>