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42" r:id="rId6"/>
    <p:sldId id="343" r:id="rId5"/>
    <p:sldId id="344" r:id="rId4"/>
    <p:sldId id="345" r:id="rId3"/>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 id="361" r:id="rId2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5" d="100"/>
          <a:sy n="65" d="100"/>
        </p:scale>
        <p:origin x="90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市場整體（各期）：規模與金額走勢並列</a:t>
            </a:r>
          </a:p>
        </c:rich>
      </c:tx>
      <c:layout/>
      <c:overlay val="0"/>
    </c:title>
    <c:autoTitleDeleted val="0"/>
    <c:plotArea>
      <c:barChart>
        <c:barDir val="col"/>
        <c:grouping val="clustered"/>
        <c:ser>
          <c:idx val="0"/>
          <c:order val="0"/>
          <c:tx>
            <c:strRef>
              <c:f>Sheet1!$B$1</c:f>
              <c:strCache>
                <c:ptCount val="1"/>
                <c:pt idx="0">
                  <c:v>流通卡數</c:v>
                </c:pt>
              </c:strCache>
            </c:strRef>
          </c:tx>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Sheet1!$B$2:$B$13</c:f>
              <c:numCache>
                <c:formatCode>General</c:formatCode>
                <c:ptCount val="12"/>
                <c:pt idx="0">
                  <c:v>58654745.0</c:v>
                </c:pt>
                <c:pt idx="1">
                  <c:v>58747562.0</c:v>
                </c:pt>
                <c:pt idx="2">
                  <c:v>58994262.0</c:v>
                </c:pt>
                <c:pt idx="3">
                  <c:v>59388667.0</c:v>
                </c:pt>
                <c:pt idx="4">
                  <c:v>59795907.0</c:v>
                </c:pt>
                <c:pt idx="5">
                  <c:v>59869255.0</c:v>
                </c:pt>
                <c:pt idx="6">
                  <c:v>59947219.0</c:v>
                </c:pt>
                <c:pt idx="7">
                  <c:v>60149284.0</c:v>
                </c:pt>
                <c:pt idx="8">
                  <c:v>60354497.0</c:v>
                </c:pt>
                <c:pt idx="9">
                  <c:v>60479206.0</c:v>
                </c:pt>
                <c:pt idx="10">
                  <c:v>60424521.0</c:v>
                </c:pt>
                <c:pt idx="11">
                  <c:v>60485911.0</c:v>
                </c:pt>
              </c:numCache>
            </c:numRef>
          </c:val>
        </c:ser>
        <c:axId val="-2068027336"/>
        <c:axId val="-2113994440"/>
      </c:barChart>
      <c:lineChart>
        <c:grouping val="standard"/>
        <c:varyColors val="0"/>
        <c:ser>
          <c:idx val="1"/>
          <c:order val="1"/>
          <c:tx>
            <c:strRef>
              <c:f>Sheet1!$C$1</c:f>
              <c:strCache>
                <c:ptCount val="1"/>
                <c:pt idx="0">
                  <c:v>當月簽帳金額</c:v>
                </c:pt>
              </c:strCache>
            </c:strRef>
          </c:tx>
          <c:marker>
            <c:symbol val="circle"/>
            <c:size val="7"/>
          </c:marker>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Sheet1!$C$2:$C$13</c:f>
              <c:numCache>
                <c:formatCode>General</c:formatCode>
                <c:ptCount val="12"/>
                <c:pt idx="0">
                  <c:v>338561389.0</c:v>
                </c:pt>
                <c:pt idx="1">
                  <c:v>395294658.0</c:v>
                </c:pt>
                <c:pt idx="2">
                  <c:v>377172642.0</c:v>
                </c:pt>
                <c:pt idx="3">
                  <c:v>373344235.0</c:v>
                </c:pt>
                <c:pt idx="4">
                  <c:v>371785303.0</c:v>
                </c:pt>
                <c:pt idx="5">
                  <c:v>393715829.0</c:v>
                </c:pt>
                <c:pt idx="6">
                  <c:v>653264628.0</c:v>
                </c:pt>
                <c:pt idx="7">
                  <c:v>376250456.0</c:v>
                </c:pt>
                <c:pt idx="8">
                  <c:v>403174279.0</c:v>
                </c:pt>
                <c:pt idx="9">
                  <c:v>453412126.0</c:v>
                </c:pt>
                <c:pt idx="10">
                  <c:v>396704763.0</c:v>
                </c:pt>
                <c:pt idx="11">
                  <c:v>453663538.0</c:v>
                </c:pt>
              </c:numCache>
            </c:numRef>
          </c:val>
          <c:smooth val="0"/>
        </c:ser>
        <c:marker val="1"/>
        <c:axId val="100000001"/>
        <c:axId val="100000002"/>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catAx>
        <c:axId val="100000001"/>
        <c:scaling>
          <c:orientation val="minMax"/>
        </c:scaling>
        <c:delete val="1"/>
        <c:axPos val="b"/>
        <c:crossAx val="100000002"/>
      </c:catAx>
      <c:valAx>
        <c:axId val="100000002"/>
        <c:scaling>
          <c:orientation val="minMax"/>
        </c:scaling>
        <c:delete val="0"/>
        <c:axPos val="r"/>
        <c:numFmt formatCode="General" sourceLinked="0"/>
        <c:majorTickMark val="out"/>
        <c:minorTickMark val="none"/>
        <c:tickLblPos val="nextTo"/>
        <c:crossAx val="100000001"/>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市場整體（各期） 期間成長率走勢</a:t>
            </a:r>
          </a:p>
        </c:rich>
      </c:tx>
      <c:layout/>
      <c:overlay val="0"/>
    </c:title>
    <c:autoTitleDeleted val="0"/>
    <c:plotArea>
      <c:lineChart>
        <c:grouping val="standard"/>
        <c:varyColors val="0"/>
        <c:ser>
          <c:idx val="0"/>
          <c:order val="0"/>
          <c:tx>
            <c:strRef>
              <c:f>Sheet1!$B$1</c:f>
              <c:strCache>
                <c:ptCount val="1"/>
                <c:pt idx="0">
                  <c:v>流通卡數</c:v>
                </c:pt>
              </c:strCache>
            </c:strRef>
          </c:tx>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Sheet1!$B$2:$B$13</c:f>
              <c:numCache>
                <c:formatCode>General</c:formatCode>
                <c:ptCount val="12"/>
                <c:pt idx="1">
                  <c:v>0.1582</c:v>
                </c:pt>
                <c:pt idx="2">
                  <c:v>0.4199</c:v>
                </c:pt>
                <c:pt idx="3">
                  <c:v>0.6685</c:v>
                </c:pt>
                <c:pt idx="4">
                  <c:v>0.6857</c:v>
                </c:pt>
                <c:pt idx="5">
                  <c:v>0.1227</c:v>
                </c:pt>
                <c:pt idx="6">
                  <c:v>0.1302</c:v>
                </c:pt>
                <c:pt idx="7">
                  <c:v>0.3371</c:v>
                </c:pt>
                <c:pt idx="8">
                  <c:v>0.3412</c:v>
                </c:pt>
                <c:pt idx="9">
                  <c:v>0.2066</c:v>
                </c:pt>
                <c:pt idx="10">
                  <c:v>-0.0904</c:v>
                </c:pt>
                <c:pt idx="11">
                  <c:v>0.1016</c:v>
                </c:pt>
              </c:numCache>
            </c:numRef>
          </c:val>
          <c:smooth val="0"/>
        </c:ser>
        <c:ser>
          <c:idx val="1"/>
          <c:order val="1"/>
          <c:tx>
            <c:strRef>
              <c:f>Sheet1!$C$1</c:f>
              <c:strCache>
                <c:ptCount val="1"/>
                <c:pt idx="0">
                  <c:v>有效卡數</c:v>
                </c:pt>
              </c:strCache>
            </c:strRef>
          </c:tx>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Sheet1!$C$2:$C$13</c:f>
              <c:numCache>
                <c:formatCode>General</c:formatCode>
                <c:ptCount val="12"/>
                <c:pt idx="1">
                  <c:v>0.3013</c:v>
                </c:pt>
                <c:pt idx="2">
                  <c:v>0.1529</c:v>
                </c:pt>
                <c:pt idx="3">
                  <c:v>0.4223</c:v>
                </c:pt>
                <c:pt idx="4">
                  <c:v>0.3222</c:v>
                </c:pt>
                <c:pt idx="5">
                  <c:v>0.201</c:v>
                </c:pt>
                <c:pt idx="6">
                  <c:v>0.6026</c:v>
                </c:pt>
                <c:pt idx="7">
                  <c:v>0.1754</c:v>
                </c:pt>
                <c:pt idx="8">
                  <c:v>0.636</c:v>
                </c:pt>
                <c:pt idx="9">
                  <c:v>0.4775</c:v>
                </c:pt>
                <c:pt idx="10">
                  <c:v>0.2229</c:v>
                </c:pt>
                <c:pt idx="11">
                  <c:v>0.2163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t>循環信用餘額 占比 Top 10：前段業者掌握主要份額</a:t>
            </a:r>
          </a:p>
        </c:rich>
      </c:tx>
      <c:layout/>
      <c:overlay val="0"/>
    </c:title>
    <c:autoTitleDeleted val="0"/>
    <c:plotArea>
      <c:pieChart>
        <c:varyColors val="1"/>
        <c:ser>
          <c:idx val="0"/>
          <c:order val="0"/>
          <c:tx>
            <c:strRef>
              <c:f>Sheet1!$B$1</c:f>
              <c:strCache>
                <c:ptCount val="1"/>
                <c:pt idx="0">
                  <c:v>11412</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Sheet1!$B$2:$B$11</c:f>
              <c:numCache>
                <c:formatCode>General</c:formatCode>
                <c:ptCount val="10"/>
                <c:pt idx="0">
                  <c:v>18.696</c:v>
                </c:pt>
                <c:pt idx="1">
                  <c:v>15.1429</c:v>
                </c:pt>
                <c:pt idx="2">
                  <c:v>15.1041</c:v>
                </c:pt>
                <c:pt idx="3">
                  <c:v>9.6706</c:v>
                </c:pt>
                <c:pt idx="4">
                  <c:v>9.5411</c:v>
                </c:pt>
                <c:pt idx="5">
                  <c:v>7.5175</c:v>
                </c:pt>
                <c:pt idx="6">
                  <c:v>5.5591</c:v>
                </c:pt>
                <c:pt idx="7">
                  <c:v>3.2872</c:v>
                </c:pt>
                <c:pt idx="8">
                  <c:v>2.6864</c:v>
                </c:pt>
                <c:pt idx="9">
                  <c:v>1.443</c:v>
                </c:pt>
              </c:numCache>
            </c:numRef>
          </c:val>
        </c:ser>
      </c:pieChart>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t>有效卡數 Top 10：業者間差異明顯</a:t>
            </a:r>
          </a:p>
        </c:rich>
      </c:tx>
      <c:layout/>
      <c:overlay val="0"/>
    </c:title>
    <c:autoTitleDeleted val="0"/>
    <c:plotArea>
      <c:barChart>
        <c:barDir val="col"/>
        <c:grouping val="clustered"/>
        <c:ser>
          <c:idx val="0"/>
          <c:order val="0"/>
          <c:tx>
            <c:strRef>
              <c:f>Sheet1!$B$1</c:f>
              <c:strCache>
                <c:ptCount val="1"/>
                <c:pt idx="0">
                  <c:v>11412</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Sheet1!$B$2:$B$11</c:f>
              <c:numCache>
                <c:formatCode>General</c:formatCode>
                <c:ptCount val="10"/>
                <c:pt idx="0">
                  <c:v>6685860.0</c:v>
                </c:pt>
                <c:pt idx="1">
                  <c:v>5849375.0</c:v>
                </c:pt>
                <c:pt idx="2">
                  <c:v>5340523.0</c:v>
                </c:pt>
                <c:pt idx="3">
                  <c:v>5209203.0</c:v>
                </c:pt>
                <c:pt idx="4">
                  <c:v>4852939.0</c:v>
                </c:pt>
                <c:pt idx="5">
                  <c:v>2087494.0</c:v>
                </c:pt>
                <c:pt idx="6">
                  <c:v>1849324.0</c:v>
                </c:pt>
                <c:pt idx="7">
                  <c:v>1545721.0</c:v>
                </c:pt>
                <c:pt idx="8">
                  <c:v>952857.0</c:v>
                </c:pt>
                <c:pt idx="9">
                  <c:v>910122.0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t>未到期分期付款餘額 Top 10：業者間差異明顯</a:t>
            </a:r>
          </a:p>
        </c:rich>
      </c:tx>
      <c:layout/>
      <c:overlay val="0"/>
    </c:title>
    <c:autoTitleDeleted val="0"/>
    <c:plotArea>
      <c:barChart>
        <c:barDir val="col"/>
        <c:grouping val="clustered"/>
        <c:ser>
          <c:idx val="0"/>
          <c:order val="0"/>
          <c:tx>
            <c:strRef>
              <c:f>Sheet1!$B$1</c:f>
              <c:strCache>
                <c:ptCount val="1"/>
                <c:pt idx="0">
                  <c:v>11412</c:v>
                </c:pt>
              </c:strCache>
            </c:strRef>
          </c:tx>
          <c:cat>
            <c:strRef>
              <c:f>Sheet1!$A$2:$A$11</c:f>
              <c:strCache>
                <c:ptCount val="10"/>
                <c:pt idx="0">
                  <c:v>台北富邦商業銀行</c:v>
                </c:pt>
                <c:pt idx="1">
                  <c:v>國泰世華商業銀行</c:v>
                </c:pt>
                <c:pt idx="2">
                  <c:v>玉山商業銀行</c:v>
                </c:pt>
                <c:pt idx="3">
                  <c:v>中國信託商業銀行</c:v>
                </c:pt>
                <c:pt idx="4">
                  <c:v>台新國際商業銀行</c:v>
                </c:pt>
                <c:pt idx="5">
                  <c:v>星展(台灣)商業銀行</c:v>
                </c:pt>
                <c:pt idx="6">
                  <c:v>聯邦商業銀行</c:v>
                </c:pt>
                <c:pt idx="7">
                  <c:v>華南商業銀行</c:v>
                </c:pt>
                <c:pt idx="8">
                  <c:v>永豐商業銀行</c:v>
                </c:pt>
                <c:pt idx="9">
                  <c:v>元大商業銀行</c:v>
                </c:pt>
              </c:strCache>
            </c:strRef>
          </c:cat>
          <c:val>
            <c:numRef>
              <c:f>Sheet1!$B$2:$B$11</c:f>
              <c:numCache>
                <c:formatCode>General</c:formatCode>
                <c:ptCount val="10"/>
                <c:pt idx="0">
                  <c:v>32786476.0</c:v>
                </c:pt>
                <c:pt idx="1">
                  <c:v>26660450.0</c:v>
                </c:pt>
                <c:pt idx="2">
                  <c:v>24097499.0</c:v>
                </c:pt>
                <c:pt idx="3">
                  <c:v>21706013.0</c:v>
                </c:pt>
                <c:pt idx="4">
                  <c:v>20339947.0</c:v>
                </c:pt>
                <c:pt idx="5">
                  <c:v>17063521.0</c:v>
                </c:pt>
                <c:pt idx="6">
                  <c:v>8600612.0</c:v>
                </c:pt>
                <c:pt idx="7">
                  <c:v>6359672.0</c:v>
                </c:pt>
                <c:pt idx="8">
                  <c:v>5337396.0</c:v>
                </c:pt>
                <c:pt idx="9">
                  <c:v>4132981.0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t>市場整體（各期） 趨勢外推走勢</a:t>
            </a:r>
          </a:p>
        </c:rich>
      </c:tx>
      <c:layout/>
      <c:overlay val="0"/>
    </c:title>
    <c:autoTitleDeleted val="0"/>
    <c:plotArea>
      <c:lineChart>
        <c:grouping val="standard"/>
        <c:varyColors val="0"/>
        <c:ser>
          <c:idx val="0"/>
          <c:order val="0"/>
          <c:tx>
            <c:strRef>
              <c:f>Sheet1!$B$1</c:f>
              <c:strCache>
                <c:ptCount val="1"/>
                <c:pt idx="0">
                  <c:v>流通卡數</c:v>
                </c:pt>
              </c:strCache>
            </c:strRef>
          </c:tx>
          <c:cat>
            <c:strRef>
              <c:f>Sheet1!$A$2:$A$16</c:f>
              <c:strCache>
                <c:ptCount val="15"/>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pt idx="12">
                  <c:v>預測+1</c:v>
                </c:pt>
                <c:pt idx="13">
                  <c:v>預測+2</c:v>
                </c:pt>
                <c:pt idx="14">
                  <c:v>預測+3</c:v>
                </c:pt>
              </c:strCache>
            </c:strRef>
          </c:cat>
          <c:val>
            <c:numRef>
              <c:f>Sheet1!$B$2:$B$16</c:f>
              <c:numCache>
                <c:formatCode>General</c:formatCode>
                <c:ptCount val="15"/>
                <c:pt idx="0">
                  <c:v>58654745.0</c:v>
                </c:pt>
                <c:pt idx="1">
                  <c:v>58747562.0</c:v>
                </c:pt>
                <c:pt idx="2">
                  <c:v>58994262.0</c:v>
                </c:pt>
                <c:pt idx="3">
                  <c:v>59388667.0</c:v>
                </c:pt>
                <c:pt idx="4">
                  <c:v>59795907.0</c:v>
                </c:pt>
                <c:pt idx="5">
                  <c:v>59869255.0</c:v>
                </c:pt>
                <c:pt idx="6">
                  <c:v>59947219.0</c:v>
                </c:pt>
                <c:pt idx="7">
                  <c:v>60149284.0</c:v>
                </c:pt>
                <c:pt idx="8">
                  <c:v>60354497.0</c:v>
                </c:pt>
                <c:pt idx="9">
                  <c:v>60479206.0</c:v>
                </c:pt>
                <c:pt idx="10">
                  <c:v>60424521.0</c:v>
                </c:pt>
                <c:pt idx="11">
                  <c:v>60485911.0</c:v>
                </c:pt>
                <c:pt idx="12">
                  <c:v>60946919.1364</c:v>
                </c:pt>
                <c:pt idx="13">
                  <c:v>61127329.3112</c:v>
                </c:pt>
                <c:pt idx="14">
                  <c:v>61307739.486</c:v>
                </c:pt>
              </c:numCache>
            </c:numRef>
          </c:val>
          <c:smooth val="0"/>
        </c:ser>
        <c:ser>
          <c:idx val="1"/>
          <c:order val="1"/>
          <c:tx>
            <c:strRef>
              <c:f>Sheet1!$C$1</c:f>
              <c:strCache>
                <c:ptCount val="1"/>
                <c:pt idx="0">
                  <c:v>有效卡數</c:v>
                </c:pt>
              </c:strCache>
            </c:strRef>
          </c:tx>
          <c:cat>
            <c:strRef>
              <c:f>Sheet1!$A$2:$A$16</c:f>
              <c:strCache>
                <c:ptCount val="15"/>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pt idx="12">
                  <c:v>預測+1</c:v>
                </c:pt>
                <c:pt idx="13">
                  <c:v>預測+2</c:v>
                </c:pt>
                <c:pt idx="14">
                  <c:v>預測+3</c:v>
                </c:pt>
              </c:strCache>
            </c:strRef>
          </c:cat>
          <c:val>
            <c:numRef>
              <c:f>Sheet1!$C$2:$C$16</c:f>
              <c:numCache>
                <c:formatCode>General</c:formatCode>
                <c:ptCount val="15"/>
                <c:pt idx="0">
                  <c:v>39072550.0</c:v>
                </c:pt>
                <c:pt idx="1">
                  <c:v>39190270.0</c:v>
                </c:pt>
                <c:pt idx="2">
                  <c:v>39250194.0</c:v>
                </c:pt>
                <c:pt idx="3">
                  <c:v>39415942.0</c:v>
                </c:pt>
                <c:pt idx="4">
                  <c:v>39542944.0</c:v>
                </c:pt>
                <c:pt idx="5">
                  <c:v>39622444.0</c:v>
                </c:pt>
                <c:pt idx="6">
                  <c:v>39861195.0</c:v>
                </c:pt>
                <c:pt idx="7">
                  <c:v>39931101.0</c:v>
                </c:pt>
                <c:pt idx="8">
                  <c:v>40185047.0</c:v>
                </c:pt>
                <c:pt idx="9">
                  <c:v>40376943.0</c:v>
                </c:pt>
                <c:pt idx="10">
                  <c:v>40466935.0</c:v>
                </c:pt>
                <c:pt idx="11">
                  <c:v>40554453.0</c:v>
                </c:pt>
                <c:pt idx="12">
                  <c:v>40719325.1667</c:v>
                </c:pt>
                <c:pt idx="13">
                  <c:v>40862426.2436</c:v>
                </c:pt>
                <c:pt idx="14">
                  <c:v>41005527.3205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t>循環信用餘額 占比：業者間差異明顯</a:t>
            </a:r>
          </a:p>
        </c:rich>
      </c:tx>
      <c:layout/>
      <c:overlay val="0"/>
    </c:title>
    <c:autoTitleDeleted val="0"/>
    <c:plotArea>
      <c:barChart>
        <c:barDir val="bar"/>
        <c:grouping val="clustered"/>
        <c:ser>
          <c:idx val="0"/>
          <c:order val="0"/>
          <c:tx>
            <c:strRef>
              <c:f>Sheet1!$B$1</c:f>
              <c:strCache>
                <c:ptCount val="1"/>
                <c:pt idx="0">
                  <c:v>11412</c:v>
                </c:pt>
              </c:strCache>
            </c:strRef>
          </c:tx>
          <c:cat>
            <c:strRef>
              <c:f>Sheet1!$A$2:$A$34</c:f>
              <c:strCache>
                <c:ptCount val="33"/>
                <c:pt idx="0">
                  <c:v>臺灣銀行</c:v>
                </c:pt>
                <c:pt idx="1">
                  <c:v>臺灣土地銀行</c:v>
                </c:pt>
                <c:pt idx="2">
                  <c:v>合作金庫商業銀行</c:v>
                </c:pt>
                <c:pt idx="3">
                  <c:v>第一商業銀行</c:v>
                </c:pt>
                <c:pt idx="4">
                  <c:v>華南商業銀行</c:v>
                </c:pt>
                <c:pt idx="5">
                  <c:v>彰化商業銀行</c:v>
                </c:pt>
                <c:pt idx="6">
                  <c:v>上海商業儲蓄銀行</c:v>
                </c:pt>
                <c:pt idx="7">
                  <c:v>台北富邦商業銀行</c:v>
                </c:pt>
                <c:pt idx="8">
                  <c:v>國泰世華商業銀行</c:v>
                </c:pt>
                <c:pt idx="9">
                  <c:v>高雄銀行</c:v>
                </c:pt>
                <c:pt idx="10">
                  <c:v>兆豐國際商業銀行</c:v>
                </c:pt>
                <c:pt idx="11">
                  <c:v>花旗(台灣)商業銀行</c:v>
                </c:pt>
                <c:pt idx="12">
                  <c:v>臺灣中小企業銀行</c:v>
                </c:pt>
                <c:pt idx="13">
                  <c:v>渣打國際商業銀行</c:v>
                </c:pt>
                <c:pt idx="14">
                  <c:v>台中商業銀行</c:v>
                </c:pt>
                <c:pt idx="15">
                  <c:v>滙豐(台灣)商業銀行</c:v>
                </c:pt>
                <c:pt idx="16">
                  <c:v>華泰商業銀行</c:v>
                </c:pt>
                <c:pt idx="17">
                  <c:v>臺灣新光商業銀行</c:v>
                </c:pt>
                <c:pt idx="18">
                  <c:v>陽信商業銀行</c:v>
                </c:pt>
                <c:pt idx="19">
                  <c:v>三信商業銀行</c:v>
                </c:pt>
                <c:pt idx="20">
                  <c:v>聯邦商業銀行</c:v>
                </c:pt>
                <c:pt idx="21">
                  <c:v>遠東國際商業銀行</c:v>
                </c:pt>
                <c:pt idx="22">
                  <c:v>元大商業銀行</c:v>
                </c:pt>
                <c:pt idx="23">
                  <c:v>永豐商業銀行</c:v>
                </c:pt>
                <c:pt idx="24">
                  <c:v>玉山商業銀行</c:v>
                </c:pt>
                <c:pt idx="25">
                  <c:v>凱基商業銀行</c:v>
                </c:pt>
                <c:pt idx="26">
                  <c:v>星展(台灣)商業銀行</c:v>
                </c:pt>
                <c:pt idx="27">
                  <c:v>台新國際商業銀行</c:v>
                </c:pt>
                <c:pt idx="28">
                  <c:v>安泰商業銀行</c:v>
                </c:pt>
                <c:pt idx="29">
                  <c:v>中國信託商業銀行</c:v>
                </c:pt>
                <c:pt idx="30">
                  <c:v>台灣樂天信用卡股份有限公司</c:v>
                </c:pt>
                <c:pt idx="31">
                  <c:v>台灣美國運通國際(股)公司</c:v>
                </c:pt>
                <c:pt idx="32">
                  <c:v>總計</c:v>
                </c:pt>
              </c:strCache>
            </c:strRef>
          </c:cat>
          <c:val>
            <c:numRef>
              <c:f>Sheet1!$B$2:$B$34</c:f>
              <c:numCache>
                <c:formatCode>General</c:formatCode>
                <c:ptCount val="33"/>
                <c:pt idx="0">
                  <c:v>0.1366</c:v>
                </c:pt>
                <c:pt idx="1">
                  <c:v>0.2632</c:v>
                </c:pt>
                <c:pt idx="2">
                  <c:v>0.8347</c:v>
                </c:pt>
                <c:pt idx="3">
                  <c:v>1.0937</c:v>
                </c:pt>
                <c:pt idx="4">
                  <c:v>1.0121</c:v>
                </c:pt>
                <c:pt idx="5">
                  <c:v>0.3232</c:v>
                </c:pt>
                <c:pt idx="6">
                  <c:v>0.5613</c:v>
                </c:pt>
                <c:pt idx="7">
                  <c:v>9.6706</c:v>
                </c:pt>
                <c:pt idx="8">
                  <c:v>18.696</c:v>
                </c:pt>
                <c:pt idx="9">
                  <c:v>0.0118</c:v>
                </c:pt>
                <c:pt idx="10">
                  <c:v>1.317</c:v>
                </c:pt>
                <c:pt idx="11">
                  <c:v>0.0</c:v>
                </c:pt>
                <c:pt idx="12">
                  <c:v>0.2236</c:v>
                </c:pt>
                <c:pt idx="13">
                  <c:v>0.6932</c:v>
                </c:pt>
                <c:pt idx="14">
                  <c:v>0.1865</c:v>
                </c:pt>
                <c:pt idx="15">
                  <c:v>1.443</c:v>
                </c:pt>
                <c:pt idx="16">
                  <c:v>0.0061</c:v>
                </c:pt>
                <c:pt idx="17">
                  <c:v>1.3987</c:v>
                </c:pt>
                <c:pt idx="18">
                  <c:v>0.1481</c:v>
                </c:pt>
                <c:pt idx="19">
                  <c:v>0.0314</c:v>
                </c:pt>
                <c:pt idx="20">
                  <c:v>5.5591</c:v>
                </c:pt>
                <c:pt idx="21">
                  <c:v>2.6864</c:v>
                </c:pt>
                <c:pt idx="22">
                  <c:v>0.993</c:v>
                </c:pt>
                <c:pt idx="23">
                  <c:v>3.2872</c:v>
                </c:pt>
                <c:pt idx="24">
                  <c:v>15.1429</c:v>
                </c:pt>
                <c:pt idx="25">
                  <c:v>1.0819</c:v>
                </c:pt>
                <c:pt idx="26">
                  <c:v>7.5175</c:v>
                </c:pt>
                <c:pt idx="27">
                  <c:v>9.5411</c:v>
                </c:pt>
                <c:pt idx="28">
                  <c:v>0.1211</c:v>
                </c:pt>
                <c:pt idx="29">
                  <c:v>15.1041</c:v>
                </c:pt>
                <c:pt idx="30">
                  <c:v>0.697</c:v>
                </c:pt>
                <c:pt idx="31">
                  <c:v>0.2181</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preserve="1">
  <p:cSld name="標題投影片">
    <p:spTree>
      <p:nvGrpSpPr>
        <p:cNvPr id="1" name="Shape 13"/>
        <p:cNvGrpSpPr/>
        <p:nvPr/>
      </p:nvGrpSpPr>
      <p:grpSpPr>
        <a:xfrm>
          <a:off x="0" y="0"/>
          <a:ext cx="0" cy="0"/>
          <a:chOff x="0" y="0"/>
          <a:chExt cx="0" cy="0"/>
        </a:xfrm>
      </p:grpSpPr>
      <p:pic>
        <p:nvPicPr>
          <p:cNvPr id="3" name="圖片 2" descr="一張含有 圖形 的圖片&#10;&#10;AI 產生的內容可能不正確。">
            <a:extLst>
              <a:ext uri="{FF2B5EF4-FFF2-40B4-BE49-F238E27FC236}">
                <a16:creationId xmlns:a16="http://schemas.microsoft.com/office/drawing/2014/main" id="{026A16C4-3BD0-72DB-C8B5-239F03494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14" name="Google Shape;14;p7"/>
          <p:cNvSpPr txBox="1">
            <a:spLocks noGrp="1"/>
          </p:cNvSpPr>
          <p:nvPr>
            <p:ph type="title"/>
          </p:nvPr>
        </p:nvSpPr>
        <p:spPr>
          <a:xfrm>
            <a:off x="1114515" y="1278736"/>
            <a:ext cx="9962700" cy="759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4F4F4F"/>
              </a:buClr>
              <a:buSzPts val="3000"/>
              <a:buNone/>
              <a:defRPr sz="30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
        <p:nvSpPr>
          <p:cNvPr id="15" name="Google Shape;15;p7"/>
          <p:cNvSpPr txBox="1">
            <a:spLocks noGrp="1"/>
          </p:cNvSpPr>
          <p:nvPr>
            <p:ph type="body" idx="1"/>
          </p:nvPr>
        </p:nvSpPr>
        <p:spPr>
          <a:xfrm>
            <a:off x="1114350" y="2394796"/>
            <a:ext cx="9963300" cy="30840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BE171B"/>
              </a:buClr>
              <a:buSzPts val="2400"/>
              <a:buChar char="●"/>
              <a:defRPr i="0">
                <a:solidFill>
                  <a:srgbClr val="4F4F4F"/>
                </a:solidFill>
              </a:defRPr>
            </a:lvl1pPr>
            <a:lvl2pPr marL="914400" marR="0" lvl="1" indent="-355600" algn="l">
              <a:lnSpc>
                <a:spcPct val="100000"/>
              </a:lnSpc>
              <a:spcBef>
                <a:spcPts val="500"/>
              </a:spcBef>
              <a:spcAft>
                <a:spcPts val="0"/>
              </a:spcAft>
              <a:buClr>
                <a:srgbClr val="CC181D"/>
              </a:buClr>
              <a:buSzPts val="2000"/>
              <a:buChar char="●"/>
              <a:defRPr i="0">
                <a:solidFill>
                  <a:srgbClr val="4F4F4F"/>
                </a:solidFill>
              </a:defRPr>
            </a:lvl2pPr>
            <a:lvl3pPr marL="1371600" lvl="2" indent="-342900" algn="l">
              <a:lnSpc>
                <a:spcPct val="90000"/>
              </a:lnSpc>
              <a:spcBef>
                <a:spcPts val="500"/>
              </a:spcBef>
              <a:spcAft>
                <a:spcPts val="0"/>
              </a:spcAft>
              <a:buClr>
                <a:srgbClr val="BE171B"/>
              </a:buClr>
              <a:buSzPts val="1800"/>
              <a:buChar char="■"/>
              <a:defRPr/>
            </a:lvl3pPr>
            <a:lvl4pPr marL="1828800" lvl="3" indent="-228600" algn="l">
              <a:lnSpc>
                <a:spcPct val="90000"/>
              </a:lnSpc>
              <a:spcBef>
                <a:spcPts val="500"/>
              </a:spcBef>
              <a:spcAft>
                <a:spcPts val="0"/>
              </a:spcAft>
              <a:buClr>
                <a:srgbClr val="BE171B"/>
              </a:buClr>
              <a:buSzPts val="1800"/>
              <a:buNone/>
              <a:defRPr b="1"/>
            </a:lvl4pPr>
            <a:lvl5pPr marL="2286000" lvl="4" indent="-323850" algn="l">
              <a:lnSpc>
                <a:spcPct val="90000"/>
              </a:lnSpc>
              <a:spcBef>
                <a:spcPts val="500"/>
              </a:spcBef>
              <a:spcAft>
                <a:spcPts val="0"/>
              </a:spcAft>
              <a:buClr>
                <a:srgbClr val="BE171B"/>
              </a:buClr>
              <a:buSzPts val="1500"/>
              <a:buChar char="•"/>
              <a:defRPr sz="1500" b="1"/>
            </a:lvl5pPr>
            <a:lvl6pPr marL="2743200" lvl="5" indent="-317500" algn="l">
              <a:lnSpc>
                <a:spcPct val="90000"/>
              </a:lnSpc>
              <a:spcBef>
                <a:spcPts val="500"/>
              </a:spcBef>
              <a:spcAft>
                <a:spcPts val="0"/>
              </a:spcAft>
              <a:buClr>
                <a:srgbClr val="BE171B"/>
              </a:buClr>
              <a:buSzPts val="1400"/>
              <a:buChar char="•"/>
              <a:defRPr sz="1400" b="1">
                <a:solidFill>
                  <a:srgbClr val="464444"/>
                </a:solidFill>
              </a:defRPr>
            </a:lvl6pPr>
            <a:lvl7pPr marL="3200400" lvl="6" indent="-304800" algn="l">
              <a:lnSpc>
                <a:spcPct val="90000"/>
              </a:lnSpc>
              <a:spcBef>
                <a:spcPts val="500"/>
              </a:spcBef>
              <a:spcAft>
                <a:spcPts val="0"/>
              </a:spcAft>
              <a:buClr>
                <a:srgbClr val="BE171B"/>
              </a:buClr>
              <a:buSzPts val="1200"/>
              <a:buChar char="•"/>
              <a:defRPr sz="1200" b="1">
                <a:solidFill>
                  <a:srgbClr val="464444"/>
                </a:solidFill>
              </a:defRPr>
            </a:lvl7pPr>
            <a:lvl8pPr marL="3657600" lvl="7" indent="-292100" algn="l">
              <a:lnSpc>
                <a:spcPct val="90000"/>
              </a:lnSpc>
              <a:spcBef>
                <a:spcPts val="500"/>
              </a:spcBef>
              <a:spcAft>
                <a:spcPts val="0"/>
              </a:spcAft>
              <a:buClr>
                <a:srgbClr val="BE171B"/>
              </a:buClr>
              <a:buSzPts val="1000"/>
              <a:buChar char="•"/>
              <a:defRPr sz="1000" b="1">
                <a:solidFill>
                  <a:srgbClr val="464444"/>
                </a:solidFill>
              </a:defRPr>
            </a:lvl8pPr>
            <a:lvl9pPr marL="4114800" lvl="8" indent="-279400" algn="l">
              <a:lnSpc>
                <a:spcPct val="90000"/>
              </a:lnSpc>
              <a:spcBef>
                <a:spcPts val="500"/>
              </a:spcBef>
              <a:spcAft>
                <a:spcPts val="0"/>
              </a:spcAft>
              <a:buClr>
                <a:srgbClr val="BE171B"/>
              </a:buClr>
              <a:buSzPts val="800"/>
              <a:buChar char="•"/>
              <a:defRPr sz="800" b="1">
                <a:solidFill>
                  <a:srgbClr val="464444"/>
                </a:solidFill>
              </a:defRPr>
            </a:lvl9pPr>
          </a:lstStyle>
          <a:p>
            <a:endParaRPr/>
          </a:p>
        </p:txBody>
      </p:sp>
      <p:cxnSp>
        <p:nvCxnSpPr>
          <p:cNvPr id="16" name="Google Shape;16;p7"/>
          <p:cNvCxnSpPr/>
          <p:nvPr/>
        </p:nvCxnSpPr>
        <p:spPr>
          <a:xfrm>
            <a:off x="1114515" y="2056042"/>
            <a:ext cx="9962700" cy="0"/>
          </a:xfrm>
          <a:prstGeom prst="straightConnector1">
            <a:avLst/>
          </a:prstGeom>
          <a:noFill/>
          <a:ln w="19050" cap="flat" cmpd="sng">
            <a:solidFill>
              <a:srgbClr val="A5A5A5"/>
            </a:solidFill>
            <a:prstDash val="solid"/>
            <a:miter lim="800000"/>
            <a:headEnd type="none" w="sm" len="sm"/>
            <a:tailEnd type="none" w="sm" len="sm"/>
          </a:ln>
        </p:spPr>
      </p:cxnSp>
      <p:pic>
        <p:nvPicPr>
          <p:cNvPr id="17" name="Google Shape;17;p7"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Tree>
    <p:extLst>
      <p:ext uri="{BB962C8B-B14F-4D97-AF65-F5344CB8AC3E}">
        <p14:creationId xmlns:p14="http://schemas.microsoft.com/office/powerpoint/2010/main" val="3120488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標題投影片" preserve="1">
  <p:cSld name="2_標題投影片">
    <p:spTree>
      <p:nvGrpSpPr>
        <p:cNvPr id="1" name="Shape 18"/>
        <p:cNvGrpSpPr/>
        <p:nvPr/>
      </p:nvGrpSpPr>
      <p:grpSpPr>
        <a:xfrm>
          <a:off x="0" y="0"/>
          <a:ext cx="0" cy="0"/>
          <a:chOff x="0" y="0"/>
          <a:chExt cx="0" cy="0"/>
        </a:xfrm>
      </p:grpSpPr>
      <p:pic>
        <p:nvPicPr>
          <p:cNvPr id="3" name="圖片 2" descr="一張含有 圖形 的圖片&#10;&#10;AI 產生的內容可能不正確。">
            <a:extLst>
              <a:ext uri="{FF2B5EF4-FFF2-40B4-BE49-F238E27FC236}">
                <a16:creationId xmlns:a16="http://schemas.microsoft.com/office/drawing/2014/main" id="{E912A1DA-C32A-79BA-3D45-A52103A38D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19" name="Google Shape;19;p8"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
        <p:nvSpPr>
          <p:cNvPr id="20" name="Google Shape;20;p8"/>
          <p:cNvSpPr txBox="1">
            <a:spLocks noGrp="1"/>
          </p:cNvSpPr>
          <p:nvPr>
            <p:ph type="title"/>
          </p:nvPr>
        </p:nvSpPr>
        <p:spPr>
          <a:xfrm>
            <a:off x="1114531" y="1640061"/>
            <a:ext cx="9962700" cy="2142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4F4F4F"/>
              </a:buClr>
              <a:buSzPts val="4400"/>
              <a:buNone/>
              <a:defRPr sz="44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Tree>
    <p:extLst>
      <p:ext uri="{BB962C8B-B14F-4D97-AF65-F5344CB8AC3E}">
        <p14:creationId xmlns:p14="http://schemas.microsoft.com/office/powerpoint/2010/main" val="134460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標題投影片" preserve="1">
  <p:cSld name="3_標題投影片">
    <p:spTree>
      <p:nvGrpSpPr>
        <p:cNvPr id="1" name="Shape 21"/>
        <p:cNvGrpSpPr/>
        <p:nvPr/>
      </p:nvGrpSpPr>
      <p:grpSpPr>
        <a:xfrm>
          <a:off x="0" y="0"/>
          <a:ext cx="0" cy="0"/>
          <a:chOff x="0" y="0"/>
          <a:chExt cx="0" cy="0"/>
        </a:xfrm>
      </p:grpSpPr>
      <p:pic>
        <p:nvPicPr>
          <p:cNvPr id="3" name="圖片 2" descr="一張含有 圖形, 設計 的圖片&#10;&#10;AI 產生的內容可能不正確。">
            <a:extLst>
              <a:ext uri="{FF2B5EF4-FFF2-40B4-BE49-F238E27FC236}">
                <a16:creationId xmlns:a16="http://schemas.microsoft.com/office/drawing/2014/main" id="{C649EEB2-B486-967D-A023-BE167D421E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22" name="Google Shape;22;p9"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
        <p:nvSpPr>
          <p:cNvPr id="23" name="Google Shape;23;p9"/>
          <p:cNvSpPr txBox="1">
            <a:spLocks noGrp="1"/>
          </p:cNvSpPr>
          <p:nvPr>
            <p:ph type="title"/>
          </p:nvPr>
        </p:nvSpPr>
        <p:spPr>
          <a:xfrm>
            <a:off x="1114531" y="1640061"/>
            <a:ext cx="9962700" cy="2142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4F4F4F"/>
              </a:buClr>
              <a:buSzPts val="4400"/>
              <a:buNone/>
              <a:defRPr sz="44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Tree>
    <p:extLst>
      <p:ext uri="{BB962C8B-B14F-4D97-AF65-F5344CB8AC3E}">
        <p14:creationId xmlns:p14="http://schemas.microsoft.com/office/powerpoint/2010/main" val="2213661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標題及內容" preserve="1">
  <p:cSld name="1_標題及內容">
    <p:spTree>
      <p:nvGrpSpPr>
        <p:cNvPr id="1" name="Shape 24"/>
        <p:cNvGrpSpPr/>
        <p:nvPr/>
      </p:nvGrpSpPr>
      <p:grpSpPr>
        <a:xfrm>
          <a:off x="0" y="0"/>
          <a:ext cx="0" cy="0"/>
          <a:chOff x="0" y="0"/>
          <a:chExt cx="0" cy="0"/>
        </a:xfrm>
      </p:grpSpPr>
      <p:sp>
        <p:nvSpPr>
          <p:cNvPr id="25" name="Google Shape;25;p10"/>
          <p:cNvSpPr txBox="1">
            <a:spLocks noGrp="1"/>
          </p:cNvSpPr>
          <p:nvPr>
            <p:ph type="body" idx="1"/>
          </p:nvPr>
        </p:nvSpPr>
        <p:spPr>
          <a:xfrm>
            <a:off x="368595" y="1247553"/>
            <a:ext cx="11242500" cy="48801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rgbClr val="CC181D"/>
              </a:buClr>
              <a:buSzPts val="2400"/>
              <a:buFont typeface="Noto Sans Symbols"/>
              <a:buChar char="■"/>
              <a:defRPr sz="2400" b="1"/>
            </a:lvl1pPr>
            <a:lvl2pPr marL="914400" lvl="1" indent="-355600" algn="l">
              <a:lnSpc>
                <a:spcPct val="100000"/>
              </a:lnSpc>
              <a:spcBef>
                <a:spcPts val="500"/>
              </a:spcBef>
              <a:spcAft>
                <a:spcPts val="0"/>
              </a:spcAft>
              <a:buClr>
                <a:srgbClr val="CC181D"/>
              </a:buClr>
              <a:buSzPts val="2000"/>
              <a:buFont typeface="Noto Sans Symbols"/>
              <a:buChar char="●"/>
              <a:defRPr sz="2000" b="1"/>
            </a:lvl2pPr>
            <a:lvl3pPr marL="1371600" lvl="2" indent="-330200" algn="l">
              <a:lnSpc>
                <a:spcPct val="100000"/>
              </a:lnSpc>
              <a:spcBef>
                <a:spcPts val="500"/>
              </a:spcBef>
              <a:spcAft>
                <a:spcPts val="0"/>
              </a:spcAft>
              <a:buClr>
                <a:srgbClr val="CC181D"/>
              </a:buClr>
              <a:buSzPts val="1600"/>
              <a:buFont typeface="Noto Sans Symbols"/>
              <a:buChar char="●"/>
              <a:defRPr sz="1600" b="1"/>
            </a:lvl3pPr>
            <a:lvl4pPr marL="1828800" lvl="3" indent="-304800" algn="l">
              <a:lnSpc>
                <a:spcPct val="100000"/>
              </a:lnSpc>
              <a:spcBef>
                <a:spcPts val="500"/>
              </a:spcBef>
              <a:spcAft>
                <a:spcPts val="0"/>
              </a:spcAft>
              <a:buClr>
                <a:srgbClr val="CC181D"/>
              </a:buClr>
              <a:buSzPts val="1200"/>
              <a:buFont typeface="Arial"/>
              <a:buChar char="•"/>
              <a:defRPr sz="1200" b="1"/>
            </a:lvl4pPr>
            <a:lvl5pPr marL="2286000" lvl="4" indent="-314325" algn="l">
              <a:lnSpc>
                <a:spcPct val="90000"/>
              </a:lnSpc>
              <a:spcBef>
                <a:spcPts val="500"/>
              </a:spcBef>
              <a:spcAft>
                <a:spcPts val="0"/>
              </a:spcAft>
              <a:buClr>
                <a:srgbClr val="CC181D"/>
              </a:buClr>
              <a:buSzPts val="1350"/>
              <a:buFont typeface="Noto Sans Symbols"/>
              <a:buChar char="●"/>
              <a:defRPr sz="1350" b="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0"/>
          <p:cNvSpPr txBox="1">
            <a:spLocks noGrp="1"/>
          </p:cNvSpPr>
          <p:nvPr>
            <p:ph type="title"/>
          </p:nvPr>
        </p:nvSpPr>
        <p:spPr>
          <a:xfrm>
            <a:off x="349956" y="259072"/>
            <a:ext cx="11261019" cy="75988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46444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0"/>
          <p:cNvSpPr txBox="1">
            <a:spLocks noGrp="1"/>
          </p:cNvSpPr>
          <p:nvPr>
            <p:ph type="sldNum" idx="12"/>
          </p:nvPr>
        </p:nvSpPr>
        <p:spPr>
          <a:xfrm flipH="1">
            <a:off x="11397425" y="6394525"/>
            <a:ext cx="651300" cy="32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9pPr>
          </a:lstStyle>
          <a:p>
            <a:pPr marL="0" lvl="0" indent="0" algn="r" rtl="0">
              <a:spcBef>
                <a:spcPts val="0"/>
              </a:spcBef>
              <a:spcAft>
                <a:spcPts val="0"/>
              </a:spcAft>
              <a:buNone/>
            </a:pPr>
            <a:fld id="{00000000-1234-1234-1234-123412341234}" type="slidenum">
              <a:rPr lang="zh-TW"/>
              <a:t>‹#›</a:t>
            </a:fld>
            <a:endParaRPr/>
          </a:p>
        </p:txBody>
      </p:sp>
      <p:sp>
        <p:nvSpPr>
          <p:cNvPr id="28" name="Google Shape;28;p10"/>
          <p:cNvSpPr txBox="1"/>
          <p:nvPr/>
        </p:nvSpPr>
        <p:spPr>
          <a:xfrm>
            <a:off x="-2146501" y="-1235899"/>
            <a:ext cx="11261019" cy="75988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464444"/>
              </a:buClr>
              <a:buSzPts val="3000"/>
              <a:buFont typeface="Noto Sans"/>
              <a:buNone/>
            </a:pPr>
            <a:endParaRPr sz="3000" b="1" i="0" u="none" strike="noStrike" cap="none">
              <a:solidFill>
                <a:srgbClr val="464444"/>
              </a:solidFill>
              <a:latin typeface="Noto Sans"/>
              <a:ea typeface="Noto Sans"/>
              <a:cs typeface="Noto Sans"/>
              <a:sym typeface="Noto Sans"/>
            </a:endParaRPr>
          </a:p>
        </p:txBody>
      </p:sp>
      <p:pic>
        <p:nvPicPr>
          <p:cNvPr id="29" name="Google Shape;29;p10" title="標語_中.png"/>
          <p:cNvPicPr preferRelativeResize="0"/>
          <p:nvPr/>
        </p:nvPicPr>
        <p:blipFill>
          <a:blip r:embed="rId2">
            <a:alphaModFix/>
          </a:blip>
          <a:stretch>
            <a:fillRect/>
          </a:stretch>
        </p:blipFill>
        <p:spPr>
          <a:xfrm>
            <a:off x="10311550" y="6534225"/>
            <a:ext cx="1071550" cy="128575"/>
          </a:xfrm>
          <a:prstGeom prst="rect">
            <a:avLst/>
          </a:prstGeom>
          <a:noFill/>
          <a:ln>
            <a:noFill/>
          </a:ln>
        </p:spPr>
      </p:pic>
      <p:pic>
        <p:nvPicPr>
          <p:cNvPr id="30" name="Google Shape;30;p10" title="金控_中_彩.png"/>
          <p:cNvPicPr preferRelativeResize="0"/>
          <p:nvPr/>
        </p:nvPicPr>
        <p:blipFill>
          <a:blip r:embed="rId3">
            <a:alphaModFix/>
          </a:blip>
          <a:stretch>
            <a:fillRect/>
          </a:stretch>
        </p:blipFill>
        <p:spPr>
          <a:xfrm>
            <a:off x="0" y="6248175"/>
            <a:ext cx="1602775" cy="609825"/>
          </a:xfrm>
          <a:prstGeom prst="rect">
            <a:avLst/>
          </a:prstGeom>
          <a:noFill/>
          <a:ln>
            <a:noFill/>
          </a:ln>
        </p:spPr>
      </p:pic>
      <p:cxnSp>
        <p:nvCxnSpPr>
          <p:cNvPr id="31" name="Google Shape;31;p10"/>
          <p:cNvCxnSpPr/>
          <p:nvPr/>
        </p:nvCxnSpPr>
        <p:spPr>
          <a:xfrm>
            <a:off x="1597301" y="6445831"/>
            <a:ext cx="8341800" cy="0"/>
          </a:xfrm>
          <a:prstGeom prst="straightConnector1">
            <a:avLst/>
          </a:prstGeom>
          <a:noFill/>
          <a:ln w="19050" cap="flat" cmpd="sng">
            <a:solidFill>
              <a:srgbClr val="D70C18"/>
            </a:solidFill>
            <a:prstDash val="solid"/>
            <a:round/>
            <a:headEnd type="none" w="med" len="med"/>
            <a:tailEnd type="none" w="med" len="med"/>
          </a:ln>
        </p:spPr>
      </p:cxnSp>
      <p:cxnSp>
        <p:nvCxnSpPr>
          <p:cNvPr id="32" name="Google Shape;32;p10"/>
          <p:cNvCxnSpPr/>
          <p:nvPr/>
        </p:nvCxnSpPr>
        <p:spPr>
          <a:xfrm rot="10800000">
            <a:off x="9939225" y="6445838"/>
            <a:ext cx="1446600" cy="0"/>
          </a:xfrm>
          <a:prstGeom prst="straightConnector1">
            <a:avLst/>
          </a:prstGeom>
          <a:noFill/>
          <a:ln w="19050" cap="flat" cmpd="sng">
            <a:solidFill>
              <a:srgbClr val="D8D8D8"/>
            </a:solidFill>
            <a:prstDash val="solid"/>
            <a:round/>
            <a:headEnd type="none" w="med" len="med"/>
            <a:tailEnd type="none" w="med" len="med"/>
          </a:ln>
        </p:spPr>
      </p:cxnSp>
    </p:spTree>
    <p:extLst>
      <p:ext uri="{BB962C8B-B14F-4D97-AF65-F5344CB8AC3E}">
        <p14:creationId xmlns:p14="http://schemas.microsoft.com/office/powerpoint/2010/main" val="3519643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章節標題" preserve="1">
  <p:cSld name="2_章節標題">
    <p:spTree>
      <p:nvGrpSpPr>
        <p:cNvPr id="1" name="Shape 33"/>
        <p:cNvGrpSpPr/>
        <p:nvPr/>
      </p:nvGrpSpPr>
      <p:grpSpPr>
        <a:xfrm>
          <a:off x="0" y="0"/>
          <a:ext cx="0" cy="0"/>
          <a:chOff x="0" y="0"/>
          <a:chExt cx="0" cy="0"/>
        </a:xfrm>
      </p:grpSpPr>
      <p:pic>
        <p:nvPicPr>
          <p:cNvPr id="3" name="圖片 2" descr="一張含有 設計 的圖片&#10;&#10;AI 產生的內容可能不正確。">
            <a:extLst>
              <a:ext uri="{FF2B5EF4-FFF2-40B4-BE49-F238E27FC236}">
                <a16:creationId xmlns:a16="http://schemas.microsoft.com/office/drawing/2014/main" id="{3B5AF3D8-B199-5417-755A-9D51D04F6E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34" name="Google Shape;34;p11"/>
          <p:cNvSpPr txBox="1">
            <a:spLocks noGrp="1"/>
          </p:cNvSpPr>
          <p:nvPr>
            <p:ph type="title"/>
          </p:nvPr>
        </p:nvSpPr>
        <p:spPr>
          <a:xfrm>
            <a:off x="831851" y="4128475"/>
            <a:ext cx="10515600" cy="16086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464444"/>
              </a:buClr>
              <a:buSzPts val="4800"/>
              <a:buNone/>
              <a:defRPr sz="4800" i="0">
                <a:solidFill>
                  <a:srgbClr val="464444"/>
                </a:solidFill>
              </a:defRPr>
            </a:lvl1pPr>
            <a:lvl2pPr lvl="1" algn="ctr">
              <a:lnSpc>
                <a:spcPct val="100000"/>
              </a:lnSpc>
              <a:spcBef>
                <a:spcPts val="0"/>
              </a:spcBef>
              <a:spcAft>
                <a:spcPts val="0"/>
              </a:spcAft>
              <a:buSzPts val="1400"/>
              <a:buNone/>
              <a:defRPr b="1"/>
            </a:lvl2pPr>
            <a:lvl3pPr lvl="2" algn="ctr">
              <a:lnSpc>
                <a:spcPct val="100000"/>
              </a:lnSpc>
              <a:spcBef>
                <a:spcPts val="0"/>
              </a:spcBef>
              <a:spcAft>
                <a:spcPts val="0"/>
              </a:spcAft>
              <a:buSzPts val="1400"/>
              <a:buNone/>
              <a:defRPr b="1"/>
            </a:lvl3pPr>
            <a:lvl4pPr lvl="3" algn="ctr">
              <a:lnSpc>
                <a:spcPct val="100000"/>
              </a:lnSpc>
              <a:spcBef>
                <a:spcPts val="0"/>
              </a:spcBef>
              <a:spcAft>
                <a:spcPts val="0"/>
              </a:spcAft>
              <a:buSzPts val="1400"/>
              <a:buNone/>
              <a:defRPr b="1"/>
            </a:lvl4pPr>
            <a:lvl5pPr lvl="4" algn="ctr">
              <a:lnSpc>
                <a:spcPct val="100000"/>
              </a:lnSpc>
              <a:spcBef>
                <a:spcPts val="0"/>
              </a:spcBef>
              <a:spcAft>
                <a:spcPts val="0"/>
              </a:spcAft>
              <a:buSzPts val="1400"/>
              <a:buNone/>
              <a:defRPr b="1"/>
            </a:lvl5pPr>
            <a:lvl6pPr lvl="5" algn="ctr">
              <a:lnSpc>
                <a:spcPct val="100000"/>
              </a:lnSpc>
              <a:spcBef>
                <a:spcPts val="0"/>
              </a:spcBef>
              <a:spcAft>
                <a:spcPts val="0"/>
              </a:spcAft>
              <a:buSzPts val="1400"/>
              <a:buNone/>
              <a:defRPr b="1"/>
            </a:lvl6pPr>
            <a:lvl7pPr lvl="6" algn="ctr">
              <a:lnSpc>
                <a:spcPct val="100000"/>
              </a:lnSpc>
              <a:spcBef>
                <a:spcPts val="0"/>
              </a:spcBef>
              <a:spcAft>
                <a:spcPts val="0"/>
              </a:spcAft>
              <a:buSzPts val="1400"/>
              <a:buNone/>
              <a:defRPr b="1"/>
            </a:lvl7pPr>
            <a:lvl8pPr lvl="7" algn="ctr">
              <a:lnSpc>
                <a:spcPct val="100000"/>
              </a:lnSpc>
              <a:spcBef>
                <a:spcPts val="0"/>
              </a:spcBef>
              <a:spcAft>
                <a:spcPts val="0"/>
              </a:spcAft>
              <a:buSzPts val="1400"/>
              <a:buNone/>
              <a:defRPr b="1"/>
            </a:lvl8pPr>
            <a:lvl9pPr lvl="8" algn="ctr">
              <a:lnSpc>
                <a:spcPct val="100000"/>
              </a:lnSpc>
              <a:spcBef>
                <a:spcPts val="0"/>
              </a:spcBef>
              <a:spcAft>
                <a:spcPts val="0"/>
              </a:spcAft>
              <a:buSzPts val="1400"/>
              <a:buNone/>
              <a:defRPr b="1"/>
            </a:lvl9pPr>
          </a:lstStyle>
          <a:p>
            <a:endParaRPr/>
          </a:p>
        </p:txBody>
      </p:sp>
      <p:pic>
        <p:nvPicPr>
          <p:cNvPr id="35" name="Google Shape;35;p11" title="金控_中_白.png"/>
          <p:cNvPicPr preferRelativeResize="0"/>
          <p:nvPr/>
        </p:nvPicPr>
        <p:blipFill>
          <a:blip r:embed="rId3">
            <a:alphaModFix/>
          </a:blip>
          <a:stretch>
            <a:fillRect/>
          </a:stretch>
        </p:blipFill>
        <p:spPr>
          <a:xfrm>
            <a:off x="3308100" y="688548"/>
            <a:ext cx="5575550" cy="2121525"/>
          </a:xfrm>
          <a:prstGeom prst="rect">
            <a:avLst/>
          </a:prstGeom>
          <a:noFill/>
          <a:ln>
            <a:noFill/>
          </a:ln>
        </p:spPr>
      </p:pic>
    </p:spTree>
    <p:extLst>
      <p:ext uri="{BB962C8B-B14F-4D97-AF65-F5344CB8AC3E}">
        <p14:creationId xmlns:p14="http://schemas.microsoft.com/office/powerpoint/2010/main" val="974860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D00B95-F112-B8B7-381C-1E417E4AB95D}"/>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97BE2AAC-90E4-D32C-C2EC-A159487F55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D8B5046B-CF36-90D5-96AF-C53DBA745A58}"/>
              </a:ext>
            </a:extLst>
          </p:cNvPr>
          <p:cNvSpPr>
            <a:spLocks noGrp="1"/>
          </p:cNvSpPr>
          <p:nvPr>
            <p:ph type="dt" sz="half" idx="10"/>
          </p:nvPr>
        </p:nvSpPr>
        <p:spPr/>
        <p:txBody>
          <a:bodyPr/>
          <a:lstStyle/>
          <a:p>
            <a:fld id="{CDBF5755-7018-4945-A46B-2B4DE79FC767}" type="datetimeFigureOut">
              <a:rPr kumimoji="1" lang="zh-TW" altLang="en-US" smtClean="0"/>
              <a:t>2026/5/26</a:t>
            </a:fld>
            <a:endParaRPr kumimoji="1" lang="zh-TW" altLang="en-US"/>
          </a:p>
        </p:txBody>
      </p:sp>
      <p:sp>
        <p:nvSpPr>
          <p:cNvPr id="5" name="頁尾版面配置區 4">
            <a:extLst>
              <a:ext uri="{FF2B5EF4-FFF2-40B4-BE49-F238E27FC236}">
                <a16:creationId xmlns:a16="http://schemas.microsoft.com/office/drawing/2014/main" id="{7C4874EB-7423-DBD2-1C7B-424E851D8E7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530B08D-6B26-34AE-92D0-8D2AB1E7F8C4}"/>
              </a:ext>
            </a:extLst>
          </p:cNvPr>
          <p:cNvSpPr>
            <a:spLocks noGrp="1"/>
          </p:cNvSpPr>
          <p:nvPr>
            <p:ph type="sldNum" sz="quarter" idx="12"/>
          </p:nvPr>
        </p:nvSpPr>
        <p:spPr/>
        <p:txBody>
          <a:bodyPr/>
          <a:lstStyle/>
          <a:p>
            <a:fld id="{A207DD83-9373-1C49-B3EB-CD40710A3CCF}" type="slidenum">
              <a:rPr kumimoji="1" lang="zh-TW" altLang="en-US" smtClean="0"/>
              <a:t>‹#›</a:t>
            </a:fld>
            <a:endParaRPr kumimoji="1" lang="zh-TW" altLang="en-US"/>
          </a:p>
        </p:txBody>
      </p:sp>
    </p:spTree>
    <p:extLst>
      <p:ext uri="{BB962C8B-B14F-4D97-AF65-F5344CB8AC3E}">
        <p14:creationId xmlns:p14="http://schemas.microsoft.com/office/powerpoint/2010/main" val="19626679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body" idx="1"/>
          </p:nvPr>
        </p:nvSpPr>
        <p:spPr>
          <a:xfrm>
            <a:off x="519290" y="1176425"/>
            <a:ext cx="11091600" cy="50004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rgbClr val="EF0000"/>
              </a:buClr>
              <a:buSzPts val="2400"/>
              <a:buFont typeface="Microsoft JhengHei"/>
              <a:buChar char="■"/>
              <a:defRPr sz="2400" b="1" i="0" u="none" strike="noStrike" cap="none">
                <a:solidFill>
                  <a:srgbClr val="464444"/>
                </a:solidFill>
                <a:latin typeface="Microsoft JhengHei"/>
                <a:ea typeface="Microsoft JhengHei"/>
                <a:cs typeface="Microsoft JhengHei"/>
                <a:sym typeface="Microsoft JhengHei"/>
              </a:defRPr>
            </a:lvl1pPr>
            <a:lvl2pPr marL="914400" marR="0" lvl="1" indent="-355600" algn="l" rtl="0">
              <a:lnSpc>
                <a:spcPct val="90000"/>
              </a:lnSpc>
              <a:spcBef>
                <a:spcPts val="500"/>
              </a:spcBef>
              <a:spcAft>
                <a:spcPts val="0"/>
              </a:spcAft>
              <a:buClr>
                <a:srgbClr val="EF0000"/>
              </a:buClr>
              <a:buSzPts val="2000"/>
              <a:buFont typeface="Microsoft JhengHei"/>
              <a:buChar char="■"/>
              <a:defRPr sz="2000" b="1" i="0" u="none" strike="noStrike" cap="none">
                <a:solidFill>
                  <a:srgbClr val="464444"/>
                </a:solidFill>
                <a:latin typeface="Microsoft JhengHei"/>
                <a:ea typeface="Microsoft JhengHei"/>
                <a:cs typeface="Microsoft JhengHei"/>
                <a:sym typeface="Microsoft JhengHei"/>
              </a:defRPr>
            </a:lvl2pPr>
            <a:lvl3pPr marL="1371600" marR="0" lvl="2" indent="-330200" algn="l" rtl="0">
              <a:lnSpc>
                <a:spcPct val="90000"/>
              </a:lnSpc>
              <a:spcBef>
                <a:spcPts val="500"/>
              </a:spcBef>
              <a:spcAft>
                <a:spcPts val="0"/>
              </a:spcAft>
              <a:buClr>
                <a:srgbClr val="EF0000"/>
              </a:buClr>
              <a:buSzPts val="1600"/>
              <a:buFont typeface="Microsoft JhengHei"/>
              <a:buChar char="■"/>
              <a:defRPr sz="1600" b="1" i="0" u="none" strike="noStrike" cap="none">
                <a:solidFill>
                  <a:srgbClr val="464444"/>
                </a:solidFill>
                <a:latin typeface="Microsoft JhengHei"/>
                <a:ea typeface="Microsoft JhengHei"/>
                <a:cs typeface="Microsoft JhengHei"/>
                <a:sym typeface="Microsoft JhengHei"/>
              </a:defRPr>
            </a:lvl3pPr>
            <a:lvl4pPr marL="1828800" marR="0" lvl="3" indent="-228600" algn="l" rtl="0">
              <a:lnSpc>
                <a:spcPct val="90000"/>
              </a:lnSpc>
              <a:spcBef>
                <a:spcPts val="500"/>
              </a:spcBef>
              <a:spcAft>
                <a:spcPts val="0"/>
              </a:spcAft>
              <a:buClr>
                <a:srgbClr val="464444"/>
              </a:buClr>
              <a:buSzPts val="1600"/>
              <a:buFont typeface="Microsoft JhengHei"/>
              <a:buNone/>
              <a:defRPr sz="1600" b="1" i="0" u="none" strike="noStrike" cap="none">
                <a:solidFill>
                  <a:srgbClr val="464444"/>
                </a:solidFill>
                <a:latin typeface="Microsoft JhengHei"/>
                <a:ea typeface="Microsoft JhengHei"/>
                <a:cs typeface="Microsoft JhengHei"/>
                <a:sym typeface="Microsoft JhengHei"/>
              </a:defRPr>
            </a:lvl4pPr>
            <a:lvl5pPr marL="2286000" marR="0" lvl="4" indent="-381000" algn="l" rtl="0">
              <a:lnSpc>
                <a:spcPct val="90000"/>
              </a:lnSpc>
              <a:spcBef>
                <a:spcPts val="500"/>
              </a:spcBef>
              <a:spcAft>
                <a:spcPts val="0"/>
              </a:spcAft>
              <a:buClr>
                <a:srgbClr val="464444"/>
              </a:buClr>
              <a:buSzPts val="2400"/>
              <a:buFont typeface="Microsoft JhengHei"/>
              <a:buChar char="•"/>
              <a:defRPr sz="2400" b="1" i="0" u="none" strike="noStrike" cap="none">
                <a:solidFill>
                  <a:srgbClr val="464444"/>
                </a:solidFill>
                <a:latin typeface="Microsoft JhengHei"/>
                <a:ea typeface="Microsoft JhengHei"/>
                <a:cs typeface="Microsoft JhengHei"/>
                <a:sym typeface="Microsoft JhengHei"/>
              </a:defRPr>
            </a:lvl5pPr>
            <a:lvl6pPr marL="2743200" marR="0" lvl="5"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6pPr>
            <a:lvl7pPr marL="3200400" marR="0" lvl="6"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7pPr>
            <a:lvl8pPr marL="3657600" marR="0" lvl="7"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8pPr>
            <a:lvl9pPr marL="4114800" marR="0" lvl="8"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9pPr>
          </a:lstStyle>
          <a:p>
            <a:endParaRPr/>
          </a:p>
        </p:txBody>
      </p:sp>
      <p:sp>
        <p:nvSpPr>
          <p:cNvPr id="11" name="Google Shape;11;p6"/>
          <p:cNvSpPr txBox="1">
            <a:spLocks noGrp="1"/>
          </p:cNvSpPr>
          <p:nvPr>
            <p:ph type="title"/>
          </p:nvPr>
        </p:nvSpPr>
        <p:spPr>
          <a:xfrm>
            <a:off x="519290" y="259072"/>
            <a:ext cx="11091685" cy="75988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464444"/>
              </a:buClr>
              <a:buSzPts val="3000"/>
              <a:buFont typeface="Microsoft JhengHei"/>
              <a:buNone/>
              <a:defRPr sz="3000" b="1" i="0" u="none" strike="noStrike" cap="none">
                <a:solidFill>
                  <a:srgbClr val="464444"/>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2pPr>
            <a:lvl3pPr marR="0" lvl="2"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3pPr>
            <a:lvl4pPr marR="0" lvl="3"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4pPr>
            <a:lvl5pPr marR="0" lvl="4"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5pPr>
            <a:lvl6pPr marR="0" lvl="5"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6pPr>
            <a:lvl7pPr marR="0" lvl="6"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7pPr>
            <a:lvl8pPr marR="0" lvl="7"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8pPr>
            <a:lvl9pPr marR="0" lvl="8"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9pPr>
          </a:lstStyle>
          <a:p>
            <a:endParaRPr/>
          </a:p>
        </p:txBody>
      </p:sp>
      <p:sp>
        <p:nvSpPr>
          <p:cNvPr id="12" name="Google Shape;12;p6"/>
          <p:cNvSpPr txBox="1">
            <a:spLocks noGrp="1"/>
          </p:cNvSpPr>
          <p:nvPr>
            <p:ph type="sldNum" idx="12"/>
          </p:nvPr>
        </p:nvSpPr>
        <p:spPr>
          <a:xfrm flipH="1">
            <a:off x="11397425" y="6394525"/>
            <a:ext cx="651300" cy="3270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1pPr>
            <a:lvl2pPr marL="0" marR="0" lvl="1"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2pPr>
            <a:lvl3pPr marL="0" marR="0" lvl="2"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3pPr>
            <a:lvl4pPr marL="0" marR="0" lvl="3"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4pPr>
            <a:lvl5pPr marL="0" marR="0" lvl="4"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5pPr>
            <a:lvl6pPr marL="0" marR="0" lvl="5"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6pPr>
            <a:lvl7pPr marL="0" marR="0" lvl="6"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7pPr>
            <a:lvl8pPr marL="0" marR="0" lvl="7"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8pPr>
            <a:lvl9pPr marL="0" marR="0" lvl="8"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9pPr>
          </a:lstStyle>
          <a:p>
            <a:pPr marL="0" lvl="0" indent="0" algn="r" rtl="0">
              <a:spcBef>
                <a:spcPts val="0"/>
              </a:spcBef>
              <a:spcAft>
                <a:spcPts val="0"/>
              </a:spcAft>
              <a:buNone/>
            </a:pPr>
            <a:fld id="{00000000-1234-1234-1234-123412341234}" type="slidenum">
              <a:rPr lang="zh-TW"/>
              <a:t>‹#›</a:t>
            </a:fld>
            <a:endParaRPr/>
          </a:p>
        </p:txBody>
      </p:sp>
    </p:spTree>
    <p:extLst>
      <p:ext uri="{BB962C8B-B14F-4D97-AF65-F5344CB8AC3E}">
        <p14:creationId xmlns:p14="http://schemas.microsoft.com/office/powerpoint/2010/main" val="192558018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06FCBD-1057-479C-BDC5-C41CA873157D}"/>
              </a:ext>
            </a:extLst>
          </p:cNvPr>
          <p:cNvSpPr>
            <a:spLocks noGrp="1"/>
          </p:cNvSpPr>
          <p:nvPr>
            <p:ph type="title"/>
          </p:nvPr>
        </p:nvSpPr>
        <p:spPr/>
        <p:txBody>
          <a:bodyPr/>
          <a:lstStyle/>
          <a:p>
            <a:r>
              <a:rPr sz="3200" b="1">
                <a:solidFill>
                  <a:srgbClr val="4D4D4D"/>
                </a:solidFill>
                <a:latin typeface="微軟正黑體"/>
                <a:ea typeface="微軟正黑體"/>
                <a:cs typeface="微軟正黑體"/>
              </a:rPr>
              <a:t>信用卡市場分析與經營洞察</a:t>
            </a:r>
            <a:endParaRPr lang="zh-TW" altLang="en-US"/>
          </a:p>
        </p:txBody>
      </p:sp>
    </p:spTree>
    <p:extLst>
      <p:ext uri="{BB962C8B-B14F-4D97-AF65-F5344CB8AC3E}">
        <p14:creationId xmlns:p14="http://schemas.microsoft.com/office/powerpoint/2010/main" val="58676395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spcAft>
                <a:spcPts val="1000"/>
              </a:spcAft>
            </a:pPr>
            <a:r>
              <a:rPr sz="1600" b="1">
                <a:solidFill>
                  <a:srgbClr val="C12026"/>
                </a:solidFill>
                <a:latin typeface="微軟正黑體"/>
                <a:ea typeface="微軟正黑體"/>
                <a:cs typeface="微軟正黑體"/>
              </a:rPr>
              <a:t>01　</a:t>
            </a:r>
            <a:r>
              <a:rPr sz="1600" b="0">
                <a:solidFill>
                  <a:srgbClr val="1A1A1A"/>
                </a:solidFill>
                <a:latin typeface="微軟正黑體"/>
                <a:ea typeface="微軟正黑體"/>
                <a:cs typeface="微軟正黑體"/>
              </a:rPr>
              <a:t>Executive Summary</a:t>
            </a:r>
          </a:p>
          <a:p>
            <a:pPr>
              <a:spcAft>
                <a:spcPts val="1000"/>
              </a:spcAft>
            </a:pPr>
            <a:r>
              <a:rPr sz="1600" b="1">
                <a:solidFill>
                  <a:srgbClr val="C12026"/>
                </a:solidFill>
                <a:latin typeface="微軟正黑體"/>
                <a:ea typeface="微軟正黑體"/>
                <a:cs typeface="微軟正黑體"/>
              </a:rPr>
              <a:t>02　</a:t>
            </a:r>
            <a:r>
              <a:rPr sz="1600" b="0">
                <a:solidFill>
                  <a:srgbClr val="1A1A1A"/>
                </a:solidFill>
                <a:latin typeface="微軟正黑體"/>
                <a:ea typeface="微軟正黑體"/>
                <a:cs typeface="微軟正黑體"/>
              </a:rPr>
              <a:t>市場整體概況</a:t>
            </a:r>
          </a:p>
          <a:p>
            <a:pPr>
              <a:spcAft>
                <a:spcPts val="1000"/>
              </a:spcAft>
            </a:pPr>
            <a:r>
              <a:rPr sz="1600" b="1">
                <a:solidFill>
                  <a:srgbClr val="C12026"/>
                </a:solidFill>
                <a:latin typeface="微軟正黑體"/>
                <a:ea typeface="微軟正黑體"/>
                <a:cs typeface="微軟正黑體"/>
              </a:rPr>
              <a:t>03　</a:t>
            </a:r>
            <a:r>
              <a:rPr sz="1600" b="0">
                <a:solidFill>
                  <a:srgbClr val="1A1A1A"/>
                </a:solidFill>
                <a:latin typeface="微軟正黑體"/>
                <a:ea typeface="微軟正黑體"/>
                <a:cs typeface="微軟正黑體"/>
              </a:rPr>
              <a:t>同業成長及競爭分析</a:t>
            </a:r>
          </a:p>
          <a:p>
            <a:pPr>
              <a:spcAft>
                <a:spcPts val="1000"/>
              </a:spcAft>
            </a:pPr>
            <a:r>
              <a:rPr sz="1600" b="1">
                <a:solidFill>
                  <a:srgbClr val="C12026"/>
                </a:solidFill>
                <a:latin typeface="微軟正黑體"/>
                <a:ea typeface="微軟正黑體"/>
                <a:cs typeface="微軟正黑體"/>
              </a:rPr>
              <a:t>04　</a:t>
            </a:r>
            <a:r>
              <a:rPr sz="1600" b="0">
                <a:solidFill>
                  <a:srgbClr val="1A1A1A"/>
                </a:solidFill>
                <a:latin typeface="微軟正黑體"/>
                <a:ea typeface="微軟正黑體"/>
                <a:cs typeface="微軟正黑體"/>
              </a:rPr>
              <a:t>客戶活躍度</a:t>
            </a:r>
          </a:p>
          <a:p>
            <a:pPr>
              <a:spcAft>
                <a:spcPts val="1000"/>
              </a:spcAft>
            </a:pPr>
            <a:r>
              <a:rPr sz="1600" b="1">
                <a:solidFill>
                  <a:srgbClr val="C12026"/>
                </a:solidFill>
                <a:latin typeface="微軟正黑體"/>
                <a:ea typeface="微軟正黑體"/>
                <a:cs typeface="微軟正黑體"/>
              </a:rPr>
              <a:t>05　</a:t>
            </a:r>
            <a:r>
              <a:rPr sz="1600" b="0">
                <a:solidFill>
                  <a:srgbClr val="1A1A1A"/>
                </a:solidFill>
                <a:latin typeface="微軟正黑體"/>
                <a:ea typeface="微軟正黑體"/>
                <a:cs typeface="微軟正黑體"/>
              </a:rPr>
              <a:t>獲利能力</a:t>
            </a:r>
          </a:p>
          <a:p>
            <a:pPr>
              <a:spcAft>
                <a:spcPts val="1000"/>
              </a:spcAft>
            </a:pPr>
            <a:r>
              <a:rPr sz="1600" b="1">
                <a:solidFill>
                  <a:srgbClr val="C12026"/>
                </a:solidFill>
                <a:latin typeface="微軟正黑體"/>
                <a:ea typeface="微軟正黑體"/>
                <a:cs typeface="微軟正黑體"/>
              </a:rPr>
              <a:t>06　</a:t>
            </a:r>
            <a:r>
              <a:rPr sz="1600" b="0">
                <a:solidFill>
                  <a:srgbClr val="1A1A1A"/>
                </a:solidFill>
                <a:latin typeface="微軟正黑體"/>
                <a:ea typeface="微軟正黑體"/>
                <a:cs typeface="微軟正黑體"/>
              </a:rPr>
              <a:t>風險與警訊</a:t>
            </a:r>
          </a:p>
          <a:p>
            <a:pPr>
              <a:spcAft>
                <a:spcPts val="1000"/>
              </a:spcAft>
            </a:pPr>
            <a:r>
              <a:rPr sz="1600" b="1">
                <a:solidFill>
                  <a:srgbClr val="C12026"/>
                </a:solidFill>
                <a:latin typeface="微軟正黑體"/>
                <a:ea typeface="微軟正黑體"/>
                <a:cs typeface="微軟正黑體"/>
              </a:rPr>
              <a:t>07　</a:t>
            </a:r>
            <a:r>
              <a:rPr sz="1600" b="0">
                <a:solidFill>
                  <a:srgbClr val="1A1A1A"/>
                </a:solidFill>
                <a:latin typeface="微軟正黑體"/>
                <a:ea typeface="微軟正黑體"/>
                <a:cs typeface="微軟正黑體"/>
              </a:rPr>
              <a:t>未來趨勢推測</a:t>
            </a:r>
          </a:p>
          <a:p>
            <a:pPr>
              <a:spcAft>
                <a:spcPts val="1000"/>
              </a:spcAft>
            </a:pPr>
            <a:r>
              <a:rPr sz="1600" b="1">
                <a:solidFill>
                  <a:srgbClr val="C12026"/>
                </a:solidFill>
                <a:latin typeface="微軟正黑體"/>
                <a:ea typeface="微軟正黑體"/>
                <a:cs typeface="微軟正黑體"/>
              </a:rPr>
              <a:t>08　</a:t>
            </a:r>
            <a:r>
              <a:rPr sz="1600" b="0">
                <a:solidFill>
                  <a:srgbClr val="1A1A1A"/>
                </a:solidFill>
                <a:latin typeface="微軟正黑體"/>
                <a:ea typeface="微軟正黑體"/>
                <a:cs typeface="微軟正黑體"/>
              </a:rPr>
              <a:t>對台新的策略建議</a:t>
            </a:r>
          </a:p>
          <a:p>
            <a:pPr>
              <a:spcAft>
                <a:spcPts val="1000"/>
              </a:spcAft>
            </a:pPr>
            <a:r>
              <a:rPr sz="1600" b="1">
                <a:solidFill>
                  <a:srgbClr val="C12026"/>
                </a:solidFill>
                <a:latin typeface="微軟正黑體"/>
                <a:ea typeface="微軟正黑體"/>
                <a:cs typeface="微軟正黑體"/>
              </a:rPr>
              <a:t>09　</a:t>
            </a:r>
            <a:r>
              <a:rPr sz="1600" b="0">
                <a:solidFill>
                  <a:srgbClr val="1A1A1A"/>
                </a:solidFill>
                <a:latin typeface="微軟正黑體"/>
                <a:ea typeface="微軟正黑體"/>
                <a:cs typeface="微軟正黑體"/>
              </a:rPr>
              <a:t>結論與後續行動</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目錄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01</a:t>
            </a:r>
          </a:p>
          <a:p>
            <a:r>
              <a:rPr sz="3200" b="1">
                <a:solidFill>
                  <a:srgbClr val="4D4D4D"/>
                </a:solidFill>
                <a:latin typeface="微軟正黑體"/>
                <a:ea typeface="微軟正黑體"/>
                <a:cs typeface="微軟正黑體"/>
              </a:rPr>
              <a:t>Executive Summary</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領先者 </a:t>
            </a:r>
            <a:r>
              <a:rPr sz="1100" b="1">
                <a:solidFill>
                  <a:srgbClr val="1A1A1A"/>
                </a:solidFill>
                <a:highlight>
                  <a:srgbClr val="FFFF00"/>
                </a:highlight>
                <a:latin typeface="微軟正黑體"/>
                <a:ea typeface="微軟正黑體"/>
                <a:cs typeface="微軟正黑體"/>
              </a:rPr>
              <a:t>國泰世華商業銀行</a:t>
            </a:r>
            <a:r>
              <a:rPr sz="1100" b="0">
                <a:solidFill>
                  <a:srgbClr val="4D4D4D"/>
                </a:solidFill>
                <a:latin typeface="微軟正黑體"/>
                <a:ea typeface="微軟正黑體"/>
                <a:cs typeface="微軟正黑體"/>
              </a:rPr>
              <a:t> 達 </a:t>
            </a:r>
            <a:r>
              <a:rPr sz="1100" b="1">
                <a:solidFill>
                  <a:srgbClr val="1A1A1A"/>
                </a:solidFill>
                <a:highlight>
                  <a:srgbClr val="FFFF00"/>
                </a:highlight>
                <a:latin typeface="微軟正黑體"/>
                <a:ea typeface="微軟正黑體"/>
                <a:cs typeface="微軟正黑體"/>
              </a:rPr>
              <a:t>22,171,305</a:t>
            </a:r>
            <a:r>
              <a:rPr sz="1100" b="0">
                <a:solidFill>
                  <a:srgbClr val="4D4D4D"/>
                </a:solidFill>
                <a:latin typeface="微軟正黑體"/>
                <a:ea typeface="微軟正黑體"/>
                <a:cs typeface="微軟正黑體"/>
              </a:rPr>
              <a:t>，明顯拉開與其餘業者的距離，反映規模效應仍在累積</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末位業者僅 </a:t>
            </a:r>
            <a:r>
              <a:rPr sz="1100" b="1">
                <a:solidFill>
                  <a:srgbClr val="1A1A1A"/>
                </a:solidFill>
                <a:highlight>
                  <a:srgbClr val="FFFF00"/>
                </a:highlight>
                <a:latin typeface="微軟正黑體"/>
                <a:ea typeface="微軟正黑體"/>
                <a:cs typeface="微軟正黑體"/>
              </a:rPr>
              <a:t>1,711,263</a:t>
            </a:r>
            <a:r>
              <a:rPr sz="1100" b="0">
                <a:solidFill>
                  <a:srgbClr val="4D4D4D"/>
                </a:solidFill>
                <a:latin typeface="微軟正黑體"/>
                <a:ea typeface="微軟正黑體"/>
                <a:cs typeface="微軟正黑體"/>
              </a:rPr>
              <a:t>，與領先者之間的落差顯示中小型業者在此指標上缺乏可持續的規模優勢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全體平均為 </a:t>
            </a:r>
            <a:r>
              <a:rPr sz="1100" b="1">
                <a:solidFill>
                  <a:srgbClr val="1A1A1A"/>
                </a:solidFill>
                <a:highlight>
                  <a:srgbClr val="FFFF00"/>
                </a:highlight>
                <a:latin typeface="微軟正黑體"/>
                <a:ea typeface="微軟正黑體"/>
                <a:cs typeface="微軟正黑體"/>
              </a:rPr>
              <a:t>10,512,621.8</a:t>
            </a:r>
            <a:r>
              <a:rPr sz="1100" b="0">
                <a:solidFill>
                  <a:srgbClr val="4D4D4D"/>
                </a:solidFill>
                <a:latin typeface="微軟正黑體"/>
                <a:ea typeface="微軟正黑體"/>
                <a:cs typeface="微軟正黑體"/>
              </a:rPr>
              <a:t>，位於平均之下的業者需重新檢視資源配置是否與市場競爭強度相稱</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關鍵指標總覽</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循環信用餘額 Top 10呈現明顯的業者集中態勢，規模差距短期內難以收斂</a:t>
            </a:r>
          </a:p>
        </p:txBody>
      </p:sp>
      <p:graphicFrame>
        <p:nvGraphicFramePr>
          <p:cNvPr id="6" name="Table 5"/>
          <p:cNvGraphicFramePr>
            <a:graphicFrameLocks noGrp="1"/>
          </p:cNvGraphicFramePr>
          <p:nvPr/>
        </p:nvGraphicFramePr>
        <p:xfrm>
          <a:off x="368595" y="1854753"/>
          <a:ext cx="6608340" cy="4272900"/>
        </p:xfrm>
        <a:graphic>
          <a:graphicData uri="http://schemas.openxmlformats.org/drawingml/2006/table">
            <a:tbl>
              <a:tblPr firstRow="1" bandRow="1">
                <a:tableStyleId>{5C22544A-7EE6-4342-B048-85BDC9FD1C3A}</a:tableStyleId>
              </a:tblPr>
              <a:tblGrid>
                <a:gridCol w="944048"/>
                <a:gridCol w="944048"/>
                <a:gridCol w="944048"/>
                <a:gridCol w="944048"/>
                <a:gridCol w="944048"/>
                <a:gridCol w="944048"/>
                <a:gridCol w="944052"/>
              </a:tblGrid>
              <a:tr h="388445">
                <a:tc>
                  <a:txBody>
                    <a:bodyPr/>
                    <a:lstStyle/>
                    <a:p>
                      <a:r>
                        <a:rPr b="1" sz="1100">
                          <a:solidFill>
                            <a:srgbClr val="FFFFFF"/>
                          </a:solidFill>
                        </a:rPr>
                        <a:t>項目</a:t>
                      </a:r>
                    </a:p>
                  </a:txBody>
                  <a:tcPr>
                    <a:solidFill>
                      <a:srgbClr val="1F3864"/>
                    </a:solidFill>
                  </a:tcPr>
                </a:tc>
                <a:tc>
                  <a:txBody>
                    <a:bodyPr/>
                    <a:lstStyle/>
                    <a:p>
                      <a:r>
                        <a:rPr b="1" sz="1100">
                          <a:solidFill>
                            <a:srgbClr val="FFFFFF"/>
                          </a:solidFill>
                        </a:rPr>
                        <a:t>11407</a:t>
                      </a:r>
                    </a:p>
                  </a:txBody>
                  <a:tcPr>
                    <a:solidFill>
                      <a:srgbClr val="1F3864"/>
                    </a:solidFill>
                  </a:tcPr>
                </a:tc>
                <a:tc>
                  <a:txBody>
                    <a:bodyPr/>
                    <a:lstStyle/>
                    <a:p>
                      <a:r>
                        <a:rPr b="1" sz="1100">
                          <a:solidFill>
                            <a:srgbClr val="FFFFFF"/>
                          </a:solidFill>
                        </a:rPr>
                        <a:t>11408</a:t>
                      </a:r>
                    </a:p>
                  </a:txBody>
                  <a:tcPr>
                    <a:solidFill>
                      <a:srgbClr val="1F3864"/>
                    </a:solidFill>
                  </a:tcPr>
                </a:tc>
                <a:tc>
                  <a:txBody>
                    <a:bodyPr/>
                    <a:lstStyle/>
                    <a:p>
                      <a:r>
                        <a:rPr b="1" sz="1100">
                          <a:solidFill>
                            <a:srgbClr val="FFFFFF"/>
                          </a:solidFill>
                        </a:rPr>
                        <a:t>11409</a:t>
                      </a:r>
                    </a:p>
                  </a:txBody>
                  <a:tcPr>
                    <a:solidFill>
                      <a:srgbClr val="1F3864"/>
                    </a:solidFill>
                  </a:tcPr>
                </a:tc>
                <a:tc>
                  <a:txBody>
                    <a:bodyPr/>
                    <a:lstStyle/>
                    <a:p>
                      <a:r>
                        <a:rPr b="1" sz="1100">
                          <a:solidFill>
                            <a:srgbClr val="FFFFFF"/>
                          </a:solidFill>
                        </a:rPr>
                        <a:t>11410</a:t>
                      </a:r>
                    </a:p>
                  </a:txBody>
                  <a:tcPr>
                    <a:solidFill>
                      <a:srgbClr val="1F3864"/>
                    </a:solidFill>
                  </a:tcPr>
                </a:tc>
                <a:tc>
                  <a:txBody>
                    <a:bodyPr/>
                    <a:lstStyle/>
                    <a:p>
                      <a:r>
                        <a:rPr b="1" sz="1100">
                          <a:solidFill>
                            <a:srgbClr val="FFFFFF"/>
                          </a:solidFill>
                        </a:rPr>
                        <a:t>11411</a:t>
                      </a:r>
                    </a:p>
                  </a:txBody>
                  <a:tcPr>
                    <a:solidFill>
                      <a:srgbClr val="1F3864"/>
                    </a:solidFill>
                  </a:tcPr>
                </a:tc>
                <a:tc>
                  <a:txBody>
                    <a:bodyPr/>
                    <a:lstStyle/>
                    <a:p>
                      <a:r>
                        <a:rPr b="1" sz="1100">
                          <a:solidFill>
                            <a:srgbClr val="FFFFFF"/>
                          </a:solidFill>
                        </a:rPr>
                        <a:t>11412</a:t>
                      </a:r>
                    </a:p>
                  </a:txBody>
                  <a:tcPr>
                    <a:solidFill>
                      <a:srgbClr val="1F3864"/>
                    </a:solidFill>
                  </a:tcPr>
                </a:tc>
              </a:tr>
              <a:tr h="388445">
                <a:tc>
                  <a:txBody>
                    <a:bodyPr/>
                    <a:lstStyle/>
                    <a:p>
                      <a:r>
                        <a:rPr sz="1100" b="0"/>
                        <a:t>國泰世華商業銀行</a:t>
                      </a:r>
                    </a:p>
                  </a:txBody>
                  <a:tcPr/>
                </a:tc>
                <a:tc>
                  <a:txBody>
                    <a:bodyPr/>
                    <a:lstStyle/>
                    <a:p>
                      <a:r>
                        <a:rPr sz="1100" b="0"/>
                        <a:t>21,498,691</a:t>
                      </a:r>
                    </a:p>
                  </a:txBody>
                  <a:tcPr/>
                </a:tc>
                <a:tc>
                  <a:txBody>
                    <a:bodyPr/>
                    <a:lstStyle/>
                    <a:p>
                      <a:r>
                        <a:rPr sz="1100" b="0"/>
                        <a:t>21,731,907</a:t>
                      </a:r>
                    </a:p>
                  </a:txBody>
                  <a:tcPr/>
                </a:tc>
                <a:tc>
                  <a:txBody>
                    <a:bodyPr/>
                    <a:lstStyle/>
                    <a:p>
                      <a:r>
                        <a:rPr sz="1100" b="0"/>
                        <a:t>21,005,803</a:t>
                      </a:r>
                    </a:p>
                  </a:txBody>
                  <a:tcPr/>
                </a:tc>
                <a:tc>
                  <a:txBody>
                    <a:bodyPr/>
                    <a:lstStyle/>
                    <a:p>
                      <a:r>
                        <a:rPr sz="1100" b="0"/>
                        <a:t>22,203,076</a:t>
                      </a:r>
                    </a:p>
                  </a:txBody>
                  <a:tcPr/>
                </a:tc>
                <a:tc>
                  <a:txBody>
                    <a:bodyPr/>
                    <a:lstStyle/>
                    <a:p>
                      <a:r>
                        <a:rPr sz="1100" b="0"/>
                        <a:t>22,402,903</a:t>
                      </a:r>
                    </a:p>
                  </a:txBody>
                  <a:tcPr/>
                </a:tc>
                <a:tc>
                  <a:txBody>
                    <a:bodyPr/>
                    <a:lstStyle/>
                    <a:p>
                      <a:r>
                        <a:rPr sz="1100" b="0"/>
                        <a:t>22,171,305</a:t>
                      </a:r>
                    </a:p>
                  </a:txBody>
                  <a:tcPr/>
                </a:tc>
              </a:tr>
              <a:tr h="388445">
                <a:tc>
                  <a:txBody>
                    <a:bodyPr/>
                    <a:lstStyle/>
                    <a:p>
                      <a:r>
                        <a:rPr sz="1100" b="0"/>
                        <a:t>玉山商業銀行</a:t>
                      </a:r>
                    </a:p>
                  </a:txBody>
                  <a:tcPr/>
                </a:tc>
                <a:tc>
                  <a:txBody>
                    <a:bodyPr/>
                    <a:lstStyle/>
                    <a:p>
                      <a:r>
                        <a:rPr sz="1100" b="0"/>
                        <a:t>16,742,064</a:t>
                      </a:r>
                    </a:p>
                  </a:txBody>
                  <a:tcPr/>
                </a:tc>
                <a:tc>
                  <a:txBody>
                    <a:bodyPr/>
                    <a:lstStyle/>
                    <a:p>
                      <a:r>
                        <a:rPr sz="1100" b="0"/>
                        <a:t>16,199,399</a:t>
                      </a:r>
                    </a:p>
                  </a:txBody>
                  <a:tcPr/>
                </a:tc>
                <a:tc>
                  <a:txBody>
                    <a:bodyPr/>
                    <a:lstStyle/>
                    <a:p>
                      <a:r>
                        <a:rPr sz="1100" b="0"/>
                        <a:t>18,455,493</a:t>
                      </a:r>
                    </a:p>
                  </a:txBody>
                  <a:tcPr/>
                </a:tc>
                <a:tc>
                  <a:txBody>
                    <a:bodyPr/>
                    <a:lstStyle/>
                    <a:p>
                      <a:r>
                        <a:rPr sz="1100" b="0"/>
                        <a:t>17,838,541</a:t>
                      </a:r>
                    </a:p>
                  </a:txBody>
                  <a:tcPr/>
                </a:tc>
                <a:tc>
                  <a:txBody>
                    <a:bodyPr/>
                    <a:lstStyle/>
                    <a:p>
                      <a:r>
                        <a:rPr sz="1100" b="0"/>
                        <a:t>16,967,594</a:t>
                      </a:r>
                    </a:p>
                  </a:txBody>
                  <a:tcPr/>
                </a:tc>
                <a:tc>
                  <a:txBody>
                    <a:bodyPr/>
                    <a:lstStyle/>
                    <a:p>
                      <a:r>
                        <a:rPr sz="1100" b="0"/>
                        <a:t>17,957,715</a:t>
                      </a:r>
                    </a:p>
                  </a:txBody>
                  <a:tcPr/>
                </a:tc>
              </a:tr>
              <a:tr h="388445">
                <a:tc>
                  <a:txBody>
                    <a:bodyPr/>
                    <a:lstStyle/>
                    <a:p>
                      <a:r>
                        <a:rPr sz="1100" b="0"/>
                        <a:t>中國信託商業銀行</a:t>
                      </a:r>
                    </a:p>
                  </a:txBody>
                  <a:tcPr/>
                </a:tc>
                <a:tc>
                  <a:txBody>
                    <a:bodyPr/>
                    <a:lstStyle/>
                    <a:p>
                      <a:r>
                        <a:rPr sz="1100" b="0"/>
                        <a:t>17,294,253</a:t>
                      </a:r>
                    </a:p>
                  </a:txBody>
                  <a:tcPr/>
                </a:tc>
                <a:tc>
                  <a:txBody>
                    <a:bodyPr/>
                    <a:lstStyle/>
                    <a:p>
                      <a:r>
                        <a:rPr sz="1100" b="0"/>
                        <a:t>17,382,240</a:t>
                      </a:r>
                    </a:p>
                  </a:txBody>
                  <a:tcPr/>
                </a:tc>
                <a:tc>
                  <a:txBody>
                    <a:bodyPr/>
                    <a:lstStyle/>
                    <a:p>
                      <a:r>
                        <a:rPr sz="1100" b="0"/>
                        <a:t>17,442,113</a:t>
                      </a:r>
                    </a:p>
                  </a:txBody>
                  <a:tcPr/>
                </a:tc>
                <a:tc>
                  <a:txBody>
                    <a:bodyPr/>
                    <a:lstStyle/>
                    <a:p>
                      <a:r>
                        <a:rPr sz="1100" b="0"/>
                        <a:t>17,767,469</a:t>
                      </a:r>
                    </a:p>
                  </a:txBody>
                  <a:tcPr/>
                </a:tc>
                <a:tc>
                  <a:txBody>
                    <a:bodyPr/>
                    <a:lstStyle/>
                    <a:p>
                      <a:r>
                        <a:rPr sz="1100" b="0"/>
                        <a:t>17,601,608</a:t>
                      </a:r>
                    </a:p>
                  </a:txBody>
                  <a:tcPr/>
                </a:tc>
                <a:tc>
                  <a:txBody>
                    <a:bodyPr/>
                    <a:lstStyle/>
                    <a:p>
                      <a:r>
                        <a:rPr sz="1100" b="0"/>
                        <a:t>17,911,768</a:t>
                      </a:r>
                    </a:p>
                  </a:txBody>
                  <a:tcPr/>
                </a:tc>
              </a:tr>
              <a:tr h="388445">
                <a:tc>
                  <a:txBody>
                    <a:bodyPr/>
                    <a:lstStyle/>
                    <a:p>
                      <a:r>
                        <a:rPr sz="1100" b="0"/>
                        <a:t>台北富邦商業銀行</a:t>
                      </a:r>
                    </a:p>
                  </a:txBody>
                  <a:tcPr/>
                </a:tc>
                <a:tc>
                  <a:txBody>
                    <a:bodyPr/>
                    <a:lstStyle/>
                    <a:p>
                      <a:r>
                        <a:rPr sz="1100" b="0"/>
                        <a:t>10,918,708</a:t>
                      </a:r>
                    </a:p>
                  </a:txBody>
                  <a:tcPr/>
                </a:tc>
                <a:tc>
                  <a:txBody>
                    <a:bodyPr/>
                    <a:lstStyle/>
                    <a:p>
                      <a:r>
                        <a:rPr sz="1100" b="0"/>
                        <a:t>11,136,559</a:t>
                      </a:r>
                    </a:p>
                  </a:txBody>
                  <a:tcPr/>
                </a:tc>
                <a:tc>
                  <a:txBody>
                    <a:bodyPr/>
                    <a:lstStyle/>
                    <a:p>
                      <a:r>
                        <a:rPr sz="1100" b="0"/>
                        <a:t>11,389,102</a:t>
                      </a:r>
                    </a:p>
                  </a:txBody>
                  <a:tcPr/>
                </a:tc>
                <a:tc>
                  <a:txBody>
                    <a:bodyPr/>
                    <a:lstStyle/>
                    <a:p>
                      <a:r>
                        <a:rPr sz="1100" b="0"/>
                        <a:t>11,229,397</a:t>
                      </a:r>
                    </a:p>
                  </a:txBody>
                  <a:tcPr/>
                </a:tc>
                <a:tc>
                  <a:txBody>
                    <a:bodyPr/>
                    <a:lstStyle/>
                    <a:p>
                      <a:r>
                        <a:rPr sz="1100" b="0"/>
                        <a:t>11,517,715</a:t>
                      </a:r>
                    </a:p>
                  </a:txBody>
                  <a:tcPr/>
                </a:tc>
                <a:tc>
                  <a:txBody>
                    <a:bodyPr/>
                    <a:lstStyle/>
                    <a:p>
                      <a:r>
                        <a:rPr sz="1100" b="0"/>
                        <a:t>11,468,186</a:t>
                      </a:r>
                    </a:p>
                  </a:txBody>
                  <a:tcPr/>
                </a:tc>
              </a:tr>
              <a:tr h="388445">
                <a:tc>
                  <a:txBody>
                    <a:bodyPr/>
                    <a:lstStyle/>
                    <a:p>
                      <a:r>
                        <a:rPr sz="1100" b="0"/>
                        <a:t>台新國際商業銀行</a:t>
                      </a:r>
                    </a:p>
                  </a:txBody>
                  <a:tcPr/>
                </a:tc>
                <a:tc>
                  <a:txBody>
                    <a:bodyPr/>
                    <a:lstStyle/>
                    <a:p>
                      <a:r>
                        <a:rPr sz="1100" b="0"/>
                        <a:t>10,977,018</a:t>
                      </a:r>
                    </a:p>
                  </a:txBody>
                  <a:tcPr/>
                </a:tc>
                <a:tc>
                  <a:txBody>
                    <a:bodyPr/>
                    <a:lstStyle/>
                    <a:p>
                      <a:r>
                        <a:rPr sz="1100" b="0"/>
                        <a:t>11,058,630</a:t>
                      </a:r>
                    </a:p>
                  </a:txBody>
                  <a:tcPr/>
                </a:tc>
                <a:tc>
                  <a:txBody>
                    <a:bodyPr/>
                    <a:lstStyle/>
                    <a:p>
                      <a:r>
                        <a:rPr sz="1100" b="0"/>
                        <a:t>11,120,714</a:t>
                      </a:r>
                    </a:p>
                  </a:txBody>
                  <a:tcPr/>
                </a:tc>
                <a:tc>
                  <a:txBody>
                    <a:bodyPr/>
                    <a:lstStyle/>
                    <a:p>
                      <a:r>
                        <a:rPr sz="1100" b="0"/>
                        <a:t>11,208,334</a:t>
                      </a:r>
                    </a:p>
                  </a:txBody>
                  <a:tcPr/>
                </a:tc>
                <a:tc>
                  <a:txBody>
                    <a:bodyPr/>
                    <a:lstStyle/>
                    <a:p>
                      <a:r>
                        <a:rPr sz="1100" b="0"/>
                        <a:t>11,256,633</a:t>
                      </a:r>
                    </a:p>
                  </a:txBody>
                  <a:tcPr/>
                </a:tc>
                <a:tc>
                  <a:txBody>
                    <a:bodyPr/>
                    <a:lstStyle/>
                    <a:p>
                      <a:r>
                        <a:rPr sz="1100" b="0"/>
                        <a:t>11,314,621</a:t>
                      </a:r>
                    </a:p>
                  </a:txBody>
                  <a:tcPr/>
                </a:tc>
              </a:tr>
              <a:tr h="388445">
                <a:tc>
                  <a:txBody>
                    <a:bodyPr/>
                    <a:lstStyle/>
                    <a:p>
                      <a:r>
                        <a:rPr sz="1100" b="0"/>
                        <a:t>星展(台灣)商業銀行</a:t>
                      </a:r>
                    </a:p>
                  </a:txBody>
                  <a:tcPr/>
                </a:tc>
                <a:tc>
                  <a:txBody>
                    <a:bodyPr/>
                    <a:lstStyle/>
                    <a:p>
                      <a:r>
                        <a:rPr sz="1100" b="0"/>
                        <a:t>8,605,492</a:t>
                      </a:r>
                    </a:p>
                  </a:txBody>
                  <a:tcPr/>
                </a:tc>
                <a:tc>
                  <a:txBody>
                    <a:bodyPr/>
                    <a:lstStyle/>
                    <a:p>
                      <a:r>
                        <a:rPr sz="1100" b="0"/>
                        <a:t>8,725,605</a:t>
                      </a:r>
                    </a:p>
                  </a:txBody>
                  <a:tcPr/>
                </a:tc>
                <a:tc>
                  <a:txBody>
                    <a:bodyPr/>
                    <a:lstStyle/>
                    <a:p>
                      <a:r>
                        <a:rPr sz="1100" b="0"/>
                        <a:t>8,781,277</a:t>
                      </a:r>
                    </a:p>
                  </a:txBody>
                  <a:tcPr/>
                </a:tc>
                <a:tc>
                  <a:txBody>
                    <a:bodyPr/>
                    <a:lstStyle/>
                    <a:p>
                      <a:r>
                        <a:rPr sz="1100" b="0"/>
                        <a:t>8,828,768</a:t>
                      </a:r>
                    </a:p>
                  </a:txBody>
                  <a:tcPr/>
                </a:tc>
                <a:tc>
                  <a:txBody>
                    <a:bodyPr/>
                    <a:lstStyle/>
                    <a:p>
                      <a:r>
                        <a:rPr sz="1100" b="0"/>
                        <a:t>8,899,477</a:t>
                      </a:r>
                    </a:p>
                  </a:txBody>
                  <a:tcPr/>
                </a:tc>
                <a:tc>
                  <a:txBody>
                    <a:bodyPr/>
                    <a:lstStyle/>
                    <a:p>
                      <a:r>
                        <a:rPr sz="1100" b="0"/>
                        <a:t>8,914,937</a:t>
                      </a:r>
                    </a:p>
                  </a:txBody>
                  <a:tcPr/>
                </a:tc>
              </a:tr>
              <a:tr h="388445">
                <a:tc>
                  <a:txBody>
                    <a:bodyPr/>
                    <a:lstStyle/>
                    <a:p>
                      <a:r>
                        <a:rPr sz="1100" b="0"/>
                        <a:t>聯邦商業銀行</a:t>
                      </a:r>
                    </a:p>
                  </a:txBody>
                  <a:tcPr/>
                </a:tc>
                <a:tc>
                  <a:txBody>
                    <a:bodyPr/>
                    <a:lstStyle/>
                    <a:p>
                      <a:r>
                        <a:rPr sz="1100" b="0"/>
                        <a:t>6,462,121</a:t>
                      </a:r>
                    </a:p>
                  </a:txBody>
                  <a:tcPr/>
                </a:tc>
                <a:tc>
                  <a:txBody>
                    <a:bodyPr/>
                    <a:lstStyle/>
                    <a:p>
                      <a:r>
                        <a:rPr sz="1100" b="0"/>
                        <a:t>6,473,412</a:t>
                      </a:r>
                    </a:p>
                  </a:txBody>
                  <a:tcPr/>
                </a:tc>
                <a:tc>
                  <a:txBody>
                    <a:bodyPr/>
                    <a:lstStyle/>
                    <a:p>
                      <a:r>
                        <a:rPr sz="1100" b="0"/>
                        <a:t>6,529,968</a:t>
                      </a:r>
                    </a:p>
                  </a:txBody>
                  <a:tcPr/>
                </a:tc>
                <a:tc>
                  <a:txBody>
                    <a:bodyPr/>
                    <a:lstStyle/>
                    <a:p>
                      <a:r>
                        <a:rPr sz="1100" b="0"/>
                        <a:t>6,565,629</a:t>
                      </a:r>
                    </a:p>
                  </a:txBody>
                  <a:tcPr/>
                </a:tc>
                <a:tc>
                  <a:txBody>
                    <a:bodyPr/>
                    <a:lstStyle/>
                    <a:p>
                      <a:r>
                        <a:rPr sz="1100" b="0"/>
                        <a:t>6,536,915</a:t>
                      </a:r>
                    </a:p>
                  </a:txBody>
                  <a:tcPr/>
                </a:tc>
                <a:tc>
                  <a:txBody>
                    <a:bodyPr/>
                    <a:lstStyle/>
                    <a:p>
                      <a:r>
                        <a:rPr sz="1100" b="0"/>
                        <a:t>6,592,497</a:t>
                      </a:r>
                    </a:p>
                  </a:txBody>
                  <a:tcPr/>
                </a:tc>
              </a:tr>
              <a:tr h="388445">
                <a:tc>
                  <a:txBody>
                    <a:bodyPr/>
                    <a:lstStyle/>
                    <a:p>
                      <a:r>
                        <a:rPr sz="1100" b="0"/>
                        <a:t>永豐商業銀行</a:t>
                      </a:r>
                    </a:p>
                  </a:txBody>
                  <a:tcPr/>
                </a:tc>
                <a:tc>
                  <a:txBody>
                    <a:bodyPr/>
                    <a:lstStyle/>
                    <a:p>
                      <a:r>
                        <a:rPr sz="1100" b="0"/>
                        <a:t>3,798,200</a:t>
                      </a:r>
                    </a:p>
                  </a:txBody>
                  <a:tcPr/>
                </a:tc>
                <a:tc>
                  <a:txBody>
                    <a:bodyPr/>
                    <a:lstStyle/>
                    <a:p>
                      <a:r>
                        <a:rPr sz="1100" b="0"/>
                        <a:t>3,949,911</a:t>
                      </a:r>
                    </a:p>
                  </a:txBody>
                  <a:tcPr/>
                </a:tc>
                <a:tc>
                  <a:txBody>
                    <a:bodyPr/>
                    <a:lstStyle/>
                    <a:p>
                      <a:r>
                        <a:rPr sz="1100" b="0"/>
                        <a:t>4,045,805</a:t>
                      </a:r>
                    </a:p>
                  </a:txBody>
                  <a:tcPr/>
                </a:tc>
                <a:tc>
                  <a:txBody>
                    <a:bodyPr/>
                    <a:lstStyle/>
                    <a:p>
                      <a:r>
                        <a:rPr sz="1100" b="0"/>
                        <a:t>3,865,865</a:t>
                      </a:r>
                    </a:p>
                  </a:txBody>
                  <a:tcPr/>
                </a:tc>
                <a:tc>
                  <a:txBody>
                    <a:bodyPr/>
                    <a:lstStyle/>
                    <a:p>
                      <a:r>
                        <a:rPr sz="1100" b="0"/>
                        <a:t>3,856,324</a:t>
                      </a:r>
                    </a:p>
                  </a:txBody>
                  <a:tcPr/>
                </a:tc>
                <a:tc>
                  <a:txBody>
                    <a:bodyPr/>
                    <a:lstStyle/>
                    <a:p>
                      <a:r>
                        <a:rPr sz="1100" b="0"/>
                        <a:t>3,898,214</a:t>
                      </a:r>
                    </a:p>
                  </a:txBody>
                  <a:tcPr/>
                </a:tc>
              </a:tr>
              <a:tr h="388445">
                <a:tc>
                  <a:txBody>
                    <a:bodyPr/>
                    <a:lstStyle/>
                    <a:p>
                      <a:r>
                        <a:rPr sz="1100" b="0"/>
                        <a:t>遠東國際商業銀行</a:t>
                      </a:r>
                    </a:p>
                  </a:txBody>
                  <a:tcPr/>
                </a:tc>
                <a:tc>
                  <a:txBody>
                    <a:bodyPr/>
                    <a:lstStyle/>
                    <a:p>
                      <a:r>
                        <a:rPr sz="1100" b="0"/>
                        <a:t>3,152,668</a:t>
                      </a:r>
                    </a:p>
                  </a:txBody>
                  <a:tcPr/>
                </a:tc>
                <a:tc>
                  <a:txBody>
                    <a:bodyPr/>
                    <a:lstStyle/>
                    <a:p>
                      <a:r>
                        <a:rPr sz="1100" b="0"/>
                        <a:t>3,249,738</a:t>
                      </a:r>
                    </a:p>
                  </a:txBody>
                  <a:tcPr/>
                </a:tc>
                <a:tc>
                  <a:txBody>
                    <a:bodyPr/>
                    <a:lstStyle/>
                    <a:p>
                      <a:r>
                        <a:rPr sz="1100" b="0"/>
                        <a:t>3,254,115</a:t>
                      </a:r>
                    </a:p>
                  </a:txBody>
                  <a:tcPr/>
                </a:tc>
                <a:tc>
                  <a:txBody>
                    <a:bodyPr/>
                    <a:lstStyle/>
                    <a:p>
                      <a:r>
                        <a:rPr sz="1100" b="0"/>
                        <a:t>3,177,730</a:t>
                      </a:r>
                    </a:p>
                  </a:txBody>
                  <a:tcPr/>
                </a:tc>
                <a:tc>
                  <a:txBody>
                    <a:bodyPr/>
                    <a:lstStyle/>
                    <a:p>
                      <a:r>
                        <a:rPr sz="1100" b="0"/>
                        <a:t>3,520,455</a:t>
                      </a:r>
                    </a:p>
                  </a:txBody>
                  <a:tcPr/>
                </a:tc>
                <a:tc>
                  <a:txBody>
                    <a:bodyPr/>
                    <a:lstStyle/>
                    <a:p>
                      <a:r>
                        <a:rPr sz="1100" b="0"/>
                        <a:t>3,185,712</a:t>
                      </a:r>
                    </a:p>
                  </a:txBody>
                  <a:tcPr/>
                </a:tc>
              </a:tr>
              <a:tr h="388450">
                <a:tc>
                  <a:txBody>
                    <a:bodyPr/>
                    <a:lstStyle/>
                    <a:p>
                      <a:r>
                        <a:rPr sz="1100" b="0"/>
                        <a:t>滙豐(台灣)商業銀行</a:t>
                      </a:r>
                    </a:p>
                  </a:txBody>
                  <a:tcPr/>
                </a:tc>
                <a:tc>
                  <a:txBody>
                    <a:bodyPr/>
                    <a:lstStyle/>
                    <a:p>
                      <a:r>
                        <a:rPr sz="1100" b="0"/>
                        <a:t>1,718,970</a:t>
                      </a:r>
                    </a:p>
                  </a:txBody>
                  <a:tcPr/>
                </a:tc>
                <a:tc>
                  <a:txBody>
                    <a:bodyPr/>
                    <a:lstStyle/>
                    <a:p>
                      <a:r>
                        <a:rPr sz="1100" b="0"/>
                        <a:t>1,684,670</a:t>
                      </a:r>
                    </a:p>
                  </a:txBody>
                  <a:tcPr/>
                </a:tc>
                <a:tc>
                  <a:txBody>
                    <a:bodyPr/>
                    <a:lstStyle/>
                    <a:p>
                      <a:r>
                        <a:rPr sz="1100" b="0"/>
                        <a:t>1,644,409</a:t>
                      </a:r>
                    </a:p>
                  </a:txBody>
                  <a:tcPr/>
                </a:tc>
                <a:tc>
                  <a:txBody>
                    <a:bodyPr/>
                    <a:lstStyle/>
                    <a:p>
                      <a:r>
                        <a:rPr sz="1100" b="0"/>
                        <a:t>1,702,698</a:t>
                      </a:r>
                    </a:p>
                  </a:txBody>
                  <a:tcPr/>
                </a:tc>
                <a:tc>
                  <a:txBody>
                    <a:bodyPr/>
                    <a:lstStyle/>
                    <a:p>
                      <a:r>
                        <a:rPr sz="1100" b="0"/>
                        <a:t>1,694,352</a:t>
                      </a:r>
                    </a:p>
                  </a:txBody>
                  <a:tcPr/>
                </a:tc>
                <a:tc>
                  <a:txBody>
                    <a:bodyPr/>
                    <a:lstStyle/>
                    <a:p>
                      <a:r>
                        <a:rPr sz="1100" b="0"/>
                        <a:t>1,711,263</a:t>
                      </a:r>
                    </a:p>
                  </a:txBody>
                  <a:tcPr/>
                </a:tc>
              </a:tr>
            </a:tbl>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本表數值與隨附 Excel 稽核檔逐格一致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02</a:t>
            </a:r>
          </a:p>
          <a:p>
            <a:r>
              <a:rPr sz="3200" b="1">
                <a:solidFill>
                  <a:srgbClr val="4D4D4D"/>
                </a:solidFill>
                <a:latin typeface="微軟正黑體"/>
                <a:ea typeface="微軟正黑體"/>
                <a:cs typeface="微軟正黑體"/>
              </a:rPr>
              <a:t>市場整體概況</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領先者 </a:t>
            </a:r>
            <a:r>
              <a:rPr sz="1100" b="1">
                <a:solidFill>
                  <a:srgbClr val="1A1A1A"/>
                </a:solidFill>
                <a:highlight>
                  <a:srgbClr val="FFFF00"/>
                </a:highlight>
                <a:latin typeface="微軟正黑體"/>
                <a:ea typeface="微軟正黑體"/>
                <a:cs typeface="微軟正黑體"/>
              </a:rPr>
              <a:t>11401</a:t>
            </a:r>
            <a:r>
              <a:rPr sz="1100" b="0">
                <a:solidFill>
                  <a:srgbClr val="4D4D4D"/>
                </a:solidFill>
                <a:latin typeface="微軟正黑體"/>
                <a:ea typeface="微軟正黑體"/>
                <a:cs typeface="微軟正黑體"/>
              </a:rPr>
              <a:t> 達 </a:t>
            </a:r>
            <a:r>
              <a:rPr sz="1100" b="1">
                <a:solidFill>
                  <a:srgbClr val="1A1A1A"/>
                </a:solidFill>
                <a:highlight>
                  <a:srgbClr val="FFFF00"/>
                </a:highlight>
                <a:latin typeface="微軟正黑體"/>
                <a:ea typeface="微軟正黑體"/>
                <a:cs typeface="微軟正黑體"/>
              </a:rPr>
              <a:t>654,750</a:t>
            </a:r>
            <a:r>
              <a:rPr sz="1100" b="0">
                <a:solidFill>
                  <a:srgbClr val="4D4D4D"/>
                </a:solidFill>
                <a:latin typeface="微軟正黑體"/>
                <a:ea typeface="微軟正黑體"/>
                <a:cs typeface="微軟正黑體"/>
              </a:rPr>
              <a:t>，明顯拉開與其餘業者的距離，反映規模效應仍在累積</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末位業者僅 </a:t>
            </a:r>
            <a:r>
              <a:rPr sz="1100" b="1">
                <a:solidFill>
                  <a:srgbClr val="1A1A1A"/>
                </a:solidFill>
                <a:highlight>
                  <a:srgbClr val="FFFF00"/>
                </a:highlight>
                <a:latin typeface="微軟正黑體"/>
                <a:ea typeface="微軟正黑體"/>
                <a:cs typeface="微軟正黑體"/>
              </a:rPr>
              <a:t>572,496</a:t>
            </a:r>
            <a:r>
              <a:rPr sz="1100" b="0">
                <a:solidFill>
                  <a:srgbClr val="4D4D4D"/>
                </a:solidFill>
                <a:latin typeface="微軟正黑體"/>
                <a:ea typeface="微軟正黑體"/>
                <a:cs typeface="微軟正黑體"/>
              </a:rPr>
              <a:t>，與領先者之間的落差顯示中小型業者在此指標上缺乏可持續的規模優勢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全體平均為 </a:t>
            </a:r>
            <a:r>
              <a:rPr sz="1100" b="1">
                <a:solidFill>
                  <a:srgbClr val="1A1A1A"/>
                </a:solidFill>
                <a:highlight>
                  <a:srgbClr val="FFFF00"/>
                </a:highlight>
                <a:latin typeface="微軟正黑體"/>
                <a:ea typeface="微軟正黑體"/>
                <a:cs typeface="微軟正黑體"/>
              </a:rPr>
              <a:t>617,209.9</a:t>
            </a:r>
            <a:r>
              <a:rPr sz="1100" b="0">
                <a:solidFill>
                  <a:srgbClr val="4D4D4D"/>
                </a:solidFill>
                <a:latin typeface="微軟正黑體"/>
                <a:ea typeface="微軟正黑體"/>
                <a:cs typeface="微軟正黑體"/>
              </a:rPr>
              <a:t>，位於平均之下的業者需重新檢視資源配置是否與市場競爭強度相稱</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市場規模趨勢</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市場整體（各期）呈現明顯的業者集中態勢，規模差距短期內難以收斂</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領先者 </a:t>
            </a:r>
            <a:r>
              <a:rPr sz="1100" b="1">
                <a:solidFill>
                  <a:srgbClr val="1A1A1A"/>
                </a:solidFill>
                <a:highlight>
                  <a:srgbClr val="FFFF00"/>
                </a:highlight>
                <a:latin typeface="微軟正黑體"/>
                <a:ea typeface="微軟正黑體"/>
                <a:cs typeface="微軟正黑體"/>
              </a:rPr>
              <a:t>11409</a:t>
            </a:r>
            <a:r>
              <a:rPr sz="1100" b="0">
                <a:solidFill>
                  <a:srgbClr val="4D4D4D"/>
                </a:solidFill>
                <a:latin typeface="微軟正黑體"/>
                <a:ea typeface="微軟正黑體"/>
                <a:cs typeface="微軟正黑體"/>
              </a:rPr>
              <a:t> 達 </a:t>
            </a:r>
            <a:r>
              <a:rPr sz="1100" b="1">
                <a:solidFill>
                  <a:srgbClr val="1A1A1A"/>
                </a:solidFill>
                <a:highlight>
                  <a:srgbClr val="FFFF00"/>
                </a:highlight>
                <a:latin typeface="微軟正黑體"/>
                <a:ea typeface="微軟正黑體"/>
                <a:cs typeface="微軟正黑體"/>
              </a:rPr>
              <a:t>10.5%</a:t>
            </a:r>
            <a:r>
              <a:rPr sz="1100" b="0">
                <a:solidFill>
                  <a:srgbClr val="4D4D4D"/>
                </a:solidFill>
                <a:latin typeface="微軟正黑體"/>
                <a:ea typeface="微軟正黑體"/>
                <a:cs typeface="微軟正黑體"/>
              </a:rPr>
              <a:t>，明顯拉開與其餘業者的距離，反映規模效應仍在累積</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末位業者僅 </a:t>
            </a:r>
            <a:r>
              <a:rPr sz="1100" b="1">
                <a:solidFill>
                  <a:srgbClr val="1A1A1A"/>
                </a:solidFill>
                <a:highlight>
                  <a:srgbClr val="FFFF00"/>
                </a:highlight>
                <a:latin typeface="微軟正黑體"/>
                <a:ea typeface="微軟正黑體"/>
                <a:cs typeface="微軟正黑體"/>
              </a:rPr>
              <a:t>-6.7%</a:t>
            </a:r>
            <a:r>
              <a:rPr sz="1100" b="0">
                <a:solidFill>
                  <a:srgbClr val="4D4D4D"/>
                </a:solidFill>
                <a:latin typeface="微軟正黑體"/>
                <a:ea typeface="微軟正黑體"/>
                <a:cs typeface="微軟正黑體"/>
              </a:rPr>
              <a:t>，與領先者之間的落差顯示中小型業者在此指標上缺乏可持續的規模優勢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全體平均為 </a:t>
            </a:r>
            <a:r>
              <a:rPr sz="1100" b="1">
                <a:solidFill>
                  <a:srgbClr val="1A1A1A"/>
                </a:solidFill>
                <a:highlight>
                  <a:srgbClr val="FFFF00"/>
                </a:highlight>
                <a:latin typeface="微軟正黑體"/>
                <a:ea typeface="微軟正黑體"/>
                <a:cs typeface="微軟正黑體"/>
              </a:rPr>
              <a:t>0.0%</a:t>
            </a:r>
            <a:r>
              <a:rPr sz="1100" b="0">
                <a:solidFill>
                  <a:srgbClr val="4D4D4D"/>
                </a:solidFill>
                <a:latin typeface="微軟正黑體"/>
                <a:ea typeface="微軟正黑體"/>
                <a:cs typeface="微軟正黑體"/>
              </a:rPr>
              <a:t>，位於平均之下的業者需重新檢視資源配置是否與市場競爭強度相稱</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市場動能檢視</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市場整體（各期） 期間成長率呈現明顯的業者集中態勢，規模差距短期內難以收斂</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03</a:t>
            </a:r>
          </a:p>
          <a:p>
            <a:r>
              <a:rPr sz="3200" b="1">
                <a:solidFill>
                  <a:srgbClr val="4D4D4D"/>
                </a:solidFill>
                <a:latin typeface="微軟正黑體"/>
                <a:ea typeface="微軟正黑體"/>
                <a:cs typeface="微軟正黑體"/>
              </a:rPr>
              <a:t>同業成長及競爭分析</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領先者 </a:t>
            </a:r>
            <a:r>
              <a:rPr sz="1100" b="1">
                <a:solidFill>
                  <a:srgbClr val="1A1A1A"/>
                </a:solidFill>
                <a:highlight>
                  <a:srgbClr val="FFFF00"/>
                </a:highlight>
                <a:latin typeface="微軟正黑體"/>
                <a:ea typeface="微軟正黑體"/>
                <a:cs typeface="微軟正黑體"/>
              </a:rPr>
              <a:t>國泰世華商業銀行</a:t>
            </a:r>
            <a:r>
              <a:rPr sz="1100" b="0">
                <a:solidFill>
                  <a:srgbClr val="4D4D4D"/>
                </a:solidFill>
                <a:latin typeface="微軟正黑體"/>
                <a:ea typeface="微軟正黑體"/>
                <a:cs typeface="微軟正黑體"/>
              </a:rPr>
              <a:t> 達 </a:t>
            </a:r>
            <a:r>
              <a:rPr sz="1100" b="1">
                <a:solidFill>
                  <a:srgbClr val="1A1A1A"/>
                </a:solidFill>
                <a:highlight>
                  <a:srgbClr val="FFFF00"/>
                </a:highlight>
                <a:latin typeface="微軟正黑體"/>
                <a:ea typeface="微軟正黑體"/>
                <a:cs typeface="微軟正黑體"/>
              </a:rPr>
              <a:t>18.7%</a:t>
            </a:r>
            <a:r>
              <a:rPr sz="1100" b="0">
                <a:solidFill>
                  <a:srgbClr val="4D4D4D"/>
                </a:solidFill>
                <a:latin typeface="微軟正黑體"/>
                <a:ea typeface="微軟正黑體"/>
                <a:cs typeface="微軟正黑體"/>
              </a:rPr>
              <a:t>，明顯拉開與其餘業者的距離，反映規模效應仍在累積</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末位業者僅 </a:t>
            </a:r>
            <a:r>
              <a:rPr sz="1100" b="1">
                <a:solidFill>
                  <a:srgbClr val="1A1A1A"/>
                </a:solidFill>
                <a:highlight>
                  <a:srgbClr val="FFFF00"/>
                </a:highlight>
                <a:latin typeface="微軟正黑體"/>
                <a:ea typeface="微軟正黑體"/>
                <a:cs typeface="微軟正黑體"/>
              </a:rPr>
              <a:t>1.4%</a:t>
            </a:r>
            <a:r>
              <a:rPr sz="1100" b="0">
                <a:solidFill>
                  <a:srgbClr val="4D4D4D"/>
                </a:solidFill>
                <a:latin typeface="微軟正黑體"/>
                <a:ea typeface="微軟正黑體"/>
                <a:cs typeface="微軟正黑體"/>
              </a:rPr>
              <a:t>，與領先者之間的落差顯示中小型業者在此指標上缺乏可持續的規模優勢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全體平均為 </a:t>
            </a:r>
            <a:r>
              <a:rPr sz="1100" b="1">
                <a:solidFill>
                  <a:srgbClr val="1A1A1A"/>
                </a:solidFill>
                <a:highlight>
                  <a:srgbClr val="FFFF00"/>
                </a:highlight>
                <a:latin typeface="微軟正黑體"/>
                <a:ea typeface="微軟正黑體"/>
                <a:cs typeface="微軟正黑體"/>
              </a:rPr>
              <a:t>8.9%</a:t>
            </a:r>
            <a:r>
              <a:rPr sz="1100" b="0">
                <a:solidFill>
                  <a:srgbClr val="4D4D4D"/>
                </a:solidFill>
                <a:latin typeface="微軟正黑體"/>
                <a:ea typeface="微軟正黑體"/>
                <a:cs typeface="微軟正黑體"/>
              </a:rPr>
              <a:t>，位於平均之下的業者需重新檢視資源配置是否與市場競爭強度相稱</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市占結構</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循環信用餘額 占比 Top 10呈現明顯的業者集中態勢，規模差距短期內難以收斂</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04</a:t>
            </a:r>
          </a:p>
          <a:p>
            <a:r>
              <a:rPr sz="3200" b="1">
                <a:solidFill>
                  <a:srgbClr val="4D4D4D"/>
                </a:solidFill>
                <a:latin typeface="微軟正黑體"/>
                <a:ea typeface="微軟正黑體"/>
                <a:cs typeface="微軟正黑體"/>
              </a:rPr>
              <a:t>客戶活躍度</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領先者 </a:t>
            </a:r>
            <a:r>
              <a:rPr sz="1100" b="1">
                <a:solidFill>
                  <a:srgbClr val="1A1A1A"/>
                </a:solidFill>
                <a:highlight>
                  <a:srgbClr val="FFFF00"/>
                </a:highlight>
                <a:latin typeface="微軟正黑體"/>
                <a:ea typeface="微軟正黑體"/>
                <a:cs typeface="微軟正黑體"/>
              </a:rPr>
              <a:t>中國信託商業銀行</a:t>
            </a:r>
            <a:r>
              <a:rPr sz="1100" b="0">
                <a:solidFill>
                  <a:srgbClr val="4D4D4D"/>
                </a:solidFill>
                <a:latin typeface="微軟正黑體"/>
                <a:ea typeface="微軟正黑體"/>
                <a:cs typeface="微軟正黑體"/>
              </a:rPr>
              <a:t> 達 </a:t>
            </a:r>
            <a:r>
              <a:rPr sz="1100" b="1">
                <a:solidFill>
                  <a:srgbClr val="1A1A1A"/>
                </a:solidFill>
                <a:highlight>
                  <a:srgbClr val="FFFF00"/>
                </a:highlight>
                <a:latin typeface="微軟正黑體"/>
                <a:ea typeface="微軟正黑體"/>
                <a:cs typeface="微軟正黑體"/>
              </a:rPr>
              <a:t>6,685,860</a:t>
            </a:r>
            <a:r>
              <a:rPr sz="1100" b="0">
                <a:solidFill>
                  <a:srgbClr val="4D4D4D"/>
                </a:solidFill>
                <a:latin typeface="微軟正黑體"/>
                <a:ea typeface="微軟正黑體"/>
                <a:cs typeface="微軟正黑體"/>
              </a:rPr>
              <a:t>，明顯拉開與其餘業者的距離，反映規模效應仍在累積</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末位業者僅 </a:t>
            </a:r>
            <a:r>
              <a:rPr sz="1100" b="1">
                <a:solidFill>
                  <a:srgbClr val="1A1A1A"/>
                </a:solidFill>
                <a:highlight>
                  <a:srgbClr val="FFFF00"/>
                </a:highlight>
                <a:latin typeface="微軟正黑體"/>
                <a:ea typeface="微軟正黑體"/>
                <a:cs typeface="微軟正黑體"/>
              </a:rPr>
              <a:t>910,122</a:t>
            </a:r>
            <a:r>
              <a:rPr sz="1100" b="0">
                <a:solidFill>
                  <a:srgbClr val="4D4D4D"/>
                </a:solidFill>
                <a:latin typeface="微軟正黑體"/>
                <a:ea typeface="微軟正黑體"/>
                <a:cs typeface="微軟正黑體"/>
              </a:rPr>
              <a:t>，與領先者之間的落差顯示中小型業者在此指標上缺乏可持續的規模優勢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全體平均為 </a:t>
            </a:r>
            <a:r>
              <a:rPr sz="1100" b="1">
                <a:solidFill>
                  <a:srgbClr val="1A1A1A"/>
                </a:solidFill>
                <a:highlight>
                  <a:srgbClr val="FFFF00"/>
                </a:highlight>
                <a:latin typeface="微軟正黑體"/>
                <a:ea typeface="微軟正黑體"/>
                <a:cs typeface="微軟正黑體"/>
              </a:rPr>
              <a:t>3,528,341.8</a:t>
            </a:r>
            <a:r>
              <a:rPr sz="1100" b="0">
                <a:solidFill>
                  <a:srgbClr val="4D4D4D"/>
                </a:solidFill>
                <a:latin typeface="微軟正黑體"/>
                <a:ea typeface="微軟正黑體"/>
                <a:cs typeface="微軟正黑體"/>
              </a:rPr>
              <a:t>，位於平均之下的業者需重新檢視資源配置是否與市場競爭強度相稱</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有效卡數表現</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有效卡數 Top 10呈現明顯的業者集中態勢，規模差距短期內難以收斂</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05</a:t>
            </a:r>
          </a:p>
          <a:p>
            <a:r>
              <a:rPr sz="3200" b="1">
                <a:solidFill>
                  <a:srgbClr val="4D4D4D"/>
                </a:solidFill>
                <a:latin typeface="微軟正黑體"/>
                <a:ea typeface="微軟正黑體"/>
                <a:cs typeface="微軟正黑體"/>
              </a:rPr>
              <a:t>獲利能力</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領先者 </a:t>
            </a:r>
            <a:r>
              <a:rPr sz="1100" b="1">
                <a:solidFill>
                  <a:srgbClr val="1A1A1A"/>
                </a:solidFill>
                <a:highlight>
                  <a:srgbClr val="FFFF00"/>
                </a:highlight>
                <a:latin typeface="微軟正黑體"/>
                <a:ea typeface="微軟正黑體"/>
                <a:cs typeface="微軟正黑體"/>
              </a:rPr>
              <a:t>台北富邦商業銀行</a:t>
            </a:r>
            <a:r>
              <a:rPr sz="1100" b="0">
                <a:solidFill>
                  <a:srgbClr val="4D4D4D"/>
                </a:solidFill>
                <a:latin typeface="微軟正黑體"/>
                <a:ea typeface="微軟正黑體"/>
                <a:cs typeface="微軟正黑體"/>
              </a:rPr>
              <a:t> 達 </a:t>
            </a:r>
            <a:r>
              <a:rPr sz="1100" b="1">
                <a:solidFill>
                  <a:srgbClr val="1A1A1A"/>
                </a:solidFill>
                <a:highlight>
                  <a:srgbClr val="FFFF00"/>
                </a:highlight>
                <a:latin typeface="微軟正黑體"/>
                <a:ea typeface="微軟正黑體"/>
                <a:cs typeface="微軟正黑體"/>
              </a:rPr>
              <a:t>32,786,476</a:t>
            </a:r>
            <a:r>
              <a:rPr sz="1100" b="0">
                <a:solidFill>
                  <a:srgbClr val="4D4D4D"/>
                </a:solidFill>
                <a:latin typeface="微軟正黑體"/>
                <a:ea typeface="微軟正黑體"/>
                <a:cs typeface="微軟正黑體"/>
              </a:rPr>
              <a:t>，明顯拉開與其餘業者的距離，反映規模效應仍在累積</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末位業者僅 </a:t>
            </a:r>
            <a:r>
              <a:rPr sz="1100" b="1">
                <a:solidFill>
                  <a:srgbClr val="1A1A1A"/>
                </a:solidFill>
                <a:highlight>
                  <a:srgbClr val="FFFF00"/>
                </a:highlight>
                <a:latin typeface="微軟正黑體"/>
                <a:ea typeface="微軟正黑體"/>
                <a:cs typeface="微軟正黑體"/>
              </a:rPr>
              <a:t>4,132,981</a:t>
            </a:r>
            <a:r>
              <a:rPr sz="1100" b="0">
                <a:solidFill>
                  <a:srgbClr val="4D4D4D"/>
                </a:solidFill>
                <a:latin typeface="微軟正黑體"/>
                <a:ea typeface="微軟正黑體"/>
                <a:cs typeface="微軟正黑體"/>
              </a:rPr>
              <a:t>，與領先者之間的落差顯示中小型業者在此指標上缺乏可持續的規模優勢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全體平均為 </a:t>
            </a:r>
            <a:r>
              <a:rPr sz="1100" b="1">
                <a:solidFill>
                  <a:srgbClr val="1A1A1A"/>
                </a:solidFill>
                <a:highlight>
                  <a:srgbClr val="FFFF00"/>
                </a:highlight>
                <a:latin typeface="微軟正黑體"/>
                <a:ea typeface="微軟正黑體"/>
                <a:cs typeface="微軟正黑體"/>
              </a:rPr>
              <a:t>16,708,456.7</a:t>
            </a:r>
            <a:r>
              <a:rPr sz="1100" b="0">
                <a:solidFill>
                  <a:srgbClr val="4D4D4D"/>
                </a:solidFill>
                <a:latin typeface="微軟正黑體"/>
                <a:ea typeface="微軟正黑體"/>
                <a:cs typeface="微軟正黑體"/>
              </a:rPr>
              <a:t>，位於平均之下的業者需重新檢視資源配置是否與市場競爭強度相稱</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循環信用與分期貢獻</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未到期分期付款餘額 Top 10呈現明顯的業者集中態勢，規模差距短期內難以收斂</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06</a:t>
            </a:r>
          </a:p>
          <a:p>
            <a:r>
              <a:rPr sz="3200" b="1">
                <a:solidFill>
                  <a:srgbClr val="4D4D4D"/>
                </a:solidFill>
                <a:latin typeface="微軟正黑體"/>
                <a:ea typeface="微軟正黑體"/>
                <a:cs typeface="微軟正黑體"/>
              </a:rPr>
              <a:t>風險與警訊</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領先者 </a:t>
            </a:r>
            <a:r>
              <a:rPr sz="1100" b="1">
                <a:solidFill>
                  <a:srgbClr val="1A1A1A"/>
                </a:solidFill>
                <a:highlight>
                  <a:srgbClr val="FFFF00"/>
                </a:highlight>
                <a:latin typeface="微軟正黑體"/>
                <a:ea typeface="微軟正黑體"/>
                <a:cs typeface="微軟正黑體"/>
              </a:rPr>
              <a:t>台北富邦商業銀行</a:t>
            </a:r>
            <a:r>
              <a:rPr sz="1100" b="0">
                <a:solidFill>
                  <a:srgbClr val="4D4D4D"/>
                </a:solidFill>
                <a:latin typeface="微軟正黑體"/>
                <a:ea typeface="微軟正黑體"/>
                <a:cs typeface="微軟正黑體"/>
              </a:rPr>
              <a:t> 達 </a:t>
            </a:r>
            <a:r>
              <a:rPr sz="1100" b="1">
                <a:solidFill>
                  <a:srgbClr val="1A1A1A"/>
                </a:solidFill>
                <a:highlight>
                  <a:srgbClr val="FFFF00"/>
                </a:highlight>
                <a:latin typeface="微軟正黑體"/>
                <a:ea typeface="微軟正黑體"/>
                <a:cs typeface="微軟正黑體"/>
              </a:rPr>
              <a:t>95,338</a:t>
            </a:r>
            <a:r>
              <a:rPr sz="1100" b="0">
                <a:solidFill>
                  <a:srgbClr val="4D4D4D"/>
                </a:solidFill>
                <a:latin typeface="微軟正黑體"/>
                <a:ea typeface="微軟正黑體"/>
                <a:cs typeface="微軟正黑體"/>
              </a:rPr>
              <a:t>，明顯拉開與其餘業者的距離，反映規模效應仍在累積</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末位業者僅 </a:t>
            </a:r>
            <a:r>
              <a:rPr sz="1100" b="1">
                <a:solidFill>
                  <a:srgbClr val="1A1A1A"/>
                </a:solidFill>
                <a:highlight>
                  <a:srgbClr val="FFFF00"/>
                </a:highlight>
                <a:latin typeface="微軟正黑體"/>
                <a:ea typeface="微軟正黑體"/>
                <a:cs typeface="微軟正黑體"/>
              </a:rPr>
              <a:t>13,781</a:t>
            </a:r>
            <a:r>
              <a:rPr sz="1100" b="0">
                <a:solidFill>
                  <a:srgbClr val="4D4D4D"/>
                </a:solidFill>
                <a:latin typeface="微軟正黑體"/>
                <a:ea typeface="微軟正黑體"/>
                <a:cs typeface="微軟正黑體"/>
              </a:rPr>
              <a:t>，與領先者之間的落差顯示中小型業者在此指標上缺乏可持續的規模優勢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全體平均為 </a:t>
            </a:r>
            <a:r>
              <a:rPr sz="1100" b="1">
                <a:solidFill>
                  <a:srgbClr val="1A1A1A"/>
                </a:solidFill>
                <a:highlight>
                  <a:srgbClr val="FFFF00"/>
                </a:highlight>
                <a:latin typeface="微軟正黑體"/>
                <a:ea typeface="微軟正黑體"/>
                <a:cs typeface="微軟正黑體"/>
              </a:rPr>
              <a:t>55,689.2</a:t>
            </a:r>
            <a:r>
              <a:rPr sz="1100" b="0">
                <a:solidFill>
                  <a:srgbClr val="4D4D4D"/>
                </a:solidFill>
                <a:latin typeface="微軟正黑體"/>
                <a:ea typeface="微軟正黑體"/>
                <a:cs typeface="微軟正黑體"/>
              </a:rPr>
              <a:t>，位於平均之下的業者需重新檢視資源配置是否與市場競爭強度相稱</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轉銷呆帳分佈</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當月轉銷呆帳金額 Top 10呈現明顯的業者集中態勢，規模差距短期內難以收斂</a:t>
            </a:r>
          </a:p>
        </p:txBody>
      </p:sp>
      <p:graphicFrame>
        <p:nvGraphicFramePr>
          <p:cNvPr id="6" name="Table 5"/>
          <p:cNvGraphicFramePr>
            <a:graphicFrameLocks noGrp="1"/>
          </p:cNvGraphicFramePr>
          <p:nvPr/>
        </p:nvGraphicFramePr>
        <p:xfrm>
          <a:off x="368595" y="1854753"/>
          <a:ext cx="6608340" cy="4272900"/>
        </p:xfrm>
        <a:graphic>
          <a:graphicData uri="http://schemas.openxmlformats.org/drawingml/2006/table">
            <a:tbl>
              <a:tblPr firstRow="1" bandRow="1">
                <a:tableStyleId>{5C22544A-7EE6-4342-B048-85BDC9FD1C3A}</a:tableStyleId>
              </a:tblPr>
              <a:tblGrid>
                <a:gridCol w="944048"/>
                <a:gridCol w="944048"/>
                <a:gridCol w="944048"/>
                <a:gridCol w="944048"/>
                <a:gridCol w="944048"/>
                <a:gridCol w="944048"/>
                <a:gridCol w="944052"/>
              </a:tblGrid>
              <a:tr h="388445">
                <a:tc>
                  <a:txBody>
                    <a:bodyPr/>
                    <a:lstStyle/>
                    <a:p>
                      <a:r>
                        <a:rPr b="1" sz="1100">
                          <a:solidFill>
                            <a:srgbClr val="FFFFFF"/>
                          </a:solidFill>
                        </a:rPr>
                        <a:t>項目</a:t>
                      </a:r>
                    </a:p>
                  </a:txBody>
                  <a:tcPr>
                    <a:solidFill>
                      <a:srgbClr val="1F3864"/>
                    </a:solidFill>
                  </a:tcPr>
                </a:tc>
                <a:tc>
                  <a:txBody>
                    <a:bodyPr/>
                    <a:lstStyle/>
                    <a:p>
                      <a:r>
                        <a:rPr b="1" sz="1100">
                          <a:solidFill>
                            <a:srgbClr val="FFFFFF"/>
                          </a:solidFill>
                        </a:rPr>
                        <a:t>11407</a:t>
                      </a:r>
                    </a:p>
                  </a:txBody>
                  <a:tcPr>
                    <a:solidFill>
                      <a:srgbClr val="1F3864"/>
                    </a:solidFill>
                  </a:tcPr>
                </a:tc>
                <a:tc>
                  <a:txBody>
                    <a:bodyPr/>
                    <a:lstStyle/>
                    <a:p>
                      <a:r>
                        <a:rPr b="1" sz="1100">
                          <a:solidFill>
                            <a:srgbClr val="FFFFFF"/>
                          </a:solidFill>
                        </a:rPr>
                        <a:t>11408</a:t>
                      </a:r>
                    </a:p>
                  </a:txBody>
                  <a:tcPr>
                    <a:solidFill>
                      <a:srgbClr val="1F3864"/>
                    </a:solidFill>
                  </a:tcPr>
                </a:tc>
                <a:tc>
                  <a:txBody>
                    <a:bodyPr/>
                    <a:lstStyle/>
                    <a:p>
                      <a:r>
                        <a:rPr b="1" sz="1100">
                          <a:solidFill>
                            <a:srgbClr val="FFFFFF"/>
                          </a:solidFill>
                        </a:rPr>
                        <a:t>11409</a:t>
                      </a:r>
                    </a:p>
                  </a:txBody>
                  <a:tcPr>
                    <a:solidFill>
                      <a:srgbClr val="1F3864"/>
                    </a:solidFill>
                  </a:tcPr>
                </a:tc>
                <a:tc>
                  <a:txBody>
                    <a:bodyPr/>
                    <a:lstStyle/>
                    <a:p>
                      <a:r>
                        <a:rPr b="1" sz="1100">
                          <a:solidFill>
                            <a:srgbClr val="FFFFFF"/>
                          </a:solidFill>
                        </a:rPr>
                        <a:t>11410</a:t>
                      </a:r>
                    </a:p>
                  </a:txBody>
                  <a:tcPr>
                    <a:solidFill>
                      <a:srgbClr val="1F3864"/>
                    </a:solidFill>
                  </a:tcPr>
                </a:tc>
                <a:tc>
                  <a:txBody>
                    <a:bodyPr/>
                    <a:lstStyle/>
                    <a:p>
                      <a:r>
                        <a:rPr b="1" sz="1100">
                          <a:solidFill>
                            <a:srgbClr val="FFFFFF"/>
                          </a:solidFill>
                        </a:rPr>
                        <a:t>11411</a:t>
                      </a:r>
                    </a:p>
                  </a:txBody>
                  <a:tcPr>
                    <a:solidFill>
                      <a:srgbClr val="1F3864"/>
                    </a:solidFill>
                  </a:tcPr>
                </a:tc>
                <a:tc>
                  <a:txBody>
                    <a:bodyPr/>
                    <a:lstStyle/>
                    <a:p>
                      <a:r>
                        <a:rPr b="1" sz="1100">
                          <a:solidFill>
                            <a:srgbClr val="FFFFFF"/>
                          </a:solidFill>
                        </a:rPr>
                        <a:t>11412</a:t>
                      </a:r>
                    </a:p>
                  </a:txBody>
                  <a:tcPr>
                    <a:solidFill>
                      <a:srgbClr val="1F3864"/>
                    </a:solidFill>
                  </a:tcPr>
                </a:tc>
              </a:tr>
              <a:tr h="388445">
                <a:tc>
                  <a:txBody>
                    <a:bodyPr/>
                    <a:lstStyle/>
                    <a:p>
                      <a:r>
                        <a:rPr sz="1100" b="0"/>
                        <a:t>台北富邦商業銀行</a:t>
                      </a:r>
                    </a:p>
                  </a:txBody>
                  <a:tcPr/>
                </a:tc>
                <a:tc>
                  <a:txBody>
                    <a:bodyPr/>
                    <a:lstStyle/>
                    <a:p>
                      <a:r>
                        <a:rPr sz="1100" b="0">
                          <a:solidFill>
                            <a:srgbClr val="FFFFFF"/>
                          </a:solidFill>
                        </a:rPr>
                        <a:t>89,069</a:t>
                      </a:r>
                    </a:p>
                  </a:txBody>
                  <a:tcPr>
                    <a:solidFill>
                      <a:srgbClr val="354C74"/>
                    </a:solidFill>
                  </a:tcPr>
                </a:tc>
                <a:tc>
                  <a:txBody>
                    <a:bodyPr/>
                    <a:lstStyle/>
                    <a:p>
                      <a:r>
                        <a:rPr sz="1100" b="0">
                          <a:solidFill>
                            <a:srgbClr val="FFFFFF"/>
                          </a:solidFill>
                        </a:rPr>
                        <a:t>79,550</a:t>
                      </a:r>
                    </a:p>
                  </a:txBody>
                  <a:tcPr>
                    <a:solidFill>
                      <a:srgbClr val="485D82"/>
                    </a:solidFill>
                  </a:tcPr>
                </a:tc>
                <a:tc>
                  <a:txBody>
                    <a:bodyPr/>
                    <a:lstStyle/>
                    <a:p>
                      <a:r>
                        <a:rPr sz="1100" b="0">
                          <a:solidFill>
                            <a:srgbClr val="FFFFFF"/>
                          </a:solidFill>
                        </a:rPr>
                        <a:t>89,614</a:t>
                      </a:r>
                    </a:p>
                  </a:txBody>
                  <a:tcPr>
                    <a:solidFill>
                      <a:srgbClr val="334B73"/>
                    </a:solidFill>
                  </a:tcPr>
                </a:tc>
                <a:tc>
                  <a:txBody>
                    <a:bodyPr/>
                    <a:lstStyle/>
                    <a:p>
                      <a:r>
                        <a:rPr sz="1100" b="0">
                          <a:solidFill>
                            <a:srgbClr val="FFFFFF"/>
                          </a:solidFill>
                        </a:rPr>
                        <a:t>98,784</a:t>
                      </a:r>
                    </a:p>
                  </a:txBody>
                  <a:tcPr>
                    <a:solidFill>
                      <a:srgbClr val="213A65"/>
                    </a:solidFill>
                  </a:tcPr>
                </a:tc>
                <a:tc>
                  <a:txBody>
                    <a:bodyPr/>
                    <a:lstStyle/>
                    <a:p>
                      <a:r>
                        <a:rPr sz="1100" b="0">
                          <a:solidFill>
                            <a:srgbClr val="FFFFFF"/>
                          </a:solidFill>
                        </a:rPr>
                        <a:t>87,883</a:t>
                      </a:r>
                    </a:p>
                  </a:txBody>
                  <a:tcPr>
                    <a:solidFill>
                      <a:srgbClr val="374E76"/>
                    </a:solidFill>
                  </a:tcPr>
                </a:tc>
                <a:tc>
                  <a:txBody>
                    <a:bodyPr/>
                    <a:lstStyle/>
                    <a:p>
                      <a:r>
                        <a:rPr sz="1100" b="0">
                          <a:solidFill>
                            <a:srgbClr val="FFFFFF"/>
                          </a:solidFill>
                        </a:rPr>
                        <a:t>95,338</a:t>
                      </a:r>
                    </a:p>
                  </a:txBody>
                  <a:tcPr>
                    <a:solidFill>
                      <a:srgbClr val="28406B"/>
                    </a:solidFill>
                  </a:tcPr>
                </a:tc>
              </a:tr>
              <a:tr h="388445">
                <a:tc>
                  <a:txBody>
                    <a:bodyPr/>
                    <a:lstStyle/>
                    <a:p>
                      <a:r>
                        <a:rPr sz="1100" b="0"/>
                        <a:t>國泰世華商業銀行</a:t>
                      </a:r>
                    </a:p>
                  </a:txBody>
                  <a:tcPr/>
                </a:tc>
                <a:tc>
                  <a:txBody>
                    <a:bodyPr/>
                    <a:lstStyle/>
                    <a:p>
                      <a:r>
                        <a:rPr sz="1100" b="0">
                          <a:solidFill>
                            <a:srgbClr val="FFFFFF"/>
                          </a:solidFill>
                        </a:rPr>
                        <a:t>92,817</a:t>
                      </a:r>
                    </a:p>
                  </a:txBody>
                  <a:tcPr>
                    <a:solidFill>
                      <a:srgbClr val="2D456E"/>
                    </a:solidFill>
                  </a:tcPr>
                </a:tc>
                <a:tc>
                  <a:txBody>
                    <a:bodyPr/>
                    <a:lstStyle/>
                    <a:p>
                      <a:r>
                        <a:rPr sz="1100" b="0">
                          <a:solidFill>
                            <a:srgbClr val="FFFFFF"/>
                          </a:solidFill>
                        </a:rPr>
                        <a:t>92,132</a:t>
                      </a:r>
                    </a:p>
                  </a:txBody>
                  <a:tcPr>
                    <a:solidFill>
                      <a:srgbClr val="2E466F"/>
                    </a:solidFill>
                  </a:tcPr>
                </a:tc>
                <a:tc>
                  <a:txBody>
                    <a:bodyPr/>
                    <a:lstStyle/>
                    <a:p>
                      <a:r>
                        <a:rPr sz="1100" b="0">
                          <a:solidFill>
                            <a:srgbClr val="FFFFFF"/>
                          </a:solidFill>
                        </a:rPr>
                        <a:t>96,087</a:t>
                      </a:r>
                    </a:p>
                  </a:txBody>
                  <a:tcPr>
                    <a:solidFill>
                      <a:srgbClr val="263F69"/>
                    </a:solidFill>
                  </a:tcPr>
                </a:tc>
                <a:tc>
                  <a:txBody>
                    <a:bodyPr/>
                    <a:lstStyle/>
                    <a:p>
                      <a:r>
                        <a:rPr sz="1100" b="0">
                          <a:solidFill>
                            <a:srgbClr val="FFFFFF"/>
                          </a:solidFill>
                        </a:rPr>
                        <a:t>99,743</a:t>
                      </a:r>
                    </a:p>
                  </a:txBody>
                  <a:tcPr>
                    <a:solidFill>
                      <a:srgbClr val="1F3864"/>
                    </a:solidFill>
                  </a:tcPr>
                </a:tc>
                <a:tc>
                  <a:txBody>
                    <a:bodyPr/>
                    <a:lstStyle/>
                    <a:p>
                      <a:r>
                        <a:rPr sz="1100" b="0">
                          <a:solidFill>
                            <a:srgbClr val="FFFFFF"/>
                          </a:solidFill>
                        </a:rPr>
                        <a:t>95,561</a:t>
                      </a:r>
                    </a:p>
                  </a:txBody>
                  <a:tcPr>
                    <a:solidFill>
                      <a:srgbClr val="27406A"/>
                    </a:solidFill>
                  </a:tcPr>
                </a:tc>
                <a:tc>
                  <a:txBody>
                    <a:bodyPr/>
                    <a:lstStyle/>
                    <a:p>
                      <a:r>
                        <a:rPr sz="1100" b="0">
                          <a:solidFill>
                            <a:srgbClr val="FFFFFF"/>
                          </a:solidFill>
                        </a:rPr>
                        <a:t>94,669</a:t>
                      </a:r>
                    </a:p>
                  </a:txBody>
                  <a:tcPr>
                    <a:solidFill>
                      <a:srgbClr val="29416C"/>
                    </a:solidFill>
                  </a:tcPr>
                </a:tc>
              </a:tr>
              <a:tr h="388445">
                <a:tc>
                  <a:txBody>
                    <a:bodyPr/>
                    <a:lstStyle/>
                    <a:p>
                      <a:r>
                        <a:rPr sz="1100" b="0"/>
                        <a:t>中國信託商業銀行</a:t>
                      </a:r>
                    </a:p>
                  </a:txBody>
                  <a:tcPr/>
                </a:tc>
                <a:tc>
                  <a:txBody>
                    <a:bodyPr/>
                    <a:lstStyle/>
                    <a:p>
                      <a:r>
                        <a:rPr sz="1100" b="0">
                          <a:solidFill>
                            <a:srgbClr val="FFFFFF"/>
                          </a:solidFill>
                        </a:rPr>
                        <a:t>88,612</a:t>
                      </a:r>
                    </a:p>
                  </a:txBody>
                  <a:tcPr>
                    <a:solidFill>
                      <a:srgbClr val="354D75"/>
                    </a:solidFill>
                  </a:tcPr>
                </a:tc>
                <a:tc>
                  <a:txBody>
                    <a:bodyPr/>
                    <a:lstStyle/>
                    <a:p>
                      <a:r>
                        <a:rPr sz="1100" b="0">
                          <a:solidFill>
                            <a:srgbClr val="FFFFFF"/>
                          </a:solidFill>
                        </a:rPr>
                        <a:t>86,060</a:t>
                      </a:r>
                    </a:p>
                  </a:txBody>
                  <a:tcPr>
                    <a:solidFill>
                      <a:srgbClr val="3B5179"/>
                    </a:solidFill>
                  </a:tcPr>
                </a:tc>
                <a:tc>
                  <a:txBody>
                    <a:bodyPr/>
                    <a:lstStyle/>
                    <a:p>
                      <a:r>
                        <a:rPr sz="1100" b="0">
                          <a:solidFill>
                            <a:srgbClr val="FFFFFF"/>
                          </a:solidFill>
                        </a:rPr>
                        <a:t>87,222</a:t>
                      </a:r>
                    </a:p>
                  </a:txBody>
                  <a:tcPr>
                    <a:solidFill>
                      <a:srgbClr val="384F77"/>
                    </a:solidFill>
                  </a:tcPr>
                </a:tc>
                <a:tc>
                  <a:txBody>
                    <a:bodyPr/>
                    <a:lstStyle/>
                    <a:p>
                      <a:r>
                        <a:rPr sz="1100" b="0">
                          <a:solidFill>
                            <a:srgbClr val="FFFFFF"/>
                          </a:solidFill>
                        </a:rPr>
                        <a:t>89,395</a:t>
                      </a:r>
                    </a:p>
                  </a:txBody>
                  <a:tcPr>
                    <a:solidFill>
                      <a:srgbClr val="344B74"/>
                    </a:solidFill>
                  </a:tcPr>
                </a:tc>
                <a:tc>
                  <a:txBody>
                    <a:bodyPr/>
                    <a:lstStyle/>
                    <a:p>
                      <a:r>
                        <a:rPr sz="1100" b="0">
                          <a:solidFill>
                            <a:srgbClr val="FFFFFF"/>
                          </a:solidFill>
                        </a:rPr>
                        <a:t>96,371</a:t>
                      </a:r>
                    </a:p>
                  </a:txBody>
                  <a:tcPr>
                    <a:solidFill>
                      <a:srgbClr val="263E69"/>
                    </a:solidFill>
                  </a:tcPr>
                </a:tc>
                <a:tc>
                  <a:txBody>
                    <a:bodyPr/>
                    <a:lstStyle/>
                    <a:p>
                      <a:r>
                        <a:rPr sz="1100" b="0">
                          <a:solidFill>
                            <a:srgbClr val="FFFFFF"/>
                          </a:solidFill>
                        </a:rPr>
                        <a:t>92,455</a:t>
                      </a:r>
                    </a:p>
                  </a:txBody>
                  <a:tcPr>
                    <a:solidFill>
                      <a:srgbClr val="2E466F"/>
                    </a:solidFill>
                  </a:tcPr>
                </a:tc>
              </a:tr>
              <a:tr h="388445">
                <a:tc>
                  <a:txBody>
                    <a:bodyPr/>
                    <a:lstStyle/>
                    <a:p>
                      <a:r>
                        <a:rPr sz="1100" b="0"/>
                        <a:t>玉山商業銀行</a:t>
                      </a:r>
                    </a:p>
                  </a:txBody>
                  <a:tcPr/>
                </a:tc>
                <a:tc>
                  <a:txBody>
                    <a:bodyPr/>
                    <a:lstStyle/>
                    <a:p>
                      <a:r>
                        <a:rPr sz="1100" b="0">
                          <a:solidFill>
                            <a:srgbClr val="FFFFFF"/>
                          </a:solidFill>
                        </a:rPr>
                        <a:t>87,058</a:t>
                      </a:r>
                    </a:p>
                  </a:txBody>
                  <a:tcPr>
                    <a:solidFill>
                      <a:srgbClr val="395077"/>
                    </a:solidFill>
                  </a:tcPr>
                </a:tc>
                <a:tc>
                  <a:txBody>
                    <a:bodyPr/>
                    <a:lstStyle/>
                    <a:p>
                      <a:r>
                        <a:rPr sz="1100" b="0">
                          <a:solidFill>
                            <a:srgbClr val="FFFFFF"/>
                          </a:solidFill>
                        </a:rPr>
                        <a:t>87,712</a:t>
                      </a:r>
                    </a:p>
                  </a:txBody>
                  <a:tcPr>
                    <a:solidFill>
                      <a:srgbClr val="374E76"/>
                    </a:solidFill>
                  </a:tcPr>
                </a:tc>
                <a:tc>
                  <a:txBody>
                    <a:bodyPr/>
                    <a:lstStyle/>
                    <a:p>
                      <a:r>
                        <a:rPr sz="1100" b="0">
                          <a:solidFill>
                            <a:srgbClr val="FFFFFF"/>
                          </a:solidFill>
                        </a:rPr>
                        <a:t>85,589</a:t>
                      </a:r>
                    </a:p>
                  </a:txBody>
                  <a:tcPr>
                    <a:solidFill>
                      <a:srgbClr val="3C5279"/>
                    </a:solidFill>
                  </a:tcPr>
                </a:tc>
                <a:tc>
                  <a:txBody>
                    <a:bodyPr/>
                    <a:lstStyle/>
                    <a:p>
                      <a:r>
                        <a:rPr sz="1100" b="0">
                          <a:solidFill>
                            <a:srgbClr val="FFFFFF"/>
                          </a:solidFill>
                        </a:rPr>
                        <a:t>84,896</a:t>
                      </a:r>
                    </a:p>
                  </a:txBody>
                  <a:tcPr>
                    <a:solidFill>
                      <a:srgbClr val="3D547A"/>
                    </a:solidFill>
                  </a:tcPr>
                </a:tc>
                <a:tc>
                  <a:txBody>
                    <a:bodyPr/>
                    <a:lstStyle/>
                    <a:p>
                      <a:r>
                        <a:rPr sz="1100" b="0">
                          <a:solidFill>
                            <a:srgbClr val="FFFFFF"/>
                          </a:solidFill>
                        </a:rPr>
                        <a:t>85,479</a:t>
                      </a:r>
                    </a:p>
                  </a:txBody>
                  <a:tcPr>
                    <a:solidFill>
                      <a:srgbClr val="3C5279"/>
                    </a:solidFill>
                  </a:tcPr>
                </a:tc>
                <a:tc>
                  <a:txBody>
                    <a:bodyPr/>
                    <a:lstStyle/>
                    <a:p>
                      <a:r>
                        <a:rPr sz="1100" b="0">
                          <a:solidFill>
                            <a:srgbClr val="FFFFFF"/>
                          </a:solidFill>
                        </a:rPr>
                        <a:t>84,032</a:t>
                      </a:r>
                    </a:p>
                  </a:txBody>
                  <a:tcPr>
                    <a:solidFill>
                      <a:srgbClr val="3F557C"/>
                    </a:solidFill>
                  </a:tcPr>
                </a:tc>
              </a:tr>
              <a:tr h="388445">
                <a:tc>
                  <a:txBody>
                    <a:bodyPr/>
                    <a:lstStyle/>
                    <a:p>
                      <a:r>
                        <a:rPr sz="1100" b="0"/>
                        <a:t>星展(台灣)商業銀行</a:t>
                      </a:r>
                    </a:p>
                  </a:txBody>
                  <a:tcPr/>
                </a:tc>
                <a:tc>
                  <a:txBody>
                    <a:bodyPr/>
                    <a:lstStyle/>
                    <a:p>
                      <a:r>
                        <a:rPr sz="1100" b="0"/>
                        <a:t>50,401</a:t>
                      </a:r>
                    </a:p>
                  </a:txBody>
                  <a:tcPr>
                    <a:solidFill>
                      <a:srgbClr val="8294AE"/>
                    </a:solidFill>
                  </a:tcPr>
                </a:tc>
                <a:tc>
                  <a:txBody>
                    <a:bodyPr/>
                    <a:lstStyle/>
                    <a:p>
                      <a:r>
                        <a:rPr sz="1100" b="0"/>
                        <a:t>48,484</a:t>
                      </a:r>
                    </a:p>
                  </a:txBody>
                  <a:tcPr>
                    <a:solidFill>
                      <a:srgbClr val="8697B1"/>
                    </a:solidFill>
                  </a:tcPr>
                </a:tc>
                <a:tc>
                  <a:txBody>
                    <a:bodyPr/>
                    <a:lstStyle/>
                    <a:p>
                      <a:r>
                        <a:rPr sz="1100" b="0">
                          <a:solidFill>
                            <a:srgbClr val="FFFFFF"/>
                          </a:solidFill>
                        </a:rPr>
                        <a:t>61,790</a:t>
                      </a:r>
                    </a:p>
                  </a:txBody>
                  <a:tcPr>
                    <a:solidFill>
                      <a:srgbClr val="6B7E9D"/>
                    </a:solidFill>
                  </a:tcPr>
                </a:tc>
                <a:tc>
                  <a:txBody>
                    <a:bodyPr/>
                    <a:lstStyle/>
                    <a:p>
                      <a:r>
                        <a:rPr sz="1100" b="0"/>
                        <a:t>47,446</a:t>
                      </a:r>
                    </a:p>
                  </a:txBody>
                  <a:tcPr>
                    <a:solidFill>
                      <a:srgbClr val="8899B3"/>
                    </a:solidFill>
                  </a:tcPr>
                </a:tc>
                <a:tc>
                  <a:txBody>
                    <a:bodyPr/>
                    <a:lstStyle/>
                    <a:p>
                      <a:r>
                        <a:rPr sz="1100" b="0"/>
                        <a:t>46,745</a:t>
                      </a:r>
                    </a:p>
                  </a:txBody>
                  <a:tcPr>
                    <a:solidFill>
                      <a:srgbClr val="8A9AB4"/>
                    </a:solidFill>
                  </a:tcPr>
                </a:tc>
                <a:tc>
                  <a:txBody>
                    <a:bodyPr/>
                    <a:lstStyle/>
                    <a:p>
                      <a:r>
                        <a:rPr sz="1100" b="0">
                          <a:solidFill>
                            <a:srgbClr val="FFFFFF"/>
                          </a:solidFill>
                        </a:rPr>
                        <a:t>58,158</a:t>
                      </a:r>
                    </a:p>
                  </a:txBody>
                  <a:tcPr>
                    <a:solidFill>
                      <a:srgbClr val="7385A3"/>
                    </a:solidFill>
                  </a:tcPr>
                </a:tc>
              </a:tr>
              <a:tr h="388445">
                <a:tc>
                  <a:txBody>
                    <a:bodyPr/>
                    <a:lstStyle/>
                    <a:p>
                      <a:r>
                        <a:rPr sz="1100" b="0"/>
                        <a:t>台新國際商業銀行</a:t>
                      </a:r>
                    </a:p>
                  </a:txBody>
                  <a:tcPr/>
                </a:tc>
                <a:tc>
                  <a:txBody>
                    <a:bodyPr/>
                    <a:lstStyle/>
                    <a:p>
                      <a:r>
                        <a:rPr sz="1100" b="0"/>
                        <a:t>46,174</a:t>
                      </a:r>
                    </a:p>
                  </a:txBody>
                  <a:tcPr>
                    <a:solidFill>
                      <a:srgbClr val="8B9BB5"/>
                    </a:solidFill>
                  </a:tcPr>
                </a:tc>
                <a:tc>
                  <a:txBody>
                    <a:bodyPr/>
                    <a:lstStyle/>
                    <a:p>
                      <a:r>
                        <a:rPr sz="1100" b="0"/>
                        <a:t>43,618</a:t>
                      </a:r>
                    </a:p>
                  </a:txBody>
                  <a:tcPr>
                    <a:solidFill>
                      <a:srgbClr val="90A0B8"/>
                    </a:solidFill>
                  </a:tcPr>
                </a:tc>
                <a:tc>
                  <a:txBody>
                    <a:bodyPr/>
                    <a:lstStyle/>
                    <a:p>
                      <a:r>
                        <a:rPr sz="1100" b="0"/>
                        <a:t>47,922</a:t>
                      </a:r>
                    </a:p>
                  </a:txBody>
                  <a:tcPr>
                    <a:solidFill>
                      <a:srgbClr val="8798B2"/>
                    </a:solidFill>
                  </a:tcPr>
                </a:tc>
                <a:tc>
                  <a:txBody>
                    <a:bodyPr/>
                    <a:lstStyle/>
                    <a:p>
                      <a:r>
                        <a:rPr sz="1100" b="0"/>
                        <a:t>44,654</a:t>
                      </a:r>
                    </a:p>
                  </a:txBody>
                  <a:tcPr>
                    <a:solidFill>
                      <a:srgbClr val="8E9EB7"/>
                    </a:solidFill>
                  </a:tcPr>
                </a:tc>
                <a:tc>
                  <a:txBody>
                    <a:bodyPr/>
                    <a:lstStyle/>
                    <a:p>
                      <a:r>
                        <a:rPr sz="1100" b="0"/>
                        <a:t>47,175</a:t>
                      </a:r>
                    </a:p>
                  </a:txBody>
                  <a:tcPr>
                    <a:solidFill>
                      <a:srgbClr val="899AB3"/>
                    </a:solidFill>
                  </a:tcPr>
                </a:tc>
                <a:tc>
                  <a:txBody>
                    <a:bodyPr/>
                    <a:lstStyle/>
                    <a:p>
                      <a:r>
                        <a:rPr sz="1100" b="0"/>
                        <a:t>42,858</a:t>
                      </a:r>
                    </a:p>
                  </a:txBody>
                  <a:tcPr>
                    <a:solidFill>
                      <a:srgbClr val="92A2BA"/>
                    </a:solidFill>
                  </a:tcPr>
                </a:tc>
              </a:tr>
              <a:tr h="388445">
                <a:tc>
                  <a:txBody>
                    <a:bodyPr/>
                    <a:lstStyle/>
                    <a:p>
                      <a:r>
                        <a:rPr sz="1100" b="0"/>
                        <a:t>華南商業銀行</a:t>
                      </a:r>
                    </a:p>
                  </a:txBody>
                  <a:tcPr/>
                </a:tc>
                <a:tc>
                  <a:txBody>
                    <a:bodyPr/>
                    <a:lstStyle/>
                    <a:p>
                      <a:r>
                        <a:rPr sz="1100" b="0"/>
                        <a:t>0</a:t>
                      </a:r>
                    </a:p>
                  </a:txBody>
                  <a:tcPr>
                    <a:solidFill>
                      <a:srgbClr val="E8F1FA"/>
                    </a:solidFill>
                  </a:tcPr>
                </a:tc>
                <a:tc>
                  <a:txBody>
                    <a:bodyPr/>
                    <a:lstStyle/>
                    <a:p>
                      <a:r>
                        <a:rPr sz="1100" b="0"/>
                        <a:t>0</a:t>
                      </a:r>
                    </a:p>
                  </a:txBody>
                  <a:tcPr>
                    <a:solidFill>
                      <a:srgbClr val="E8F1FA"/>
                    </a:solidFill>
                  </a:tcPr>
                </a:tc>
                <a:tc>
                  <a:txBody>
                    <a:bodyPr/>
                    <a:lstStyle/>
                    <a:p>
                      <a:r>
                        <a:rPr sz="1100" b="0"/>
                        <a:t>24,093</a:t>
                      </a:r>
                    </a:p>
                  </a:txBody>
                  <a:tcPr>
                    <a:solidFill>
                      <a:srgbClr val="B7C4D6"/>
                    </a:solidFill>
                  </a:tcPr>
                </a:tc>
                <a:tc>
                  <a:txBody>
                    <a:bodyPr/>
                    <a:lstStyle/>
                    <a:p>
                      <a:r>
                        <a:rPr sz="1100" b="0"/>
                        <a:t>0</a:t>
                      </a:r>
                    </a:p>
                  </a:txBody>
                  <a:tcPr>
                    <a:solidFill>
                      <a:srgbClr val="E8F1FA"/>
                    </a:solidFill>
                  </a:tcPr>
                </a:tc>
                <a:tc>
                  <a:txBody>
                    <a:bodyPr/>
                    <a:lstStyle/>
                    <a:p>
                      <a:r>
                        <a:rPr sz="1100" b="0"/>
                        <a:t>0</a:t>
                      </a:r>
                    </a:p>
                  </a:txBody>
                  <a:tcPr>
                    <a:solidFill>
                      <a:srgbClr val="E8F1FA"/>
                    </a:solidFill>
                  </a:tcPr>
                </a:tc>
                <a:tc>
                  <a:txBody>
                    <a:bodyPr/>
                    <a:lstStyle/>
                    <a:p>
                      <a:r>
                        <a:rPr sz="1100" b="0"/>
                        <a:t>29,703</a:t>
                      </a:r>
                    </a:p>
                  </a:txBody>
                  <a:tcPr>
                    <a:solidFill>
                      <a:srgbClr val="ACBACD"/>
                    </a:solidFill>
                  </a:tcPr>
                </a:tc>
              </a:tr>
              <a:tr h="388445">
                <a:tc>
                  <a:txBody>
                    <a:bodyPr/>
                    <a:lstStyle/>
                    <a:p>
                      <a:r>
                        <a:rPr sz="1100" b="0"/>
                        <a:t>聯邦商業銀行</a:t>
                      </a:r>
                    </a:p>
                  </a:txBody>
                  <a:tcPr/>
                </a:tc>
                <a:tc>
                  <a:txBody>
                    <a:bodyPr/>
                    <a:lstStyle/>
                    <a:p>
                      <a:r>
                        <a:rPr sz="1100" b="0"/>
                        <a:t>23,634</a:t>
                      </a:r>
                    </a:p>
                  </a:txBody>
                  <a:tcPr>
                    <a:solidFill>
                      <a:srgbClr val="B8C5D6"/>
                    </a:solidFill>
                  </a:tcPr>
                </a:tc>
                <a:tc>
                  <a:txBody>
                    <a:bodyPr/>
                    <a:lstStyle/>
                    <a:p>
                      <a:r>
                        <a:rPr sz="1100" b="0"/>
                        <a:t>22,896</a:t>
                      </a:r>
                    </a:p>
                  </a:txBody>
                  <a:tcPr>
                    <a:solidFill>
                      <a:srgbClr val="BAC7D8"/>
                    </a:solidFill>
                  </a:tcPr>
                </a:tc>
                <a:tc>
                  <a:txBody>
                    <a:bodyPr/>
                    <a:lstStyle/>
                    <a:p>
                      <a:r>
                        <a:rPr sz="1100" b="0"/>
                        <a:t>24,785</a:t>
                      </a:r>
                    </a:p>
                  </a:txBody>
                  <a:tcPr>
                    <a:solidFill>
                      <a:srgbClr val="B6C3D5"/>
                    </a:solidFill>
                  </a:tcPr>
                </a:tc>
                <a:tc>
                  <a:txBody>
                    <a:bodyPr/>
                    <a:lstStyle/>
                    <a:p>
                      <a:r>
                        <a:rPr sz="1100" b="0"/>
                        <a:t>27,554</a:t>
                      </a:r>
                    </a:p>
                  </a:txBody>
                  <a:tcPr>
                    <a:solidFill>
                      <a:srgbClr val="B0BED1"/>
                    </a:solidFill>
                  </a:tcPr>
                </a:tc>
                <a:tc>
                  <a:txBody>
                    <a:bodyPr/>
                    <a:lstStyle/>
                    <a:p>
                      <a:r>
                        <a:rPr sz="1100" b="0"/>
                        <a:t>27,609</a:t>
                      </a:r>
                    </a:p>
                  </a:txBody>
                  <a:tcPr>
                    <a:solidFill>
                      <a:srgbClr val="B0BED0"/>
                    </a:solidFill>
                  </a:tcPr>
                </a:tc>
                <a:tc>
                  <a:txBody>
                    <a:bodyPr/>
                    <a:lstStyle/>
                    <a:p>
                      <a:r>
                        <a:rPr sz="1100" b="0"/>
                        <a:t>28,371</a:t>
                      </a:r>
                    </a:p>
                  </a:txBody>
                  <a:tcPr>
                    <a:solidFill>
                      <a:srgbClr val="AFBCCF"/>
                    </a:solidFill>
                  </a:tcPr>
                </a:tc>
              </a:tr>
              <a:tr h="388445">
                <a:tc>
                  <a:txBody>
                    <a:bodyPr/>
                    <a:lstStyle/>
                    <a:p>
                      <a:r>
                        <a:rPr sz="1100" b="0"/>
                        <a:t>永豐商業銀行</a:t>
                      </a:r>
                    </a:p>
                  </a:txBody>
                  <a:tcPr/>
                </a:tc>
                <a:tc>
                  <a:txBody>
                    <a:bodyPr/>
                    <a:lstStyle/>
                    <a:p>
                      <a:r>
                        <a:rPr sz="1100" b="0"/>
                        <a:t>14,820</a:t>
                      </a:r>
                    </a:p>
                  </a:txBody>
                  <a:tcPr>
                    <a:solidFill>
                      <a:srgbClr val="CAD6E4"/>
                    </a:solidFill>
                  </a:tcPr>
                </a:tc>
                <a:tc>
                  <a:txBody>
                    <a:bodyPr/>
                    <a:lstStyle/>
                    <a:p>
                      <a:r>
                        <a:rPr sz="1100" b="0"/>
                        <a:t>21,303</a:t>
                      </a:r>
                    </a:p>
                  </a:txBody>
                  <a:tcPr>
                    <a:solidFill>
                      <a:srgbClr val="BDC9DA"/>
                    </a:solidFill>
                  </a:tcPr>
                </a:tc>
                <a:tc>
                  <a:txBody>
                    <a:bodyPr/>
                    <a:lstStyle/>
                    <a:p>
                      <a:r>
                        <a:rPr sz="1100" b="0"/>
                        <a:t>18,344</a:t>
                      </a:r>
                    </a:p>
                  </a:txBody>
                  <a:tcPr>
                    <a:solidFill>
                      <a:srgbClr val="C3CFDE"/>
                    </a:solidFill>
                  </a:tcPr>
                </a:tc>
                <a:tc>
                  <a:txBody>
                    <a:bodyPr/>
                    <a:lstStyle/>
                    <a:p>
                      <a:r>
                        <a:rPr sz="1100" b="0"/>
                        <a:t>23,564</a:t>
                      </a:r>
                    </a:p>
                  </a:txBody>
                  <a:tcPr>
                    <a:solidFill>
                      <a:srgbClr val="B9C5D7"/>
                    </a:solidFill>
                  </a:tcPr>
                </a:tc>
                <a:tc>
                  <a:txBody>
                    <a:bodyPr/>
                    <a:lstStyle/>
                    <a:p>
                      <a:r>
                        <a:rPr sz="1100" b="0"/>
                        <a:t>19,376</a:t>
                      </a:r>
                    </a:p>
                  </a:txBody>
                  <a:tcPr>
                    <a:solidFill>
                      <a:srgbClr val="C1CDDD"/>
                    </a:solidFill>
                  </a:tcPr>
                </a:tc>
                <a:tc>
                  <a:txBody>
                    <a:bodyPr/>
                    <a:lstStyle/>
                    <a:p>
                      <a:r>
                        <a:rPr sz="1100" b="0"/>
                        <a:t>17,527</a:t>
                      </a:r>
                    </a:p>
                  </a:txBody>
                  <a:tcPr>
                    <a:solidFill>
                      <a:srgbClr val="C5D0E0"/>
                    </a:solidFill>
                  </a:tcPr>
                </a:tc>
              </a:tr>
              <a:tr h="388450">
                <a:tc>
                  <a:txBody>
                    <a:bodyPr/>
                    <a:lstStyle/>
                    <a:p>
                      <a:r>
                        <a:rPr sz="1100" b="0"/>
                        <a:t>凱基商業銀行</a:t>
                      </a:r>
                    </a:p>
                  </a:txBody>
                  <a:tcPr/>
                </a:tc>
                <a:tc>
                  <a:txBody>
                    <a:bodyPr/>
                    <a:lstStyle/>
                    <a:p>
                      <a:r>
                        <a:rPr sz="1100" b="0"/>
                        <a:t>7,931</a:t>
                      </a:r>
                    </a:p>
                  </a:txBody>
                  <a:tcPr>
                    <a:solidFill>
                      <a:srgbClr val="D8E2EE"/>
                    </a:solidFill>
                  </a:tcPr>
                </a:tc>
                <a:tc>
                  <a:txBody>
                    <a:bodyPr/>
                    <a:lstStyle/>
                    <a:p>
                      <a:r>
                        <a:rPr sz="1100" b="0"/>
                        <a:t>8,681</a:t>
                      </a:r>
                    </a:p>
                  </a:txBody>
                  <a:tcPr>
                    <a:solidFill>
                      <a:srgbClr val="D7E1ED"/>
                    </a:solidFill>
                  </a:tcPr>
                </a:tc>
                <a:tc>
                  <a:txBody>
                    <a:bodyPr/>
                    <a:lstStyle/>
                    <a:p>
                      <a:r>
                        <a:rPr sz="1100" b="0"/>
                        <a:t>10,186</a:t>
                      </a:r>
                    </a:p>
                  </a:txBody>
                  <a:tcPr>
                    <a:solidFill>
                      <a:srgbClr val="D3DEEB"/>
                    </a:solidFill>
                  </a:tcPr>
                </a:tc>
                <a:tc>
                  <a:txBody>
                    <a:bodyPr/>
                    <a:lstStyle/>
                    <a:p>
                      <a:r>
                        <a:rPr sz="1100" b="0"/>
                        <a:t>8,563</a:t>
                      </a:r>
                    </a:p>
                  </a:txBody>
                  <a:tcPr>
                    <a:solidFill>
                      <a:srgbClr val="D7E1ED"/>
                    </a:solidFill>
                  </a:tcPr>
                </a:tc>
                <a:tc>
                  <a:txBody>
                    <a:bodyPr/>
                    <a:lstStyle/>
                    <a:p>
                      <a:r>
                        <a:rPr sz="1100" b="0"/>
                        <a:t>9,012</a:t>
                      </a:r>
                    </a:p>
                  </a:txBody>
                  <a:tcPr>
                    <a:solidFill>
                      <a:srgbClr val="D6E0EC"/>
                    </a:solidFill>
                  </a:tcPr>
                </a:tc>
                <a:tc>
                  <a:txBody>
                    <a:bodyPr/>
                    <a:lstStyle/>
                    <a:p>
                      <a:r>
                        <a:rPr sz="1100" b="0"/>
                        <a:t>13,781</a:t>
                      </a:r>
                    </a:p>
                  </a:txBody>
                  <a:tcPr>
                    <a:solidFill>
                      <a:srgbClr val="CCD7E5"/>
                    </a:solidFill>
                  </a:tcPr>
                </a:tc>
              </a:tr>
            </a:tbl>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本表數值與隨附 Excel 稽核檔逐格一致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07</a:t>
            </a:r>
          </a:p>
          <a:p>
            <a:r>
              <a:rPr sz="3200" b="1">
                <a:solidFill>
                  <a:srgbClr val="4D4D4D"/>
                </a:solidFill>
                <a:latin typeface="微軟正黑體"/>
                <a:ea typeface="微軟正黑體"/>
                <a:cs typeface="微軟正黑體"/>
              </a:rPr>
              <a:t>未來趨勢推測</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領先者 </a:t>
            </a:r>
            <a:r>
              <a:rPr sz="1100" b="1">
                <a:solidFill>
                  <a:srgbClr val="1A1A1A"/>
                </a:solidFill>
                <a:highlight>
                  <a:srgbClr val="FFFF00"/>
                </a:highlight>
                <a:latin typeface="微軟正黑體"/>
                <a:ea typeface="微軟正黑體"/>
                <a:cs typeface="微軟正黑體"/>
              </a:rPr>
              <a:t>11401</a:t>
            </a:r>
            <a:r>
              <a:rPr sz="1100" b="0">
                <a:solidFill>
                  <a:srgbClr val="4D4D4D"/>
                </a:solidFill>
                <a:latin typeface="微軟正黑體"/>
                <a:ea typeface="微軟正黑體"/>
                <a:cs typeface="微軟正黑體"/>
              </a:rPr>
              <a:t> 達 </a:t>
            </a:r>
            <a:r>
              <a:rPr sz="1100" b="1">
                <a:solidFill>
                  <a:srgbClr val="1A1A1A"/>
                </a:solidFill>
                <a:highlight>
                  <a:srgbClr val="FFFF00"/>
                </a:highlight>
                <a:latin typeface="微軟正黑體"/>
                <a:ea typeface="微軟正黑體"/>
                <a:cs typeface="微軟正黑體"/>
              </a:rPr>
              <a:t>654,750</a:t>
            </a:r>
            <a:r>
              <a:rPr sz="1100" b="0">
                <a:solidFill>
                  <a:srgbClr val="4D4D4D"/>
                </a:solidFill>
                <a:latin typeface="微軟正黑體"/>
                <a:ea typeface="微軟正黑體"/>
                <a:cs typeface="微軟正黑體"/>
              </a:rPr>
              <a:t>，明顯拉開與其餘業者的距離，反映規模效應仍在累積</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末位業者僅 </a:t>
            </a:r>
            <a:r>
              <a:rPr sz="1100" b="1">
                <a:solidFill>
                  <a:srgbClr val="1A1A1A"/>
                </a:solidFill>
                <a:highlight>
                  <a:srgbClr val="FFFF00"/>
                </a:highlight>
                <a:latin typeface="微軟正黑體"/>
                <a:ea typeface="微軟正黑體"/>
                <a:cs typeface="微軟正黑體"/>
              </a:rPr>
              <a:t>572,496</a:t>
            </a:r>
            <a:r>
              <a:rPr sz="1100" b="0">
                <a:solidFill>
                  <a:srgbClr val="4D4D4D"/>
                </a:solidFill>
                <a:latin typeface="微軟正黑體"/>
                <a:ea typeface="微軟正黑體"/>
                <a:cs typeface="微軟正黑體"/>
              </a:rPr>
              <a:t>，與領先者之間的落差顯示中小型業者在此指標上缺乏可持續的規模優勢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全體平均為 </a:t>
            </a:r>
            <a:r>
              <a:rPr sz="1100" b="1">
                <a:solidFill>
                  <a:srgbClr val="1A1A1A"/>
                </a:solidFill>
                <a:highlight>
                  <a:srgbClr val="FFFF00"/>
                </a:highlight>
                <a:latin typeface="微軟正黑體"/>
                <a:ea typeface="微軟正黑體"/>
                <a:cs typeface="微軟正黑體"/>
              </a:rPr>
              <a:t>615,418.1</a:t>
            </a:r>
            <a:r>
              <a:rPr sz="1100" b="0">
                <a:solidFill>
                  <a:srgbClr val="4D4D4D"/>
                </a:solidFill>
                <a:latin typeface="微軟正黑體"/>
                <a:ea typeface="微軟正黑體"/>
                <a:cs typeface="微軟正黑體"/>
              </a:rPr>
              <a:t>，位於平均之下的業者需重新檢視資源配置是否與市場競爭強度相稱</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市場規模外推</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市場整體（各期） 趨勢外推呈現明顯的業者集中態勢，規模差距短期內難以收斂</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08</a:t>
            </a:r>
          </a:p>
          <a:p>
            <a:r>
              <a:rPr sz="3200" b="1">
                <a:solidFill>
                  <a:srgbClr val="4D4D4D"/>
                </a:solidFill>
                <a:latin typeface="微軟正黑體"/>
                <a:ea typeface="微軟正黑體"/>
                <a:cs typeface="微軟正黑體"/>
              </a:rPr>
              <a:t>對台新的策略建議</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領先者 </a:t>
            </a:r>
            <a:r>
              <a:rPr sz="1100" b="1">
                <a:solidFill>
                  <a:srgbClr val="1A1A1A"/>
                </a:solidFill>
                <a:highlight>
                  <a:srgbClr val="FFFF00"/>
                </a:highlight>
                <a:latin typeface="微軟正黑體"/>
                <a:ea typeface="微軟正黑體"/>
                <a:cs typeface="微軟正黑體"/>
              </a:rPr>
              <a:t>國泰世華商業銀行</a:t>
            </a:r>
            <a:r>
              <a:rPr sz="1100" b="0">
                <a:solidFill>
                  <a:srgbClr val="4D4D4D"/>
                </a:solidFill>
                <a:latin typeface="微軟正黑體"/>
                <a:ea typeface="微軟正黑體"/>
                <a:cs typeface="微軟正黑體"/>
              </a:rPr>
              <a:t> 達 </a:t>
            </a:r>
            <a:r>
              <a:rPr sz="1100" b="1">
                <a:solidFill>
                  <a:srgbClr val="1A1A1A"/>
                </a:solidFill>
                <a:highlight>
                  <a:srgbClr val="FFFF00"/>
                </a:highlight>
                <a:latin typeface="微軟正黑體"/>
                <a:ea typeface="微軟正黑體"/>
                <a:cs typeface="微軟正黑體"/>
              </a:rPr>
              <a:t>18.7%</a:t>
            </a:r>
            <a:r>
              <a:rPr sz="1100" b="0">
                <a:solidFill>
                  <a:srgbClr val="4D4D4D"/>
                </a:solidFill>
                <a:latin typeface="微軟正黑體"/>
                <a:ea typeface="微軟正黑體"/>
                <a:cs typeface="微軟正黑體"/>
              </a:rPr>
              <a:t>，明顯拉開與其餘業者的距離，反映規模效應仍在累積</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末位業者僅 </a:t>
            </a:r>
            <a:r>
              <a:rPr sz="1100" b="1">
                <a:solidFill>
                  <a:srgbClr val="1A1A1A"/>
                </a:solidFill>
                <a:highlight>
                  <a:srgbClr val="FFFF00"/>
                </a:highlight>
                <a:latin typeface="微軟正黑體"/>
                <a:ea typeface="微軟正黑體"/>
                <a:cs typeface="微軟正黑體"/>
              </a:rPr>
              <a:t>0.0%</a:t>
            </a:r>
            <a:r>
              <a:rPr sz="1100" b="0">
                <a:solidFill>
                  <a:srgbClr val="4D4D4D"/>
                </a:solidFill>
                <a:latin typeface="微軟正黑體"/>
                <a:ea typeface="微軟正黑體"/>
                <a:cs typeface="微軟正黑體"/>
              </a:rPr>
              <a:t>，與領先者之間的落差顯示中小型業者在此指標上缺乏可持續的規模優勢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全體平均為 </a:t>
            </a:r>
            <a:r>
              <a:rPr sz="1100" b="1">
                <a:solidFill>
                  <a:srgbClr val="1A1A1A"/>
                </a:solidFill>
                <a:highlight>
                  <a:srgbClr val="FFFF00"/>
                </a:highlight>
                <a:latin typeface="微軟正黑體"/>
                <a:ea typeface="微軟正黑體"/>
                <a:cs typeface="微軟正黑體"/>
              </a:rPr>
              <a:t>3.1%</a:t>
            </a:r>
            <a:r>
              <a:rPr sz="1100" b="0">
                <a:solidFill>
                  <a:srgbClr val="4D4D4D"/>
                </a:solidFill>
                <a:latin typeface="微軟正黑體"/>
                <a:ea typeface="微軟正黑體"/>
                <a:cs typeface="微軟正黑體"/>
              </a:rPr>
              <a:t>，位於平均之下的業者需重新檢視資源配置是否與市場競爭強度相稱</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市占提升空間</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循環信用餘額 占比呈現明顯的業者集中態勢，規模差距短期內難以收斂</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68595" y="1247553"/>
            <a:ext cx="11242500" cy="4880100"/>
          </a:xfrm>
        </p:spPr>
        <p:txBody>
          <a:bodyPr wrap="square"/>
          <a:lstStyle/>
          <a:p>
            <a:pPr>
              <a:spcAft>
                <a:spcPts val="600"/>
              </a:spcAft>
            </a:pPr>
            <a:r>
              <a:rPr sz="1100" b="1">
                <a:solidFill>
                  <a:srgbClr val="C12026"/>
                </a:solidFill>
                <a:latin typeface="微軟正黑體"/>
                <a:ea typeface="微軟正黑體"/>
                <a:cs typeface="微軟正黑體"/>
              </a:rPr>
              <a:t>▸ Executive Summary｜</a:t>
            </a:r>
            <a:r>
              <a:rPr sz="1100" b="0">
                <a:solidFill>
                  <a:srgbClr val="4D4D4D"/>
                </a:solidFill>
                <a:latin typeface="微軟正黑體"/>
                <a:ea typeface="微軟正黑體"/>
                <a:cs typeface="微軟正黑體"/>
              </a:rPr>
              <a:t>循環信用餘額 Top 10呈現明顯的業者集中態勢，規模差距短期內難以收斂</a:t>
            </a:r>
            <a:r>
              <a:rPr sz="1000" b="0">
                <a:solidFill>
                  <a:srgbClr val="666666"/>
                </a:solidFill>
                <a:latin typeface="微軟正黑體"/>
                <a:ea typeface="微軟正黑體"/>
                <a:cs typeface="微軟正黑體"/>
              </a:rPr>
              <a:t>（P.4）</a:t>
            </a:r>
          </a:p>
          <a:p>
            <a:pPr>
              <a:spcAft>
                <a:spcPts val="600"/>
              </a:spcAft>
            </a:pPr>
            <a:r>
              <a:rPr sz="1100" b="1">
                <a:solidFill>
                  <a:srgbClr val="C12026"/>
                </a:solidFill>
                <a:latin typeface="微軟正黑體"/>
                <a:ea typeface="微軟正黑體"/>
                <a:cs typeface="微軟正黑體"/>
              </a:rPr>
              <a:t>▸ 市場整體概況｜</a:t>
            </a:r>
            <a:r>
              <a:rPr sz="1100" b="0">
                <a:solidFill>
                  <a:srgbClr val="4D4D4D"/>
                </a:solidFill>
                <a:latin typeface="微軟正黑體"/>
                <a:ea typeface="微軟正黑體"/>
                <a:cs typeface="微軟正黑體"/>
              </a:rPr>
              <a:t>市場整體（各期）呈現明顯的業者集中態勢，規模差距短期內難以收斂</a:t>
            </a:r>
            <a:r>
              <a:rPr sz="1000" b="0">
                <a:solidFill>
                  <a:srgbClr val="666666"/>
                </a:solidFill>
                <a:latin typeface="微軟正黑體"/>
                <a:ea typeface="微軟正黑體"/>
                <a:cs typeface="微軟正黑體"/>
              </a:rPr>
              <a:t>（P.6）</a:t>
            </a:r>
          </a:p>
          <a:p>
            <a:pPr>
              <a:spcAft>
                <a:spcPts val="600"/>
              </a:spcAft>
            </a:pPr>
            <a:r>
              <a:rPr sz="1100" b="1">
                <a:solidFill>
                  <a:srgbClr val="C12026"/>
                </a:solidFill>
                <a:latin typeface="微軟正黑體"/>
                <a:ea typeface="微軟正黑體"/>
                <a:cs typeface="微軟正黑體"/>
              </a:rPr>
              <a:t>▸ 同業成長及競爭分析｜</a:t>
            </a:r>
            <a:r>
              <a:rPr sz="1100" b="0">
                <a:solidFill>
                  <a:srgbClr val="4D4D4D"/>
                </a:solidFill>
                <a:latin typeface="微軟正黑體"/>
                <a:ea typeface="微軟正黑體"/>
                <a:cs typeface="微軟正黑體"/>
              </a:rPr>
              <a:t>循環信用餘額 占比 Top 10呈現明顯的業者集中態勢，規模差距短期內難以收斂</a:t>
            </a:r>
            <a:r>
              <a:rPr sz="1000" b="0">
                <a:solidFill>
                  <a:srgbClr val="666666"/>
                </a:solidFill>
                <a:latin typeface="微軟正黑體"/>
                <a:ea typeface="微軟正黑體"/>
                <a:cs typeface="微軟正黑體"/>
              </a:rPr>
              <a:t>（P.9）</a:t>
            </a:r>
          </a:p>
          <a:p>
            <a:pPr>
              <a:spcAft>
                <a:spcPts val="600"/>
              </a:spcAft>
            </a:pPr>
            <a:r>
              <a:rPr sz="1100" b="1">
                <a:solidFill>
                  <a:srgbClr val="C12026"/>
                </a:solidFill>
                <a:latin typeface="微軟正黑體"/>
                <a:ea typeface="微軟正黑體"/>
                <a:cs typeface="微軟正黑體"/>
              </a:rPr>
              <a:t>▸ 客戶活躍度｜</a:t>
            </a:r>
            <a:r>
              <a:rPr sz="1100" b="0">
                <a:solidFill>
                  <a:srgbClr val="4D4D4D"/>
                </a:solidFill>
                <a:latin typeface="微軟正黑體"/>
                <a:ea typeface="微軟正黑體"/>
                <a:cs typeface="微軟正黑體"/>
              </a:rPr>
              <a:t>有效卡數 Top 10呈現明顯的業者集中態勢，規模差距短期內難以收斂</a:t>
            </a:r>
            <a:r>
              <a:rPr sz="1000" b="0">
                <a:solidFill>
                  <a:srgbClr val="666666"/>
                </a:solidFill>
                <a:latin typeface="微軟正黑體"/>
                <a:ea typeface="微軟正黑體"/>
                <a:cs typeface="微軟正黑體"/>
              </a:rPr>
              <a:t>（P.11）</a:t>
            </a:r>
          </a:p>
          <a:p>
            <a:pPr>
              <a:spcAft>
                <a:spcPts val="600"/>
              </a:spcAft>
            </a:pPr>
            <a:r>
              <a:rPr sz="1100" b="1">
                <a:solidFill>
                  <a:srgbClr val="C12026"/>
                </a:solidFill>
                <a:latin typeface="微軟正黑體"/>
                <a:ea typeface="微軟正黑體"/>
                <a:cs typeface="微軟正黑體"/>
              </a:rPr>
              <a:t>▸ 獲利能力｜</a:t>
            </a:r>
            <a:r>
              <a:rPr sz="1100" b="0">
                <a:solidFill>
                  <a:srgbClr val="4D4D4D"/>
                </a:solidFill>
                <a:latin typeface="微軟正黑體"/>
                <a:ea typeface="微軟正黑體"/>
                <a:cs typeface="微軟正黑體"/>
              </a:rPr>
              <a:t>未到期分期付款餘額 Top 10呈現明顯的業者集中態勢，規模差距短期內難以收斂</a:t>
            </a:r>
            <a:r>
              <a:rPr sz="1000" b="0">
                <a:solidFill>
                  <a:srgbClr val="666666"/>
                </a:solidFill>
                <a:latin typeface="微軟正黑體"/>
                <a:ea typeface="微軟正黑體"/>
                <a:cs typeface="微軟正黑體"/>
              </a:rPr>
              <a:t>（P.13）</a:t>
            </a:r>
          </a:p>
          <a:p>
            <a:pPr>
              <a:spcAft>
                <a:spcPts val="600"/>
              </a:spcAft>
            </a:pPr>
            <a:r>
              <a:rPr sz="1100" b="1">
                <a:solidFill>
                  <a:srgbClr val="C12026"/>
                </a:solidFill>
                <a:latin typeface="微軟正黑體"/>
                <a:ea typeface="微軟正黑體"/>
                <a:cs typeface="微軟正黑體"/>
              </a:rPr>
              <a:t>▸ 風險與警訊｜</a:t>
            </a:r>
            <a:r>
              <a:rPr sz="1100" b="0">
                <a:solidFill>
                  <a:srgbClr val="4D4D4D"/>
                </a:solidFill>
                <a:latin typeface="微軟正黑體"/>
                <a:ea typeface="微軟正黑體"/>
                <a:cs typeface="微軟正黑體"/>
              </a:rPr>
              <a:t>當月轉銷呆帳金額 Top 10呈現明顯的業者集中態勢，規模差距短期內難以收斂</a:t>
            </a:r>
            <a:r>
              <a:rPr sz="1000" b="0">
                <a:solidFill>
                  <a:srgbClr val="666666"/>
                </a:solidFill>
                <a:latin typeface="微軟正黑體"/>
                <a:ea typeface="微軟正黑體"/>
                <a:cs typeface="微軟正黑體"/>
              </a:rPr>
              <a:t>（P.15）</a:t>
            </a:r>
          </a:p>
          <a:p>
            <a:pPr>
              <a:spcAft>
                <a:spcPts val="600"/>
              </a:spcAft>
            </a:pPr>
            <a:r>
              <a:rPr sz="1100" b="1">
                <a:solidFill>
                  <a:srgbClr val="C12026"/>
                </a:solidFill>
                <a:latin typeface="微軟正黑體"/>
                <a:ea typeface="微軟正黑體"/>
                <a:cs typeface="微軟正黑體"/>
              </a:rPr>
              <a:t>▸ 未來趨勢推測｜</a:t>
            </a:r>
            <a:r>
              <a:rPr sz="1100" b="0">
                <a:solidFill>
                  <a:srgbClr val="4D4D4D"/>
                </a:solidFill>
                <a:latin typeface="微軟正黑體"/>
                <a:ea typeface="微軟正黑體"/>
                <a:cs typeface="微軟正黑體"/>
              </a:rPr>
              <a:t>市場整體（各期） 趨勢外推呈現明顯的業者集中態勢，規模差距短期內難以收斂</a:t>
            </a:r>
            <a:r>
              <a:rPr sz="1000" b="0">
                <a:solidFill>
                  <a:srgbClr val="666666"/>
                </a:solidFill>
                <a:latin typeface="微軟正黑體"/>
                <a:ea typeface="微軟正黑體"/>
                <a:cs typeface="微軟正黑體"/>
              </a:rPr>
              <a:t>（P.17）</a:t>
            </a:r>
          </a:p>
          <a:p>
            <a:pPr>
              <a:spcAft>
                <a:spcPts val="600"/>
              </a:spcAft>
            </a:pPr>
            <a:r>
              <a:rPr sz="1100" b="1">
                <a:solidFill>
                  <a:srgbClr val="C12026"/>
                </a:solidFill>
                <a:latin typeface="微軟正黑體"/>
                <a:ea typeface="微軟正黑體"/>
                <a:cs typeface="微軟正黑體"/>
              </a:rPr>
              <a:t>▸ 對台新的策略建議｜</a:t>
            </a:r>
            <a:r>
              <a:rPr sz="1100" b="0">
                <a:solidFill>
                  <a:srgbClr val="4D4D4D"/>
                </a:solidFill>
                <a:latin typeface="微軟正黑體"/>
                <a:ea typeface="微軟正黑體"/>
                <a:cs typeface="微軟正黑體"/>
              </a:rPr>
              <a:t>循環信用餘額 占比呈現明顯的業者集中態勢，規模差距短期內難以收斂</a:t>
            </a:r>
            <a:r>
              <a:rPr sz="1000" b="0">
                <a:solidFill>
                  <a:srgbClr val="666666"/>
                </a:solidFill>
                <a:latin typeface="微軟正黑體"/>
                <a:ea typeface="微軟正黑體"/>
                <a:cs typeface="微軟正黑體"/>
              </a:rPr>
              <a:t>（P.19）</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結論與後續行動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4D4D4D"/>
                </a:solidFill>
                <a:latin typeface="微軟正黑體"/>
                <a:ea typeface="微軟正黑體"/>
                <a:cs typeface="微軟正黑體"/>
              </a:rPr>
              <a:t>感謝聆聽</a:t>
            </a:r>
          </a:p>
        </p:txBody>
      </p:sp>
    </p:spTree>
  </p:cSld>
  <p:clrMapOvr>
    <a:masterClrMapping/>
  </p:clrMapOvr>
</p:sld>
</file>

<file path=ppt/theme/theme1.xml><?xml version="1.0" encoding="utf-8"?>
<a:theme xmlns:a="http://schemas.openxmlformats.org/drawingml/2006/main" name="1_Office 佈景主題">
  <a:themeElements>
    <a:clrScheme name="Office 佈景主題">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Words>
  <Application>Microsoft Office PowerPoint</Application>
  <PresentationFormat>寬螢幕</PresentationFormat>
  <Paragraphs>2</Paragraphs>
  <Slides>5</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5</vt:i4>
      </vt:variant>
    </vt:vector>
  </HeadingPairs>
  <TitlesOfParts>
    <vt:vector size="10" baseType="lpstr">
      <vt:lpstr>Noto Sans Symbols</vt:lpstr>
      <vt:lpstr>Microsoft JhengHei</vt:lpstr>
      <vt:lpstr>Arial</vt:lpstr>
      <vt:lpstr>Noto Sans</vt:lpstr>
      <vt:lpstr>1_Office 佈景主題</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蕭宇喬</dc:creator>
  <cp:lastModifiedBy>蕭宇喬</cp:lastModifiedBy>
  <cp:revision>2</cp:revision>
  <dcterms:created xsi:type="dcterms:W3CDTF">2026-05-26T08:53:52Z</dcterms:created>
  <dcterms:modified xsi:type="dcterms:W3CDTF">2026-05-26T08:55:08Z</dcterms:modified>
</cp:coreProperties>
</file>