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41" r:id="rId2"/>
    <p:sldId id="342" r:id="rId6"/>
    <p:sldId id="343" r:id="rId5"/>
    <p:sldId id="344" r:id="rId4"/>
    <p:sldId id="345" r:id="rId3"/>
    <p:sldId id="346" r:id="rId11"/>
    <p:sldId id="347" r:id="rId12"/>
    <p:sldId id="348" r:id="rId13"/>
    <p:sldId id="349" r:id="rId14"/>
    <p:sldId id="350" r:id="rId15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60" r:id="rId2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90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市場整體（各期）：規模與金額走勢並列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58654745.0</c:v>
                </c:pt>
                <c:pt idx="1">
                  <c:v>58747562.0</c:v>
                </c:pt>
                <c:pt idx="2">
                  <c:v>58994262.0</c:v>
                </c:pt>
                <c:pt idx="3">
                  <c:v>59388667.0</c:v>
                </c:pt>
                <c:pt idx="4">
                  <c:v>59795907.0</c:v>
                </c:pt>
                <c:pt idx="5">
                  <c:v>59869255.0</c:v>
                </c:pt>
                <c:pt idx="6">
                  <c:v>59947219.0</c:v>
                </c:pt>
                <c:pt idx="7">
                  <c:v>60149284.0</c:v>
                </c:pt>
                <c:pt idx="8">
                  <c:v>60354497.0</c:v>
                </c:pt>
                <c:pt idx="9">
                  <c:v>60479206.0</c:v>
                </c:pt>
                <c:pt idx="10">
                  <c:v>60424521.0</c:v>
                </c:pt>
                <c:pt idx="11">
                  <c:v>60485911.0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當月簽帳金額</c:v>
                </c:pt>
              </c:strCache>
            </c:strRef>
          </c:tx>
          <c:marker>
            <c:symbol val="circle"/>
            <c:size val="7"/>
          </c:marker>
          <c:cat>
            <c:strRef>
              <c:f>Sheet1!$A$2:$A$13</c:f>
              <c:strCache>
                <c:ptCount val="12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338561389.0</c:v>
                </c:pt>
                <c:pt idx="1">
                  <c:v>395294658.0</c:v>
                </c:pt>
                <c:pt idx="2">
                  <c:v>377172642.0</c:v>
                </c:pt>
                <c:pt idx="3">
                  <c:v>373344235.0</c:v>
                </c:pt>
                <c:pt idx="4">
                  <c:v>371785303.0</c:v>
                </c:pt>
                <c:pt idx="5">
                  <c:v>393715829.0</c:v>
                </c:pt>
                <c:pt idx="6">
                  <c:v>653264628.0</c:v>
                </c:pt>
                <c:pt idx="7">
                  <c:v>376250456.0</c:v>
                </c:pt>
                <c:pt idx="8">
                  <c:v>403174279.0</c:v>
                </c:pt>
                <c:pt idx="9">
                  <c:v>453412126.0</c:v>
                </c:pt>
                <c:pt idx="10">
                  <c:v>396704763.0</c:v>
                </c:pt>
                <c:pt idx="11">
                  <c:v>453663538.0</c:v>
                </c:pt>
              </c:numCache>
            </c:numRef>
          </c:val>
          <c:smooth val="0"/>
        </c:ser>
        <c:marker val="1"/>
        <c:axId val="100000001"/>
        <c:axId val="100000002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  <c:catAx>
        <c:axId val="100000001"/>
        <c:scaling>
          <c:orientation val="minMax"/>
        </c:scaling>
        <c:delete val="1"/>
        <c:axPos val="b"/>
        <c:crossAx val="100000002"/>
      </c:catAx>
      <c:valAx>
        <c:axId val="100000002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crossAx val="100000001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市場整體（各期） 期間成長率走勢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1">
                  <c:v>0.1582</c:v>
                </c:pt>
                <c:pt idx="2">
                  <c:v>0.4199</c:v>
                </c:pt>
                <c:pt idx="3">
                  <c:v>0.6685</c:v>
                </c:pt>
                <c:pt idx="4">
                  <c:v>0.6857</c:v>
                </c:pt>
                <c:pt idx="5">
                  <c:v>0.1227</c:v>
                </c:pt>
                <c:pt idx="6">
                  <c:v>0.1302</c:v>
                </c:pt>
                <c:pt idx="7">
                  <c:v>0.3371</c:v>
                </c:pt>
                <c:pt idx="8">
                  <c:v>0.3412</c:v>
                </c:pt>
                <c:pt idx="9">
                  <c:v>0.2066</c:v>
                </c:pt>
                <c:pt idx="10">
                  <c:v>-0.0904</c:v>
                </c:pt>
                <c:pt idx="11">
                  <c:v>0.1016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有效卡數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1">
                  <c:v>0.3013</c:v>
                </c:pt>
                <c:pt idx="2">
                  <c:v>0.1529</c:v>
                </c:pt>
                <c:pt idx="3">
                  <c:v>0.4223</c:v>
                </c:pt>
                <c:pt idx="4">
                  <c:v>0.3222</c:v>
                </c:pt>
                <c:pt idx="5">
                  <c:v>0.201</c:v>
                </c:pt>
                <c:pt idx="6">
                  <c:v>0.6026</c:v>
                </c:pt>
                <c:pt idx="7">
                  <c:v>0.1754</c:v>
                </c:pt>
                <c:pt idx="8">
                  <c:v>0.636</c:v>
                </c:pt>
                <c:pt idx="9">
                  <c:v>0.4775</c:v>
                </c:pt>
                <c:pt idx="10">
                  <c:v>0.2229</c:v>
                </c:pt>
                <c:pt idx="11">
                  <c:v>0.2163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循環信用餘額 占比 Top 10：前段業者掌握主要份額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11412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國泰世華商業銀行</c:v>
                </c:pt>
                <c:pt idx="1">
                  <c:v>玉山商業銀行</c:v>
                </c:pt>
                <c:pt idx="2">
                  <c:v>中國信託商業銀行</c:v>
                </c:pt>
                <c:pt idx="3">
                  <c:v>台北富邦商業銀行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聯邦商業銀行</c:v>
                </c:pt>
                <c:pt idx="7">
                  <c:v>永豐商業銀行</c:v>
                </c:pt>
                <c:pt idx="8">
                  <c:v>遠東國際商業銀行</c:v>
                </c:pt>
                <c:pt idx="9">
                  <c:v>滙豐(台灣)商業銀行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18.696</c:v>
                </c:pt>
                <c:pt idx="1">
                  <c:v>15.1429</c:v>
                </c:pt>
                <c:pt idx="2">
                  <c:v>15.1041</c:v>
                </c:pt>
                <c:pt idx="3">
                  <c:v>9.6706</c:v>
                </c:pt>
                <c:pt idx="4">
                  <c:v>9.5411</c:v>
                </c:pt>
                <c:pt idx="5">
                  <c:v>7.5175</c:v>
                </c:pt>
                <c:pt idx="6">
                  <c:v>5.5591</c:v>
                </c:pt>
                <c:pt idx="7">
                  <c:v>3.2872</c:v>
                </c:pt>
                <c:pt idx="8">
                  <c:v>2.6864</c:v>
                </c:pt>
                <c:pt idx="9">
                  <c:v>1.443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有效卡數 Top 10：業者間差異明顯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11412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中國信託商業銀行</c:v>
                </c:pt>
                <c:pt idx="1">
                  <c:v>台北富邦商業銀行</c:v>
                </c:pt>
                <c:pt idx="2">
                  <c:v>玉山商業銀行</c:v>
                </c:pt>
                <c:pt idx="3">
                  <c:v>國泰世華商業銀行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聯邦商業銀行</c:v>
                </c:pt>
                <c:pt idx="7">
                  <c:v>永豐商業銀行</c:v>
                </c:pt>
                <c:pt idx="8">
                  <c:v>第一商業銀行</c:v>
                </c:pt>
                <c:pt idx="9">
                  <c:v>遠東國際商業銀行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6685860.0</c:v>
                </c:pt>
                <c:pt idx="1">
                  <c:v>5849375.0</c:v>
                </c:pt>
                <c:pt idx="2">
                  <c:v>5340523.0</c:v>
                </c:pt>
                <c:pt idx="3">
                  <c:v>5209203.0</c:v>
                </c:pt>
                <c:pt idx="4">
                  <c:v>4852939.0</c:v>
                </c:pt>
                <c:pt idx="5">
                  <c:v>2087494.0</c:v>
                </c:pt>
                <c:pt idx="6">
                  <c:v>1849324.0</c:v>
                </c:pt>
                <c:pt idx="7">
                  <c:v>1545721.0</c:v>
                </c:pt>
                <c:pt idx="8">
                  <c:v>952857.0</c:v>
                </c:pt>
                <c:pt idx="9">
                  <c:v>910122.0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未到期分期付款餘額 Top 10：業者間差異明顯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11412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台北富邦商業銀行</c:v>
                </c:pt>
                <c:pt idx="1">
                  <c:v>國泰世華商業銀行</c:v>
                </c:pt>
                <c:pt idx="2">
                  <c:v>玉山商業銀行</c:v>
                </c:pt>
                <c:pt idx="3">
                  <c:v>中國信託商業銀行</c:v>
                </c:pt>
                <c:pt idx="4">
                  <c:v>台新國際商業銀行</c:v>
                </c:pt>
                <c:pt idx="5">
                  <c:v>星展(台灣)商業銀行</c:v>
                </c:pt>
                <c:pt idx="6">
                  <c:v>聯邦商業銀行</c:v>
                </c:pt>
                <c:pt idx="7">
                  <c:v>華南商業銀行</c:v>
                </c:pt>
                <c:pt idx="8">
                  <c:v>永豐商業銀行</c:v>
                </c:pt>
                <c:pt idx="9">
                  <c:v>元大商業銀行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32786476.0</c:v>
                </c:pt>
                <c:pt idx="1">
                  <c:v>26660450.0</c:v>
                </c:pt>
                <c:pt idx="2">
                  <c:v>24097499.0</c:v>
                </c:pt>
                <c:pt idx="3">
                  <c:v>21706013.0</c:v>
                </c:pt>
                <c:pt idx="4">
                  <c:v>20339947.0</c:v>
                </c:pt>
                <c:pt idx="5">
                  <c:v>17063521.0</c:v>
                </c:pt>
                <c:pt idx="6">
                  <c:v>8600612.0</c:v>
                </c:pt>
                <c:pt idx="7">
                  <c:v>6359672.0</c:v>
                </c:pt>
                <c:pt idx="8">
                  <c:v>5337396.0</c:v>
                </c:pt>
                <c:pt idx="9">
                  <c:v>4132981.0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市場整體（各期） 趨勢外推走勢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流通卡數</c:v>
                </c:pt>
              </c:strCache>
            </c:strRef>
          </c:tx>
          <c:cat>
            <c:strRef>
              <c:f>Sheet1!$A$2:$A$16</c:f>
              <c:strCache>
                <c:ptCount val="15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  <c:pt idx="12">
                  <c:v>預測+1</c:v>
                </c:pt>
                <c:pt idx="13">
                  <c:v>預測+2</c:v>
                </c:pt>
                <c:pt idx="14">
                  <c:v>預測+3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58654745.0</c:v>
                </c:pt>
                <c:pt idx="1">
                  <c:v>58747562.0</c:v>
                </c:pt>
                <c:pt idx="2">
                  <c:v>58994262.0</c:v>
                </c:pt>
                <c:pt idx="3">
                  <c:v>59388667.0</c:v>
                </c:pt>
                <c:pt idx="4">
                  <c:v>59795907.0</c:v>
                </c:pt>
                <c:pt idx="5">
                  <c:v>59869255.0</c:v>
                </c:pt>
                <c:pt idx="6">
                  <c:v>59947219.0</c:v>
                </c:pt>
                <c:pt idx="7">
                  <c:v>60149284.0</c:v>
                </c:pt>
                <c:pt idx="8">
                  <c:v>60354497.0</c:v>
                </c:pt>
                <c:pt idx="9">
                  <c:v>60479206.0</c:v>
                </c:pt>
                <c:pt idx="10">
                  <c:v>60424521.0</c:v>
                </c:pt>
                <c:pt idx="11">
                  <c:v>60485911.0</c:v>
                </c:pt>
                <c:pt idx="12">
                  <c:v>60946919.1364</c:v>
                </c:pt>
                <c:pt idx="13">
                  <c:v>61127329.3112</c:v>
                </c:pt>
                <c:pt idx="14">
                  <c:v>61307739.486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有效卡數</c:v>
                </c:pt>
              </c:strCache>
            </c:strRef>
          </c:tx>
          <c:cat>
            <c:strRef>
              <c:f>Sheet1!$A$2:$A$16</c:f>
              <c:strCache>
                <c:ptCount val="15"/>
                <c:pt idx="0">
                  <c:v>11401</c:v>
                </c:pt>
                <c:pt idx="1">
                  <c:v>11402</c:v>
                </c:pt>
                <c:pt idx="2">
                  <c:v>11403</c:v>
                </c:pt>
                <c:pt idx="3">
                  <c:v>11404</c:v>
                </c:pt>
                <c:pt idx="4">
                  <c:v>11405</c:v>
                </c:pt>
                <c:pt idx="5">
                  <c:v>11406</c:v>
                </c:pt>
                <c:pt idx="6">
                  <c:v>11407</c:v>
                </c:pt>
                <c:pt idx="7">
                  <c:v>11408</c:v>
                </c:pt>
                <c:pt idx="8">
                  <c:v>11409</c:v>
                </c:pt>
                <c:pt idx="9">
                  <c:v>11410</c:v>
                </c:pt>
                <c:pt idx="10">
                  <c:v>11411</c:v>
                </c:pt>
                <c:pt idx="11">
                  <c:v>11412</c:v>
                </c:pt>
                <c:pt idx="12">
                  <c:v>預測+1</c:v>
                </c:pt>
                <c:pt idx="13">
                  <c:v>預測+2</c:v>
                </c:pt>
                <c:pt idx="14">
                  <c:v>預測+3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39072550.0</c:v>
                </c:pt>
                <c:pt idx="1">
                  <c:v>39190270.0</c:v>
                </c:pt>
                <c:pt idx="2">
                  <c:v>39250194.0</c:v>
                </c:pt>
                <c:pt idx="3">
                  <c:v>39415942.0</c:v>
                </c:pt>
                <c:pt idx="4">
                  <c:v>39542944.0</c:v>
                </c:pt>
                <c:pt idx="5">
                  <c:v>39622444.0</c:v>
                </c:pt>
                <c:pt idx="6">
                  <c:v>39861195.0</c:v>
                </c:pt>
                <c:pt idx="7">
                  <c:v>39931101.0</c:v>
                </c:pt>
                <c:pt idx="8">
                  <c:v>40185047.0</c:v>
                </c:pt>
                <c:pt idx="9">
                  <c:v>40376943.0</c:v>
                </c:pt>
                <c:pt idx="10">
                  <c:v>40466935.0</c:v>
                </c:pt>
                <c:pt idx="11">
                  <c:v>40554453.0</c:v>
                </c:pt>
                <c:pt idx="12">
                  <c:v>40719325.1667</c:v>
                </c:pt>
                <c:pt idx="13">
                  <c:v>40862426.2436</c:v>
                </c:pt>
                <c:pt idx="14">
                  <c:v>41005527.3205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循環信用餘額 占比：業者間差異明顯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11412</c:v>
                </c:pt>
              </c:strCache>
            </c:strRef>
          </c:tx>
          <c:cat>
            <c:strRef>
              <c:f>Sheet1!$A$2:$A$34</c:f>
              <c:strCache>
                <c:ptCount val="33"/>
                <c:pt idx="0">
                  <c:v>臺灣銀行</c:v>
                </c:pt>
                <c:pt idx="1">
                  <c:v>臺灣土地銀行</c:v>
                </c:pt>
                <c:pt idx="2">
                  <c:v>合作金庫商業銀行</c:v>
                </c:pt>
                <c:pt idx="3">
                  <c:v>第一商業銀行</c:v>
                </c:pt>
                <c:pt idx="4">
                  <c:v>華南商業銀行</c:v>
                </c:pt>
                <c:pt idx="5">
                  <c:v>彰化商業銀行</c:v>
                </c:pt>
                <c:pt idx="6">
                  <c:v>上海商業儲蓄銀行</c:v>
                </c:pt>
                <c:pt idx="7">
                  <c:v>台北富邦商業銀行</c:v>
                </c:pt>
                <c:pt idx="8">
                  <c:v>國泰世華商業銀行</c:v>
                </c:pt>
                <c:pt idx="9">
                  <c:v>高雄銀行</c:v>
                </c:pt>
                <c:pt idx="10">
                  <c:v>兆豐國際商業銀行</c:v>
                </c:pt>
                <c:pt idx="11">
                  <c:v>花旗(台灣)商業銀行</c:v>
                </c:pt>
                <c:pt idx="12">
                  <c:v>臺灣中小企業銀行</c:v>
                </c:pt>
                <c:pt idx="13">
                  <c:v>渣打國際商業銀行</c:v>
                </c:pt>
                <c:pt idx="14">
                  <c:v>台中商業銀行</c:v>
                </c:pt>
                <c:pt idx="15">
                  <c:v>滙豐(台灣)商業銀行</c:v>
                </c:pt>
                <c:pt idx="16">
                  <c:v>華泰商業銀行</c:v>
                </c:pt>
                <c:pt idx="17">
                  <c:v>臺灣新光商業銀行</c:v>
                </c:pt>
                <c:pt idx="18">
                  <c:v>陽信商業銀行</c:v>
                </c:pt>
                <c:pt idx="19">
                  <c:v>三信商業銀行</c:v>
                </c:pt>
                <c:pt idx="20">
                  <c:v>聯邦商業銀行</c:v>
                </c:pt>
                <c:pt idx="21">
                  <c:v>遠東國際商業銀行</c:v>
                </c:pt>
                <c:pt idx="22">
                  <c:v>元大商業銀行</c:v>
                </c:pt>
                <c:pt idx="23">
                  <c:v>永豐商業銀行</c:v>
                </c:pt>
                <c:pt idx="24">
                  <c:v>玉山商業銀行</c:v>
                </c:pt>
                <c:pt idx="25">
                  <c:v>凱基商業銀行</c:v>
                </c:pt>
                <c:pt idx="26">
                  <c:v>星展(台灣)商業銀行</c:v>
                </c:pt>
                <c:pt idx="27">
                  <c:v>台新國際商業銀行</c:v>
                </c:pt>
                <c:pt idx="28">
                  <c:v>安泰商業銀行</c:v>
                </c:pt>
                <c:pt idx="29">
                  <c:v>中國信託商業銀行</c:v>
                </c:pt>
                <c:pt idx="30">
                  <c:v>台灣樂天信用卡股份有限公司</c:v>
                </c:pt>
                <c:pt idx="31">
                  <c:v>台灣美國運通國際(股)公司</c:v>
                </c:pt>
                <c:pt idx="32">
                  <c:v>總計</c:v>
                </c:pt>
              </c:strCache>
            </c: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0.1366</c:v>
                </c:pt>
                <c:pt idx="1">
                  <c:v>0.2632</c:v>
                </c:pt>
                <c:pt idx="2">
                  <c:v>0.8347</c:v>
                </c:pt>
                <c:pt idx="3">
                  <c:v>1.0937</c:v>
                </c:pt>
                <c:pt idx="4">
                  <c:v>1.0121</c:v>
                </c:pt>
                <c:pt idx="5">
                  <c:v>0.3232</c:v>
                </c:pt>
                <c:pt idx="6">
                  <c:v>0.5613</c:v>
                </c:pt>
                <c:pt idx="7">
                  <c:v>9.6706</c:v>
                </c:pt>
                <c:pt idx="8">
                  <c:v>18.696</c:v>
                </c:pt>
                <c:pt idx="9">
                  <c:v>0.0118</c:v>
                </c:pt>
                <c:pt idx="10">
                  <c:v>1.317</c:v>
                </c:pt>
                <c:pt idx="11">
                  <c:v>0.0</c:v>
                </c:pt>
                <c:pt idx="12">
                  <c:v>0.2236</c:v>
                </c:pt>
                <c:pt idx="13">
                  <c:v>0.6932</c:v>
                </c:pt>
                <c:pt idx="14">
                  <c:v>0.1865</c:v>
                </c:pt>
                <c:pt idx="15">
                  <c:v>1.443</c:v>
                </c:pt>
                <c:pt idx="16">
                  <c:v>0.0061</c:v>
                </c:pt>
                <c:pt idx="17">
                  <c:v>1.3987</c:v>
                </c:pt>
                <c:pt idx="18">
                  <c:v>0.1481</c:v>
                </c:pt>
                <c:pt idx="19">
                  <c:v>0.0314</c:v>
                </c:pt>
                <c:pt idx="20">
                  <c:v>5.5591</c:v>
                </c:pt>
                <c:pt idx="21">
                  <c:v>2.6864</c:v>
                </c:pt>
                <c:pt idx="22">
                  <c:v>0.993</c:v>
                </c:pt>
                <c:pt idx="23">
                  <c:v>3.2872</c:v>
                </c:pt>
                <c:pt idx="24">
                  <c:v>15.1429</c:v>
                </c:pt>
                <c:pt idx="25">
                  <c:v>1.0819</c:v>
                </c:pt>
                <c:pt idx="26">
                  <c:v>7.5175</c:v>
                </c:pt>
                <c:pt idx="27">
                  <c:v>9.5411</c:v>
                </c:pt>
                <c:pt idx="28">
                  <c:v>0.1211</c:v>
                </c:pt>
                <c:pt idx="29">
                  <c:v>15.1041</c:v>
                </c:pt>
                <c:pt idx="30">
                  <c:v>0.697</c:v>
                </c:pt>
                <c:pt idx="31">
                  <c:v>0.2181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preserve="1">
  <p:cSld name="標題投影片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026A16C4-3BD0-72DB-C8B5-239F03494B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14" name="Google Shape;14;p7"/>
          <p:cNvSpPr txBox="1">
            <a:spLocks noGrp="1"/>
          </p:cNvSpPr>
          <p:nvPr>
            <p:ph type="title"/>
          </p:nvPr>
        </p:nvSpPr>
        <p:spPr>
          <a:xfrm>
            <a:off x="1114515" y="1278736"/>
            <a:ext cx="99627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3000"/>
              <a:buNone/>
              <a:defRPr sz="30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7"/>
          <p:cNvSpPr txBox="1">
            <a:spLocks noGrp="1"/>
          </p:cNvSpPr>
          <p:nvPr>
            <p:ph type="body" idx="1"/>
          </p:nvPr>
        </p:nvSpPr>
        <p:spPr>
          <a:xfrm>
            <a:off x="1114350" y="2394796"/>
            <a:ext cx="9963300" cy="30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E171B"/>
              </a:buClr>
              <a:buSzPts val="2400"/>
              <a:buChar char="●"/>
              <a:defRPr i="0">
                <a:solidFill>
                  <a:srgbClr val="4F4F4F"/>
                </a:solidFill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Char char="●"/>
              <a:defRPr i="0">
                <a:solidFill>
                  <a:srgbClr val="4F4F4F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Char char="■"/>
              <a:defRPr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800"/>
              <a:buNone/>
              <a:defRPr b="1"/>
            </a:lvl4pPr>
            <a:lvl5pPr marL="2286000" lvl="4" indent="-3238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500"/>
              <a:buChar char="•"/>
              <a:defRPr sz="1500" b="1"/>
            </a:lvl5pPr>
            <a:lvl6pPr marL="2743200" lvl="5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400"/>
              <a:buChar char="•"/>
              <a:defRPr sz="1400" b="1">
                <a:solidFill>
                  <a:srgbClr val="464444"/>
                </a:solidFill>
              </a:defRPr>
            </a:lvl6pPr>
            <a:lvl7pPr marL="3200400" lvl="6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200"/>
              <a:buChar char="•"/>
              <a:defRPr sz="1200" b="1">
                <a:solidFill>
                  <a:srgbClr val="464444"/>
                </a:solidFill>
              </a:defRPr>
            </a:lvl7pPr>
            <a:lvl8pPr marL="3657600" lvl="7" indent="-2921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1000"/>
              <a:buChar char="•"/>
              <a:defRPr sz="1000" b="1">
                <a:solidFill>
                  <a:srgbClr val="464444"/>
                </a:solidFill>
              </a:defRPr>
            </a:lvl8pPr>
            <a:lvl9pPr marL="4114800" lvl="8" indent="-279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E171B"/>
              </a:buClr>
              <a:buSzPts val="800"/>
              <a:buChar char="•"/>
              <a:defRPr sz="800" b="1">
                <a:solidFill>
                  <a:srgbClr val="464444"/>
                </a:solidFill>
              </a:defRPr>
            </a:lvl9pPr>
          </a:lstStyle>
          <a:p>
            <a:endParaRPr/>
          </a:p>
        </p:txBody>
      </p:sp>
      <p:cxnSp>
        <p:nvCxnSpPr>
          <p:cNvPr id="16" name="Google Shape;16;p7"/>
          <p:cNvCxnSpPr/>
          <p:nvPr/>
        </p:nvCxnSpPr>
        <p:spPr>
          <a:xfrm>
            <a:off x="1114515" y="2056042"/>
            <a:ext cx="9962700" cy="0"/>
          </a:xfrm>
          <a:prstGeom prst="straightConnector1">
            <a:avLst/>
          </a:prstGeom>
          <a:noFill/>
          <a:ln w="19050" cap="flat" cmpd="sng">
            <a:solidFill>
              <a:srgbClr val="A5A5A5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7" name="Google Shape;17;p7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20488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標題投影片" preserve="1">
  <p:cSld name="2_標題投影片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 的圖片&#10;&#10;AI 產生的內容可能不正確。">
            <a:extLst>
              <a:ext uri="{FF2B5EF4-FFF2-40B4-BE49-F238E27FC236}">
                <a16:creationId xmlns:a16="http://schemas.microsoft.com/office/drawing/2014/main" id="{E912A1DA-C32A-79BA-3D45-A52103A38D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19" name="Google Shape;19;p8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8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460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標題投影片" preserve="1">
  <p:cSld name="3_標題投影片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圖形, 設計 的圖片&#10;&#10;AI 產生的內容可能不正確。">
            <a:extLst>
              <a:ext uri="{FF2B5EF4-FFF2-40B4-BE49-F238E27FC236}">
                <a16:creationId xmlns:a16="http://schemas.microsoft.com/office/drawing/2014/main" id="{C649EEB2-B486-967D-A023-BE167D421E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pic>
        <p:nvPicPr>
          <p:cNvPr id="22" name="Google Shape;22;p9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0600" y="5618832"/>
            <a:ext cx="2830550" cy="1077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9"/>
          <p:cNvSpPr txBox="1">
            <a:spLocks noGrp="1"/>
          </p:cNvSpPr>
          <p:nvPr>
            <p:ph type="title"/>
          </p:nvPr>
        </p:nvSpPr>
        <p:spPr>
          <a:xfrm>
            <a:off x="1114531" y="1640061"/>
            <a:ext cx="9962700" cy="21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4F4F"/>
              </a:buClr>
              <a:buSzPts val="4400"/>
              <a:buNone/>
              <a:defRPr sz="4400" i="0">
                <a:solidFill>
                  <a:srgbClr val="4F4F4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3661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標題及內容" preserve="1">
  <p:cSld name="1_標題及內容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368595" y="1247553"/>
            <a:ext cx="11242500" cy="48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CC181D"/>
              </a:buClr>
              <a:buSzPts val="2400"/>
              <a:buFont typeface="Noto Sans Symbols"/>
              <a:buChar char="■"/>
              <a:defRPr sz="2400" b="1"/>
            </a:lvl1pPr>
            <a:lvl2pPr marL="914400" lvl="1" indent="-355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2000"/>
              <a:buFont typeface="Noto Sans Symbols"/>
              <a:buChar char="●"/>
              <a:defRPr sz="2000" b="1"/>
            </a:lvl2pPr>
            <a:lvl3pPr marL="1371600" lvl="2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600"/>
              <a:buFont typeface="Noto Sans Symbols"/>
              <a:buChar char="●"/>
              <a:defRPr sz="1600" b="1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200"/>
              <a:buFont typeface="Arial"/>
              <a:buChar char="•"/>
              <a:defRPr sz="1200" b="1"/>
            </a:lvl4pPr>
            <a:lvl5pPr marL="2286000" lvl="4" indent="-31432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CC181D"/>
              </a:buClr>
              <a:buSzPts val="1350"/>
              <a:buFont typeface="Noto Sans Symbols"/>
              <a:buChar char="●"/>
              <a:defRPr sz="1350" b="1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49956" y="259072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656565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sp>
        <p:nvSpPr>
          <p:cNvPr id="28" name="Google Shape;28;p10"/>
          <p:cNvSpPr txBox="1"/>
          <p:nvPr/>
        </p:nvSpPr>
        <p:spPr>
          <a:xfrm>
            <a:off x="-2146501" y="-1235899"/>
            <a:ext cx="11261019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Noto Sans"/>
              <a:buNone/>
            </a:pPr>
            <a:endParaRPr sz="3000" b="1" i="0" u="none" strike="noStrike" cap="none">
              <a:solidFill>
                <a:srgbClr val="464444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pic>
        <p:nvPicPr>
          <p:cNvPr id="29" name="Google Shape;29;p10" title="標語_中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311550" y="6534225"/>
            <a:ext cx="1071550" cy="1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10" title="金控_中_彩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248175"/>
            <a:ext cx="1602775" cy="6098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1" name="Google Shape;31;p10"/>
          <p:cNvCxnSpPr/>
          <p:nvPr/>
        </p:nvCxnSpPr>
        <p:spPr>
          <a:xfrm>
            <a:off x="1597301" y="6445831"/>
            <a:ext cx="8341800" cy="0"/>
          </a:xfrm>
          <a:prstGeom prst="straightConnector1">
            <a:avLst/>
          </a:prstGeom>
          <a:noFill/>
          <a:ln w="19050" cap="flat" cmpd="sng">
            <a:solidFill>
              <a:srgbClr val="D70C18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Google Shape;32;p10"/>
          <p:cNvCxnSpPr/>
          <p:nvPr/>
        </p:nvCxnSpPr>
        <p:spPr>
          <a:xfrm rot="10800000">
            <a:off x="9939225" y="6445838"/>
            <a:ext cx="1446600" cy="0"/>
          </a:xfrm>
          <a:prstGeom prst="straightConnector1">
            <a:avLst/>
          </a:prstGeom>
          <a:noFill/>
          <a:ln w="19050" cap="flat" cmpd="sng">
            <a:solidFill>
              <a:srgbClr val="D8D8D8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1964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章節標題" preserve="1">
  <p:cSld name="2_章節標題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3B5AF3D8-B199-5417-755A-9D51D04F6E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" y="0"/>
            <a:ext cx="12187066" cy="6858000"/>
          </a:xfrm>
          <a:prstGeom prst="rect">
            <a:avLst/>
          </a:prstGeom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1851" y="4128475"/>
            <a:ext cx="105156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4800"/>
              <a:buNone/>
              <a:defRPr sz="4800" i="0">
                <a:solidFill>
                  <a:srgbClr val="464444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>
            <a:endParaRPr/>
          </a:p>
        </p:txBody>
      </p:sp>
      <p:pic>
        <p:nvPicPr>
          <p:cNvPr id="35" name="Google Shape;35;p11" title="金控_中_白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8100" y="688548"/>
            <a:ext cx="5575550" cy="2121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4860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D00B95-F112-B8B7-381C-1E417E4AB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7BE2AAC-90E4-D32C-C2EC-A159487F55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8B5046B-CF36-90D5-96AF-C53DBA745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F5755-7018-4945-A46B-2B4DE79FC767}" type="datetimeFigureOut">
              <a:rPr kumimoji="1" lang="zh-TW" altLang="en-US" smtClean="0"/>
              <a:t>2026/5/26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C4874EB-7423-DBD2-1C7B-424E851D8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530B08D-6B26-34AE-92D0-8D2AB1E7F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7DD83-9373-1C49-B3EB-CD40710A3CC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62667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body" idx="1"/>
          </p:nvPr>
        </p:nvSpPr>
        <p:spPr>
          <a:xfrm>
            <a:off x="519290" y="1176425"/>
            <a:ext cx="11091600" cy="50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F0000"/>
              </a:buClr>
              <a:buSzPts val="2400"/>
              <a:buFont typeface="Microsoft JhengHei"/>
              <a:buChar char="■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2000"/>
              <a:buFont typeface="Microsoft JhengHei"/>
              <a:buChar char="■"/>
              <a:defRPr sz="2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F0000"/>
              </a:buClr>
              <a:buSzPts val="1600"/>
              <a:buFont typeface="Microsoft JhengHei"/>
              <a:buChar char="■"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1600"/>
              <a:buFont typeface="Microsoft JhengHei"/>
              <a:buNone/>
              <a:defRPr sz="16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2286000" marR="0" lvl="4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464444"/>
              </a:buClr>
              <a:buSzPts val="2400"/>
              <a:buFont typeface="Microsoft JhengHei"/>
              <a:buChar char="•"/>
              <a:defRPr sz="24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icrosoft JhengHei"/>
              <a:buChar char="•"/>
              <a:defRPr sz="1800" b="1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title"/>
          </p:nvPr>
        </p:nvSpPr>
        <p:spPr>
          <a:xfrm>
            <a:off x="519290" y="259072"/>
            <a:ext cx="11091685" cy="759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64444"/>
              </a:buClr>
              <a:buSzPts val="3000"/>
              <a:buFont typeface="Microsoft JhengHei"/>
              <a:buNone/>
              <a:defRPr sz="3000" b="1" i="0" u="none" strike="noStrike" cap="none">
                <a:solidFill>
                  <a:srgbClr val="464444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icrosoft JhengHei"/>
              <a:buNone/>
              <a:defRPr sz="1800" i="0" u="none" strike="noStrike" cap="none">
                <a:solidFill>
                  <a:srgbClr val="000000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sldNum" idx="12"/>
          </p:nvPr>
        </p:nvSpPr>
        <p:spPr>
          <a:xfrm flipH="1">
            <a:off x="11397425" y="6394525"/>
            <a:ext cx="651300" cy="3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i="0" u="none" strike="noStrike" cap="none">
                <a:solidFill>
                  <a:srgbClr val="7F7F7F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558018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06FCBD-1057-479C-BDC5-C41CA873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信用卡市場分析與經營洞察</a:t>
            </a:r>
          </a:p>
        </p:txBody>
      </p:sp>
    </p:spTree>
    <p:extLst>
      <p:ext uri="{BB962C8B-B14F-4D97-AF65-F5344CB8AC3E}">
        <p14:creationId xmlns:p14="http://schemas.microsoft.com/office/powerpoint/2010/main" val="586763950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sz="1600"/>
              <a:t>01　Executive Summary</a:t>
            </a:r>
          </a:p>
          <a:p>
            <a:pPr/>
            <a:r>
              <a:rPr sz="1600"/>
              <a:t>02　市場整體概況</a:t>
            </a:r>
          </a:p>
          <a:p>
            <a:pPr/>
            <a:r>
              <a:rPr sz="1600"/>
              <a:t>03　同業成長及競爭分析</a:t>
            </a:r>
          </a:p>
          <a:p>
            <a:pPr/>
            <a:r>
              <a:rPr sz="1600"/>
              <a:t>04　客戶活躍度</a:t>
            </a:r>
          </a:p>
          <a:p>
            <a:pPr/>
            <a:r>
              <a:rPr sz="1600"/>
              <a:t>05　獲利能力</a:t>
            </a:r>
          </a:p>
          <a:p>
            <a:pPr/>
            <a:r>
              <a:rPr sz="1600"/>
              <a:t>06　風險與警訊</a:t>
            </a:r>
          </a:p>
          <a:p>
            <a:pPr/>
            <a:r>
              <a:rPr sz="1600"/>
              <a:t>07　未來趨勢推測</a:t>
            </a:r>
          </a:p>
          <a:p>
            <a:pPr/>
            <a:r>
              <a:rPr sz="1600"/>
              <a:t>08　對台新的策略建議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循環信用餘額 Top 10呈現明顯的業者集中態勢</a:t>
            </a:r>
          </a:p>
          <a:p>
            <a:pPr lvl="1"/>
            <a:r>
              <a:rPr sz="1200"/>
              <a:t>領先者 國泰世華商業銀行 達 22,171,305</a:t>
            </a:r>
          </a:p>
          <a:p>
            <a:pPr lvl="1"/>
            <a:r>
              <a:rPr sz="1200"/>
              <a:t>末位者僅 1,711,263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關鍵指標總覽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048"/>
                <a:gridCol w="944048"/>
                <a:gridCol w="944048"/>
                <a:gridCol w="944048"/>
                <a:gridCol w="944048"/>
                <a:gridCol w="944048"/>
                <a:gridCol w="944052"/>
              </a:tblGrid>
              <a:tr h="44364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11407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11408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11409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11410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11411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11412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國泰世華商業銀行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21,498,691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21,731,907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21,005,803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22,203,076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22,402,903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22,171,305</a:t>
                      </a:r>
                    </a:p>
                  </a:txBody>
                  <a:tcPr/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玉山商業銀行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16,742,064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16,199,399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18,455,493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17,838,541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16,967,594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17,957,715</a:t>
                      </a:r>
                    </a:p>
                  </a:txBody>
                  <a:tcPr/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中國信託商業銀行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17,294,253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17,382,240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17,442,113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17,767,469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17,601,608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17,911,768</a:t>
                      </a:r>
                    </a:p>
                  </a:txBody>
                  <a:tcPr/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台北富邦商業銀行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10,918,708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11,136,559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11,389,102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11,229,397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11,517,715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11,468,186</a:t>
                      </a:r>
                    </a:p>
                  </a:txBody>
                  <a:tcPr/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台新國際商業銀行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10,977,018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11,058,630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11,120,714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11,208,334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11,256,633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11,314,621</a:t>
                      </a:r>
                    </a:p>
                  </a:txBody>
                  <a:tcPr/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星展(台灣)商業銀行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8,605,492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8,725,605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8,781,277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8,828,768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8,899,477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8,914,937</a:t>
                      </a:r>
                    </a:p>
                  </a:txBody>
                  <a:tcPr/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聯邦商業銀行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6,462,121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6,473,412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6,529,968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6,565,629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6,536,915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6,592,497</a:t>
                      </a:r>
                    </a:p>
                  </a:txBody>
                  <a:tcPr/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永豐商業銀行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3,798,200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3,949,911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4,045,805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3,865,865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3,856,324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3,898,214</a:t>
                      </a:r>
                    </a:p>
                  </a:txBody>
                  <a:tcPr/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遠東國際商業銀行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3,152,668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3,249,738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3,254,115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3,177,730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3,520,455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3,185,712</a:t>
                      </a:r>
                    </a:p>
                  </a:txBody>
                  <a:tcPr/>
                </a:tc>
              </a:tr>
              <a:tr h="443650">
                <a:tc>
                  <a:txBody>
                    <a:bodyPr/>
                    <a:lstStyle/>
                    <a:p>
                      <a:r>
                        <a:rPr sz="1100" b="0"/>
                        <a:t>滙豐(台灣)商業銀行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1,718,970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1,684,670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1,644,409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1,702,698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1,694,352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1,711,263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市場整體概況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市場整體（各期）呈現明顯的業者集中態勢</a:t>
            </a:r>
          </a:p>
          <a:p>
            <a:pPr lvl="1"/>
            <a:r>
              <a:rPr sz="1200"/>
              <a:t>領先者 11401 達 654,750</a:t>
            </a:r>
          </a:p>
          <a:p>
            <a:pPr lvl="1"/>
            <a:r>
              <a:rPr sz="1200"/>
              <a:t>末位者僅 572,496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市場規模趨勢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市場整體（各期） 期間成長率呈現明顯的業者集中態勢</a:t>
            </a:r>
          </a:p>
          <a:p>
            <a:pPr lvl="1"/>
            <a:r>
              <a:rPr sz="1200"/>
              <a:t>領先者 11409 達 10.5%</a:t>
            </a:r>
          </a:p>
          <a:p>
            <a:pPr lvl="1"/>
            <a:r>
              <a:rPr sz="1200"/>
              <a:t>末位者僅 -6.7%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市場動能檢視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同業成長及競爭分析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循環信用餘額 占比 Top 10呈現明顯的業者集中態勢</a:t>
            </a:r>
          </a:p>
          <a:p>
            <a:pPr lvl="1"/>
            <a:r>
              <a:rPr sz="1200"/>
              <a:t>領先者 國泰世華商業銀行 達 18.7%</a:t>
            </a:r>
          </a:p>
          <a:p>
            <a:pPr lvl="1"/>
            <a:r>
              <a:rPr sz="1200"/>
              <a:t>末位者僅 1.4%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市占結構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客戶活躍度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有效卡數 Top 10呈現明顯的業者集中態勢</a:t>
            </a:r>
          </a:p>
          <a:p>
            <a:pPr lvl="1"/>
            <a:r>
              <a:rPr sz="1200"/>
              <a:t>領先者 中國信託商業銀行 達 6,685,860</a:t>
            </a:r>
          </a:p>
          <a:p>
            <a:pPr lvl="1"/>
            <a:r>
              <a:rPr sz="1200"/>
              <a:t>末位者僅 910,122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有效卡數表現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獲利能力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未到期分期付款餘額 Top 10呈現明顯的業者集中態勢</a:t>
            </a:r>
          </a:p>
          <a:p>
            <a:pPr lvl="1"/>
            <a:r>
              <a:rPr sz="1200"/>
              <a:t>領先者 台北富邦商業銀行 達 32,786,476</a:t>
            </a:r>
          </a:p>
          <a:p>
            <a:pPr lvl="1"/>
            <a:r>
              <a:rPr sz="1200"/>
              <a:t>末位者僅 4,132,981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循環信用與分期貢獻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風險與警訊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當月轉銷呆帳金額 Top 10呈現明顯的業者集中態勢</a:t>
            </a:r>
          </a:p>
          <a:p>
            <a:pPr lvl="1"/>
            <a:r>
              <a:rPr sz="1200"/>
              <a:t>領先者 台北富邦商業銀行 達 95,338</a:t>
            </a:r>
          </a:p>
          <a:p>
            <a:pPr lvl="1"/>
            <a:r>
              <a:rPr sz="1200"/>
              <a:t>末位者僅 13,781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轉銷呆帳分佈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048"/>
                <a:gridCol w="944048"/>
                <a:gridCol w="944048"/>
                <a:gridCol w="944048"/>
                <a:gridCol w="944048"/>
                <a:gridCol w="944048"/>
                <a:gridCol w="944052"/>
              </a:tblGrid>
              <a:tr h="44364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11407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11408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11409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11410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11411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11412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台北富邦商業銀行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89,069</a:t>
                      </a:r>
                    </a:p>
                  </a:txBody>
                  <a:tcPr>
                    <a:solidFill>
                      <a:srgbClr val="354C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79,550</a:t>
                      </a:r>
                    </a:p>
                  </a:txBody>
                  <a:tcPr>
                    <a:solidFill>
                      <a:srgbClr val="485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89,614</a:t>
                      </a:r>
                    </a:p>
                  </a:txBody>
                  <a:tcPr>
                    <a:solidFill>
                      <a:srgbClr val="334B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98,784</a:t>
                      </a:r>
                    </a:p>
                  </a:txBody>
                  <a:tcPr>
                    <a:solidFill>
                      <a:srgbClr val="213A6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87,883</a:t>
                      </a:r>
                    </a:p>
                  </a:txBody>
                  <a:tcPr>
                    <a:solidFill>
                      <a:srgbClr val="374E7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95,338</a:t>
                      </a:r>
                    </a:p>
                  </a:txBody>
                  <a:tcPr>
                    <a:solidFill>
                      <a:srgbClr val="28406B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國泰世華商業銀行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92,817</a:t>
                      </a:r>
                    </a:p>
                  </a:txBody>
                  <a:tcPr>
                    <a:solidFill>
                      <a:srgbClr val="2D45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92,132</a:t>
                      </a:r>
                    </a:p>
                  </a:txBody>
                  <a:tcPr>
                    <a:solidFill>
                      <a:srgbClr val="2E46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96,087</a:t>
                      </a:r>
                    </a:p>
                  </a:txBody>
                  <a:tcPr>
                    <a:solidFill>
                      <a:srgbClr val="263F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99,743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95,561</a:t>
                      </a:r>
                    </a:p>
                  </a:txBody>
                  <a:tcPr>
                    <a:solidFill>
                      <a:srgbClr val="27406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94,669</a:t>
                      </a:r>
                    </a:p>
                  </a:txBody>
                  <a:tcPr>
                    <a:solidFill>
                      <a:srgbClr val="29416C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中國信託商業銀行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88,612</a:t>
                      </a:r>
                    </a:p>
                  </a:txBody>
                  <a:tcPr>
                    <a:solidFill>
                      <a:srgbClr val="354D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86,060</a:t>
                      </a:r>
                    </a:p>
                  </a:txBody>
                  <a:tcPr>
                    <a:solidFill>
                      <a:srgbClr val="3B51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87,222</a:t>
                      </a:r>
                    </a:p>
                  </a:txBody>
                  <a:tcPr>
                    <a:solidFill>
                      <a:srgbClr val="384F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89,395</a:t>
                      </a:r>
                    </a:p>
                  </a:txBody>
                  <a:tcPr>
                    <a:solidFill>
                      <a:srgbClr val="344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96,371</a:t>
                      </a:r>
                    </a:p>
                  </a:txBody>
                  <a:tcPr>
                    <a:solidFill>
                      <a:srgbClr val="263E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92,455</a:t>
                      </a:r>
                    </a:p>
                  </a:txBody>
                  <a:tcPr>
                    <a:solidFill>
                      <a:srgbClr val="2E466F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玉山商業銀行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87,058</a:t>
                      </a:r>
                    </a:p>
                  </a:txBody>
                  <a:tcPr>
                    <a:solidFill>
                      <a:srgbClr val="3950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87,712</a:t>
                      </a:r>
                    </a:p>
                  </a:txBody>
                  <a:tcPr>
                    <a:solidFill>
                      <a:srgbClr val="374E7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85,589</a:t>
                      </a:r>
                    </a:p>
                  </a:txBody>
                  <a:tcPr>
                    <a:solidFill>
                      <a:srgbClr val="3C52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84,896</a:t>
                      </a:r>
                    </a:p>
                  </a:txBody>
                  <a:tcPr>
                    <a:solidFill>
                      <a:srgbClr val="3D547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85,479</a:t>
                      </a:r>
                    </a:p>
                  </a:txBody>
                  <a:tcPr>
                    <a:solidFill>
                      <a:srgbClr val="3C52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84,032</a:t>
                      </a:r>
                    </a:p>
                  </a:txBody>
                  <a:tcPr>
                    <a:solidFill>
                      <a:srgbClr val="3F557C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星展(台灣)商業銀行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50,401</a:t>
                      </a:r>
                    </a:p>
                  </a:txBody>
                  <a:tcPr>
                    <a:solidFill>
                      <a:srgbClr val="8294A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48,484</a:t>
                      </a:r>
                    </a:p>
                  </a:txBody>
                  <a:tcPr>
                    <a:solidFill>
                      <a:srgbClr val="8697B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61,790</a:t>
                      </a:r>
                    </a:p>
                  </a:txBody>
                  <a:tcPr>
                    <a:solidFill>
                      <a:srgbClr val="6B7E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47,446</a:t>
                      </a:r>
                    </a:p>
                  </a:txBody>
                  <a:tcPr>
                    <a:solidFill>
                      <a:srgbClr val="8899B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46,745</a:t>
                      </a:r>
                    </a:p>
                  </a:txBody>
                  <a:tcPr>
                    <a:solidFill>
                      <a:srgbClr val="8A9A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FFFFF"/>
                          </a:solidFill>
                        </a:rPr>
                        <a:t>58,158</a:t>
                      </a:r>
                    </a:p>
                  </a:txBody>
                  <a:tcPr>
                    <a:solidFill>
                      <a:srgbClr val="7385A3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台新國際商業銀行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46,174</a:t>
                      </a:r>
                    </a:p>
                  </a:txBody>
                  <a:tcPr>
                    <a:solidFill>
                      <a:srgbClr val="8B9BB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43,618</a:t>
                      </a:r>
                    </a:p>
                  </a:txBody>
                  <a:tcPr>
                    <a:solidFill>
                      <a:srgbClr val="90A0B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47,922</a:t>
                      </a:r>
                    </a:p>
                  </a:txBody>
                  <a:tcPr>
                    <a:solidFill>
                      <a:srgbClr val="8798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44,654</a:t>
                      </a:r>
                    </a:p>
                  </a:txBody>
                  <a:tcPr>
                    <a:solidFill>
                      <a:srgbClr val="8E9EB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47,175</a:t>
                      </a:r>
                    </a:p>
                  </a:txBody>
                  <a:tcPr>
                    <a:solidFill>
                      <a:srgbClr val="899AB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42,858</a:t>
                      </a:r>
                    </a:p>
                  </a:txBody>
                  <a:tcPr>
                    <a:solidFill>
                      <a:srgbClr val="92A2BA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華南商業銀行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24,093</a:t>
                      </a:r>
                    </a:p>
                  </a:txBody>
                  <a:tcPr>
                    <a:solidFill>
                      <a:srgbClr val="B7C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29,703</a:t>
                      </a:r>
                    </a:p>
                  </a:txBody>
                  <a:tcPr>
                    <a:solidFill>
                      <a:srgbClr val="ACBACD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聯邦商業銀行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23,634</a:t>
                      </a:r>
                    </a:p>
                  </a:txBody>
                  <a:tcPr>
                    <a:solidFill>
                      <a:srgbClr val="B8C5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22,896</a:t>
                      </a:r>
                    </a:p>
                  </a:txBody>
                  <a:tcPr>
                    <a:solidFill>
                      <a:srgbClr val="BAC7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24,785</a:t>
                      </a:r>
                    </a:p>
                  </a:txBody>
                  <a:tcPr>
                    <a:solidFill>
                      <a:srgbClr val="B6C3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27,554</a:t>
                      </a:r>
                    </a:p>
                  </a:txBody>
                  <a:tcPr>
                    <a:solidFill>
                      <a:srgbClr val="B0BE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27,609</a:t>
                      </a:r>
                    </a:p>
                  </a:txBody>
                  <a:tcPr>
                    <a:solidFill>
                      <a:srgbClr val="B0BED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28,371</a:t>
                      </a:r>
                    </a:p>
                  </a:txBody>
                  <a:tcPr>
                    <a:solidFill>
                      <a:srgbClr val="AFBCCF"/>
                    </a:solidFill>
                  </a:tcPr>
                </a:tc>
              </a:tr>
              <a:tr h="443645">
                <a:tc>
                  <a:txBody>
                    <a:bodyPr/>
                    <a:lstStyle/>
                    <a:p>
                      <a:r>
                        <a:rPr sz="1100" b="0"/>
                        <a:t>永豐商業銀行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14,820</a:t>
                      </a:r>
                    </a:p>
                  </a:txBody>
                  <a:tcPr>
                    <a:solidFill>
                      <a:srgbClr val="CAD6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21,303</a:t>
                      </a:r>
                    </a:p>
                  </a:txBody>
                  <a:tcPr>
                    <a:solidFill>
                      <a:srgbClr val="BDC9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18,344</a:t>
                      </a:r>
                    </a:p>
                  </a:txBody>
                  <a:tcPr>
                    <a:solidFill>
                      <a:srgbClr val="C3CF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23,564</a:t>
                      </a:r>
                    </a:p>
                  </a:txBody>
                  <a:tcPr>
                    <a:solidFill>
                      <a:srgbClr val="B9C5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19,376</a:t>
                      </a:r>
                    </a:p>
                  </a:txBody>
                  <a:tcPr>
                    <a:solidFill>
                      <a:srgbClr val="C1CD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17,527</a:t>
                      </a:r>
                    </a:p>
                  </a:txBody>
                  <a:tcPr>
                    <a:solidFill>
                      <a:srgbClr val="C5D0E0"/>
                    </a:solidFill>
                  </a:tcPr>
                </a:tc>
              </a:tr>
              <a:tr h="443650">
                <a:tc>
                  <a:txBody>
                    <a:bodyPr/>
                    <a:lstStyle/>
                    <a:p>
                      <a:r>
                        <a:rPr sz="1100" b="0"/>
                        <a:t>凱基商業銀行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7,931</a:t>
                      </a:r>
                    </a:p>
                  </a:txBody>
                  <a:tcPr>
                    <a:solidFill>
                      <a:srgbClr val="D8E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8,681</a:t>
                      </a:r>
                    </a:p>
                  </a:txBody>
                  <a:tcPr>
                    <a:solidFill>
                      <a:srgbClr val="D7E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10,186</a:t>
                      </a:r>
                    </a:p>
                  </a:txBody>
                  <a:tcPr>
                    <a:solidFill>
                      <a:srgbClr val="D3DE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8,563</a:t>
                      </a:r>
                    </a:p>
                  </a:txBody>
                  <a:tcPr>
                    <a:solidFill>
                      <a:srgbClr val="D7E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9,012</a:t>
                      </a:r>
                    </a:p>
                  </a:txBody>
                  <a:tcPr>
                    <a:solidFill>
                      <a:srgbClr val="D6E0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/>
                        <a:t>13,781</a:t>
                      </a:r>
                    </a:p>
                  </a:txBody>
                  <a:tcPr>
                    <a:solidFill>
                      <a:srgbClr val="CCD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未來趨勢推測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市場整體（各期） 趨勢外推呈現明顯的業者集中態勢</a:t>
            </a:r>
          </a:p>
          <a:p>
            <a:pPr lvl="1"/>
            <a:r>
              <a:rPr sz="1200"/>
              <a:t>領先者 11401 達 654,750</a:t>
            </a:r>
          </a:p>
          <a:p>
            <a:pPr lvl="1"/>
            <a:r>
              <a:rPr sz="1200"/>
              <a:t>末位者僅 572,496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市場規模外推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對台新的策略建議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5535" y="1247553"/>
            <a:ext cx="4405560" cy="4880100"/>
          </a:xfrm>
        </p:spPr>
        <p:txBody>
          <a:bodyPr wrap="square"/>
          <a:lstStyle/>
          <a:p>
            <a:pPr/>
            <a:r>
              <a:rPr b="1" sz="1600"/>
              <a:t>循環信用餘額 占比呈現明顯的業者集中態勢</a:t>
            </a:r>
          </a:p>
          <a:p>
            <a:pPr lvl="1"/>
            <a:r>
              <a:rPr sz="1200"/>
              <a:t>領先者 國泰世華商業銀行 達 18.7%</a:t>
            </a:r>
          </a:p>
          <a:p>
            <a:pPr lvl="1"/>
            <a:r>
              <a:rPr sz="1200"/>
              <a:t>末位者僅 0.0%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市占提升空間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8595" y="1247553"/>
          <a:ext cx="6608340" cy="4880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佈景主題">
  <a:themeElements>
    <a:clrScheme name="Office 佈景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</Words>
  <Application>Microsoft Office PowerPoint</Application>
  <PresentationFormat>寬螢幕</PresentationFormat>
  <Paragraphs>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Noto Sans Symbols</vt:lpstr>
      <vt:lpstr>Microsoft JhengHei</vt:lpstr>
      <vt:lpstr>Arial</vt:lpstr>
      <vt:lpstr>Noto Sans</vt:lpstr>
      <vt:lpstr>1_Office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蕭宇喬</dc:creator>
  <cp:lastModifiedBy>蕭宇喬</cp:lastModifiedBy>
  <cp:revision>2</cp:revision>
  <dcterms:created xsi:type="dcterms:W3CDTF">2026-05-26T08:53:52Z</dcterms:created>
  <dcterms:modified xsi:type="dcterms:W3CDTF">2026-05-26T08:55:08Z</dcterms:modified>
</cp:coreProperties>
</file>