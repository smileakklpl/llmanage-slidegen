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1" r:id="rId2"/>
    <p:sldId id="342" r:id="rId6"/>
    <p:sldId id="343" r:id="rId5"/>
    <p:sldId id="344" r:id="rId4"/>
    <p:sldId id="345" r:id="rId3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整體彙總（各期）：多指標走勢並列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spPr>
            <a:solidFill>
              <a:srgbClr val="C12026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58654745.0</c:v>
                </c:pt>
                <c:pt idx="1">
                  <c:v>58747562.0</c:v>
                </c:pt>
                <c:pt idx="2">
                  <c:v>58994262.0</c:v>
                </c:pt>
                <c:pt idx="3">
                  <c:v>59388667.0</c:v>
                </c:pt>
                <c:pt idx="4">
                  <c:v>59795907.0</c:v>
                </c:pt>
                <c:pt idx="5">
                  <c:v>59869255.0</c:v>
                </c:pt>
                <c:pt idx="6">
                  <c:v>59947219.0</c:v>
                </c:pt>
                <c:pt idx="7">
                  <c:v>60149284.0</c:v>
                </c:pt>
                <c:pt idx="8">
                  <c:v>60354497.0</c:v>
                </c:pt>
                <c:pt idx="9">
                  <c:v>60479206.0</c:v>
                </c:pt>
                <c:pt idx="10">
                  <c:v>60424521.0</c:v>
                </c:pt>
                <c:pt idx="11">
                  <c:v>60485911.0</c:v>
                </c:pt>
              </c:numCache>
            </c:numRef>
          </c:val>
        </c:ser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當月簽帳金額</c:v>
                </c:pt>
              </c:strCache>
            </c:strRef>
          </c:tx>
          <c:spPr>
            <a:noFill/>
            <a:ln w="28575">
              <a:solidFill>
                <a:srgbClr val="262626"/>
              </a:solidFill>
            </a:ln>
          </c:spPr>
          <c:marker>
            <c:symbol val="circle"/>
            <c:size val="7"/>
            <c:spPr>
              <a:solidFill>
                <a:srgbClr val="26262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338561389.0</c:v>
                </c:pt>
                <c:pt idx="1">
                  <c:v>395294658.0</c:v>
                </c:pt>
                <c:pt idx="2">
                  <c:v>377172642.0</c:v>
                </c:pt>
                <c:pt idx="3">
                  <c:v>373344235.0</c:v>
                </c:pt>
                <c:pt idx="4">
                  <c:v>371785303.0</c:v>
                </c:pt>
                <c:pt idx="5">
                  <c:v>393715829.0</c:v>
                </c:pt>
                <c:pt idx="6">
                  <c:v>653264628.0</c:v>
                </c:pt>
                <c:pt idx="7">
                  <c:v>376250456.0</c:v>
                </c:pt>
                <c:pt idx="8">
                  <c:v>403174279.0</c:v>
                </c:pt>
                <c:pt idx="9">
                  <c:v>453412126.0</c:v>
                </c:pt>
                <c:pt idx="10">
                  <c:v>396704763.0</c:v>
                </c:pt>
                <c:pt idx="11">
                  <c:v>453663538.0</c:v>
                </c:pt>
              </c:numCache>
            </c:numRef>
          </c:val>
          <c:smooth val="0"/>
        </c:ser>
        <c:marker val="1"/>
        <c:axId val="100000001"/>
        <c:axId val="100000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068027336"/>
        <c:crosses val="autoZero"/>
      </c:valAx>
      <c:catAx>
        <c:axId val="100000001"/>
        <c:scaling>
          <c:orientation val="minMax"/>
        </c:scaling>
        <c:delete val="1"/>
        <c:axPos val="b"/>
        <c:majorTickMark val="none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100000002"/>
      </c:catAx>
      <c:valAx>
        <c:axId val="100000002"/>
        <c:scaling>
          <c:orientation val="minMax"/>
        </c:scaling>
        <c:delete val="0"/>
        <c:axPos val="r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100000001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D4D4D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有效卡數 Top 10：類別間差異值得關注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spPr>
            <a:solidFill>
              <a:srgbClr val="C12026"/>
            </a:solidFill>
            <a:ln>
              <a:noFill/>
            </a:ln>
          </c:spPr>
          <c:dPt>
            <c:idx val="0"/>
            <c:spPr>
              <a:solidFill>
                <a:srgbClr val="C12026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7363B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E4C50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46166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DB777B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18D90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8A3A5"/>
              </a:solidFill>
              <a:ln w="952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EEB8BB"/>
              </a:solidFill>
              <a:ln w="952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F5CED0"/>
              </a:solidFill>
              <a:ln w="9525"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FBE4E5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台北富邦商業銀行</c:v>
                </c:pt>
                <c:pt idx="2">
                  <c:v>玉山商業銀行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6685860.0</c:v>
                </c:pt>
                <c:pt idx="1">
                  <c:v>5849375.0</c:v>
                </c:pt>
                <c:pt idx="2">
                  <c:v>5340523.0</c:v>
                </c:pt>
                <c:pt idx="3">
                  <c:v>5209203.0</c:v>
                </c:pt>
                <c:pt idx="4">
                  <c:v>4852939.0</c:v>
                </c:pt>
                <c:pt idx="5">
                  <c:v>2087494.0</c:v>
                </c:pt>
                <c:pt idx="6">
                  <c:v>1849324.0</c:v>
                </c:pt>
                <c:pt idx="7">
                  <c:v>1545721.0</c:v>
                </c:pt>
                <c:pt idx="8">
                  <c:v>952857.0</c:v>
                </c:pt>
                <c:pt idx="9">
                  <c:v>910122.0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 rot="-2700000" vert="horz"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未到期分期付款餘額 Top 10：類別間差異值得關注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spPr>
            <a:solidFill>
              <a:srgbClr val="C12026"/>
            </a:solidFill>
            <a:ln>
              <a:noFill/>
            </a:ln>
          </c:spPr>
          <c:dPt>
            <c:idx val="0"/>
            <c:spPr>
              <a:solidFill>
                <a:srgbClr val="C12026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7363B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E4C50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46166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DB777B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18D90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8A3A5"/>
              </a:solidFill>
              <a:ln w="952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EEB8BB"/>
              </a:solidFill>
              <a:ln w="952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F5CED0"/>
              </a:solidFill>
              <a:ln w="9525"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FBE4E5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Sheet1!$A$2:$A$11</c:f>
              <c:strCache>
                <c:ptCount val="10"/>
                <c:pt idx="0">
                  <c:v>台北富邦商業銀行</c:v>
                </c:pt>
                <c:pt idx="1">
                  <c:v>國泰世華商業銀行</c:v>
                </c:pt>
                <c:pt idx="2">
                  <c:v>玉山商業銀行</c:v>
                </c:pt>
                <c:pt idx="3">
                  <c:v>中國信託商業銀行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華南商業銀行</c:v>
                </c:pt>
                <c:pt idx="8">
                  <c:v>永豐商業銀行</c:v>
                </c:pt>
                <c:pt idx="9">
                  <c:v>元大商業銀行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32786476.0</c:v>
                </c:pt>
                <c:pt idx="1">
                  <c:v>26660450.0</c:v>
                </c:pt>
                <c:pt idx="2">
                  <c:v>24097499.0</c:v>
                </c:pt>
                <c:pt idx="3">
                  <c:v>21706013.0</c:v>
                </c:pt>
                <c:pt idx="4">
                  <c:v>20339947.0</c:v>
                </c:pt>
                <c:pt idx="5">
                  <c:v>17063521.0</c:v>
                </c:pt>
                <c:pt idx="6">
                  <c:v>8600612.0</c:v>
                </c:pt>
                <c:pt idx="7">
                  <c:v>6359672.0</c:v>
                </c:pt>
                <c:pt idx="8">
                  <c:v>5337396.0</c:v>
                </c:pt>
                <c:pt idx="9">
                  <c:v>4132981.0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 rot="-2700000" vert="horz"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整體彙總（各期） 期間成長率走勢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spPr>
            <a:noFill/>
            <a:ln w="28575">
              <a:solidFill>
                <a:srgbClr val="C12026"/>
              </a:solidFill>
            </a:ln>
          </c:spPr>
          <c:marker>
            <c:spPr>
              <a:solidFill>
                <a:srgbClr val="C1202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1">
                  <c:v>0.1582</c:v>
                </c:pt>
                <c:pt idx="2">
                  <c:v>0.4199</c:v>
                </c:pt>
                <c:pt idx="3">
                  <c:v>0.6685</c:v>
                </c:pt>
                <c:pt idx="4">
                  <c:v>0.6857</c:v>
                </c:pt>
                <c:pt idx="5">
                  <c:v>0.1227</c:v>
                </c:pt>
                <c:pt idx="6">
                  <c:v>0.1302</c:v>
                </c:pt>
                <c:pt idx="7">
                  <c:v>0.3371</c:v>
                </c:pt>
                <c:pt idx="8">
                  <c:v>0.3412</c:v>
                </c:pt>
                <c:pt idx="9">
                  <c:v>0.2066</c:v>
                </c:pt>
                <c:pt idx="10">
                  <c:v>-0.0904</c:v>
                </c:pt>
                <c:pt idx="11">
                  <c:v>0.1016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有效卡數</c:v>
                </c:pt>
              </c:strCache>
            </c:strRef>
          </c:tx>
          <c:spPr>
            <a:noFill/>
            <a:ln w="28575">
              <a:solidFill>
                <a:srgbClr val="262626"/>
              </a:solidFill>
            </a:ln>
          </c:spPr>
          <c:marker>
            <c:spPr>
              <a:solidFill>
                <a:srgbClr val="26262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1">
                  <c:v>0.3013</c:v>
                </c:pt>
                <c:pt idx="2">
                  <c:v>0.1529</c:v>
                </c:pt>
                <c:pt idx="3">
                  <c:v>0.4223</c:v>
                </c:pt>
                <c:pt idx="4">
                  <c:v>0.3222</c:v>
                </c:pt>
                <c:pt idx="5">
                  <c:v>0.201</c:v>
                </c:pt>
                <c:pt idx="6">
                  <c:v>0.6026</c:v>
                </c:pt>
                <c:pt idx="7">
                  <c:v>0.1754</c:v>
                </c:pt>
                <c:pt idx="8">
                  <c:v>0.636</c:v>
                </c:pt>
                <c:pt idx="9">
                  <c:v>0.4775</c:v>
                </c:pt>
                <c:pt idx="10">
                  <c:v>0.2229</c:v>
                </c:pt>
                <c:pt idx="11">
                  <c:v>0.2163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2118791784"/>
        <c:crosses val="autoZero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4D4D4D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循環信用餘額 占比 Top 10：主要類別占比較高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spPr>
            <a:solidFill>
              <a:srgbClr val="C12026"/>
            </a:solidFill>
            <a:ln>
              <a:noFill/>
            </a:ln>
          </c:spPr>
          <c:dPt>
            <c:idx val="0"/>
            <c:spPr>
              <a:solidFill>
                <a:srgbClr val="C12026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7363B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CE4C50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46166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DB777B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18D90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8A3A5"/>
              </a:solidFill>
              <a:ln w="952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EEB8BB"/>
              </a:solidFill>
              <a:ln w="952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F5CED0"/>
              </a:solidFill>
              <a:ln w="9525"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FBE4E5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Sheet1!$A$2:$A$11</c:f>
              <c:strCache>
                <c:ptCount val="10"/>
                <c:pt idx="0">
                  <c:v>國泰世華商業銀行</c:v>
                </c:pt>
                <c:pt idx="1">
                  <c:v>玉山商業銀行</c:v>
                </c:pt>
                <c:pt idx="2">
                  <c:v>中國信託商業銀行</c:v>
                </c:pt>
                <c:pt idx="3">
                  <c:v>台北富邦商業銀行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遠東國際商業銀行</c:v>
                </c:pt>
                <c:pt idx="9">
                  <c:v>滙豐(台灣)商業銀行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18.696</c:v>
                </c:pt>
                <c:pt idx="1">
                  <c:v>15.1429</c:v>
                </c:pt>
                <c:pt idx="2">
                  <c:v>15.1041</c:v>
                </c:pt>
                <c:pt idx="3">
                  <c:v>9.6706</c:v>
                </c:pt>
                <c:pt idx="4">
                  <c:v>9.5411</c:v>
                </c:pt>
                <c:pt idx="5">
                  <c:v>7.5175</c:v>
                </c:pt>
                <c:pt idx="6">
                  <c:v>5.5591</c:v>
                </c:pt>
                <c:pt idx="7">
                  <c:v>3.2872</c:v>
                </c:pt>
                <c:pt idx="8">
                  <c:v>2.6864</c:v>
                </c:pt>
                <c:pt idx="9">
                  <c:v>1.443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4D4D4D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  <c:spPr>
        <a:noFill/>
        <a:ln>
          <a:noFill/>
        </a:ln>
      </c:spPr>
    </c:plotArea>
    <c:legend>
      <c:legendPos/>
      <c:overlay val="0"/>
      <c:txPr>
        <a:bodyPr/>
        <a:lstStyle/>
        <a:p>
          <a:pPr>
            <a:defRPr sz="900">
              <a:solidFill>
                <a:srgbClr val="4D4D4D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整體彙總（各期） 趨勢外推走勢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spPr>
            <a:noFill/>
            <a:ln w="28575">
              <a:solidFill>
                <a:srgbClr val="C12026"/>
              </a:solidFill>
            </a:ln>
          </c:spPr>
          <c:marker>
            <c:spPr>
              <a:solidFill>
                <a:srgbClr val="C1202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  <c:pt idx="12">
                  <c:v>預測+1</c:v>
                </c:pt>
                <c:pt idx="13">
                  <c:v>預測+2</c:v>
                </c:pt>
                <c:pt idx="14">
                  <c:v>預測+3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58654745.0</c:v>
                </c:pt>
                <c:pt idx="1">
                  <c:v>58747562.0</c:v>
                </c:pt>
                <c:pt idx="2">
                  <c:v>58994262.0</c:v>
                </c:pt>
                <c:pt idx="3">
                  <c:v>59388667.0</c:v>
                </c:pt>
                <c:pt idx="4">
                  <c:v>59795907.0</c:v>
                </c:pt>
                <c:pt idx="5">
                  <c:v>59869255.0</c:v>
                </c:pt>
                <c:pt idx="6">
                  <c:v>59947219.0</c:v>
                </c:pt>
                <c:pt idx="7">
                  <c:v>60149284.0</c:v>
                </c:pt>
                <c:pt idx="8">
                  <c:v>60354497.0</c:v>
                </c:pt>
                <c:pt idx="9">
                  <c:v>60479206.0</c:v>
                </c:pt>
                <c:pt idx="10">
                  <c:v>60424521.0</c:v>
                </c:pt>
                <c:pt idx="11">
                  <c:v>60485911.0</c:v>
                </c:pt>
                <c:pt idx="12">
                  <c:v>60946919.1364</c:v>
                </c:pt>
                <c:pt idx="13">
                  <c:v>61127329.3112</c:v>
                </c:pt>
                <c:pt idx="14">
                  <c:v>61307739.486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有效卡數</c:v>
                </c:pt>
              </c:strCache>
            </c:strRef>
          </c:tx>
          <c:spPr>
            <a:noFill/>
            <a:ln w="28575">
              <a:solidFill>
                <a:srgbClr val="262626"/>
              </a:solidFill>
            </a:ln>
          </c:spPr>
          <c:marker>
            <c:spPr>
              <a:solidFill>
                <a:srgbClr val="26262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Sheet1!$A$2:$A$16</c:f>
              <c:strCache>
                <c:ptCount val="15"/>
                <c:pt idx="0">
                  <c:v>11401</c:v>
                </c:pt>
                <c:pt idx="1">
                  <c:v>11402</c:v>
                </c:pt>
                <c:pt idx="2">
                  <c:v>11403</c:v>
                </c:pt>
                <c:pt idx="3">
                  <c:v>11404</c:v>
                </c:pt>
                <c:pt idx="4">
                  <c:v>11405</c:v>
                </c:pt>
                <c:pt idx="5">
                  <c:v>11406</c:v>
                </c:pt>
                <c:pt idx="6">
                  <c:v>11407</c:v>
                </c:pt>
                <c:pt idx="7">
                  <c:v>11408</c:v>
                </c:pt>
                <c:pt idx="8">
                  <c:v>11409</c:v>
                </c:pt>
                <c:pt idx="9">
                  <c:v>11410</c:v>
                </c:pt>
                <c:pt idx="10">
                  <c:v>11411</c:v>
                </c:pt>
                <c:pt idx="11">
                  <c:v>11412</c:v>
                </c:pt>
                <c:pt idx="12">
                  <c:v>預測+1</c:v>
                </c:pt>
                <c:pt idx="13">
                  <c:v>預測+2</c:v>
                </c:pt>
                <c:pt idx="14">
                  <c:v>預測+3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39072550.0</c:v>
                </c:pt>
                <c:pt idx="1">
                  <c:v>39190270.0</c:v>
                </c:pt>
                <c:pt idx="2">
                  <c:v>39250194.0</c:v>
                </c:pt>
                <c:pt idx="3">
                  <c:v>39415942.0</c:v>
                </c:pt>
                <c:pt idx="4">
                  <c:v>39542944.0</c:v>
                </c:pt>
                <c:pt idx="5">
                  <c:v>39622444.0</c:v>
                </c:pt>
                <c:pt idx="6">
                  <c:v>39861195.0</c:v>
                </c:pt>
                <c:pt idx="7">
                  <c:v>39931101.0</c:v>
                </c:pt>
                <c:pt idx="8">
                  <c:v>40185047.0</c:v>
                </c:pt>
                <c:pt idx="9">
                  <c:v>40376943.0</c:v>
                </c:pt>
                <c:pt idx="10">
                  <c:v>40466935.0</c:v>
                </c:pt>
                <c:pt idx="11">
                  <c:v>40554453.0</c:v>
                </c:pt>
                <c:pt idx="12">
                  <c:v>40719325.1667</c:v>
                </c:pt>
                <c:pt idx="13">
                  <c:v>40862426.2436</c:v>
                </c:pt>
                <c:pt idx="14">
                  <c:v>41005527.3205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2118791784"/>
        <c:crosses val="autoZero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4D4D4D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defRPr>
            </a:pPr>
            <a:r>
              <a:t>循環信用餘額 占比：類別間差異值得關注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11412</c:v>
                </c:pt>
              </c:strCache>
            </c:strRef>
          </c:tx>
          <c:spPr>
            <a:solidFill>
              <a:srgbClr val="C12026"/>
            </a:solidFill>
            <a:ln>
              <a:noFill/>
            </a:ln>
          </c:spPr>
          <c:dPt>
            <c:idx val="0"/>
            <c:spPr>
              <a:solidFill>
                <a:srgbClr val="F0BFC1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7A1A3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DE8286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76A6E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DA767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59A9D"/>
              </a:solidFill>
              <a:ln w="952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39497"/>
              </a:solidFill>
              <a:ln w="952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C63238"/>
              </a:solidFill>
              <a:ln w="952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C12026"/>
              </a:solidFill>
              <a:ln w="9525"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F6D2D3"/>
              </a:solidFill>
              <a:ln w="9525">
                <a:solidFill>
                  <a:srgbClr val="FFFFFF"/>
                </a:solidFill>
              </a:ln>
            </c:spPr>
          </c:dPt>
          <c:dPt>
            <c:idx val="10"/>
            <c:spPr>
              <a:solidFill>
                <a:srgbClr val="D56368"/>
              </a:solidFill>
              <a:ln w="9525">
                <a:solidFill>
                  <a:srgbClr val="FFFFFF"/>
                </a:solidFill>
              </a:ln>
            </c:spPr>
          </c:dPt>
          <c:dPt>
            <c:idx val="11"/>
            <c:spPr>
              <a:solidFill>
                <a:srgbClr val="F9DEDF"/>
              </a:solidFill>
              <a:ln w="9525">
                <a:solidFill>
                  <a:srgbClr val="FFFFFF"/>
                </a:solidFill>
              </a:ln>
            </c:spPr>
          </c:dPt>
          <c:dPt>
            <c:idx val="12"/>
            <c:spPr>
              <a:solidFill>
                <a:srgbClr val="E9A7A9"/>
              </a:solidFill>
              <a:ln w="9525">
                <a:solidFill>
                  <a:srgbClr val="FFFFFF"/>
                </a:solidFill>
              </a:ln>
            </c:spPr>
          </c:dPt>
          <c:dPt>
            <c:idx val="13"/>
            <c:spPr>
              <a:solidFill>
                <a:srgbClr val="E28E91"/>
              </a:solidFill>
              <a:ln w="9525">
                <a:solidFill>
                  <a:srgbClr val="FFFFFF"/>
                </a:solidFill>
              </a:ln>
            </c:spPr>
          </c:dPt>
          <c:dPt>
            <c:idx val="14"/>
            <c:spPr>
              <a:solidFill>
                <a:srgbClr val="ECB3B5"/>
              </a:solidFill>
              <a:ln w="9525">
                <a:solidFill>
                  <a:srgbClr val="FFFFFF"/>
                </a:solidFill>
              </a:ln>
            </c:spPr>
          </c:dPt>
          <c:dPt>
            <c:idx val="15"/>
            <c:spPr>
              <a:solidFill>
                <a:srgbClr val="D1575C"/>
              </a:solidFill>
              <a:ln w="9525">
                <a:solidFill>
                  <a:srgbClr val="FFFFFF"/>
                </a:solidFill>
              </a:ln>
            </c:spPr>
          </c:dPt>
          <c:dPt>
            <c:idx val="16"/>
            <c:spPr>
              <a:solidFill>
                <a:srgbClr val="F7D8D9"/>
              </a:solidFill>
              <a:ln w="9525">
                <a:solidFill>
                  <a:srgbClr val="FFFFFF"/>
                </a:solidFill>
              </a:ln>
            </c:spPr>
          </c:dPt>
          <c:dPt>
            <c:idx val="17"/>
            <c:spPr>
              <a:solidFill>
                <a:srgbClr val="D35D62"/>
              </a:solidFill>
              <a:ln w="9525">
                <a:solidFill>
                  <a:srgbClr val="FFFFFF"/>
                </a:solidFill>
              </a:ln>
            </c:spPr>
          </c:dPt>
          <c:dPt>
            <c:idx val="18"/>
            <c:spPr>
              <a:solidFill>
                <a:srgbClr val="EEB9BB"/>
              </a:solidFill>
              <a:ln w="9525">
                <a:solidFill>
                  <a:srgbClr val="FFFFFF"/>
                </a:solidFill>
              </a:ln>
            </c:spPr>
          </c:dPt>
          <c:dPt>
            <c:idx val="19"/>
            <c:spPr>
              <a:solidFill>
                <a:srgbClr val="F4CCCD"/>
              </a:solidFill>
              <a:ln w="9525">
                <a:solidFill>
                  <a:srgbClr val="FFFFFF"/>
                </a:solidFill>
              </a:ln>
            </c:spPr>
          </c:dPt>
          <c:dPt>
            <c:idx val="20"/>
            <c:spPr>
              <a:solidFill>
                <a:srgbClr val="CC454A"/>
              </a:solidFill>
              <a:ln w="9525">
                <a:solidFill>
                  <a:srgbClr val="FFFFFF"/>
                </a:solidFill>
              </a:ln>
            </c:spPr>
          </c:dPt>
          <c:dPt>
            <c:idx val="21"/>
            <c:spPr>
              <a:solidFill>
                <a:srgbClr val="D05156"/>
              </a:solidFill>
              <a:ln w="9525">
                <a:solidFill>
                  <a:srgbClr val="FFFFFF"/>
                </a:solidFill>
              </a:ln>
            </c:spPr>
          </c:dPt>
          <c:dPt>
            <c:idx val="22"/>
            <c:spPr>
              <a:solidFill>
                <a:srgbClr val="DC7C80"/>
              </a:solidFill>
              <a:ln w="9525">
                <a:solidFill>
                  <a:srgbClr val="FFFFFF"/>
                </a:solidFill>
              </a:ln>
            </c:spPr>
          </c:dPt>
          <c:dPt>
            <c:idx val="23"/>
            <c:spPr>
              <a:solidFill>
                <a:srgbClr val="CE4B50"/>
              </a:solidFill>
              <a:ln w="9525">
                <a:solidFill>
                  <a:srgbClr val="FFFFFF"/>
                </a:solidFill>
              </a:ln>
            </c:spPr>
          </c:dPt>
          <c:dPt>
            <c:idx val="24"/>
            <c:spPr>
              <a:solidFill>
                <a:srgbClr val="C3262C"/>
              </a:solidFill>
              <a:ln w="9525">
                <a:solidFill>
                  <a:srgbClr val="FFFFFF"/>
                </a:solidFill>
              </a:ln>
            </c:spPr>
          </c:dPt>
          <c:dPt>
            <c:idx val="25"/>
            <c:spPr>
              <a:solidFill>
                <a:srgbClr val="D97074"/>
              </a:solidFill>
              <a:ln w="9525">
                <a:solidFill>
                  <a:srgbClr val="FFFFFF"/>
                </a:solidFill>
              </a:ln>
            </c:spPr>
          </c:dPt>
          <c:dPt>
            <c:idx val="26"/>
            <c:spPr>
              <a:solidFill>
                <a:srgbClr val="CA3F44"/>
              </a:solidFill>
              <a:ln w="9525">
                <a:solidFill>
                  <a:srgbClr val="FFFFFF"/>
                </a:solidFill>
              </a:ln>
            </c:spPr>
          </c:dPt>
          <c:dPt>
            <c:idx val="27"/>
            <c:spPr>
              <a:solidFill>
                <a:srgbClr val="C8383E"/>
              </a:solidFill>
              <a:ln w="9525">
                <a:solidFill>
                  <a:srgbClr val="FFFFFF"/>
                </a:solidFill>
              </a:ln>
            </c:spPr>
          </c:dPt>
          <c:dPt>
            <c:idx val="28"/>
            <c:spPr>
              <a:solidFill>
                <a:srgbClr val="F2C5C7"/>
              </a:solidFill>
              <a:ln w="9525">
                <a:solidFill>
                  <a:srgbClr val="FFFFFF"/>
                </a:solidFill>
              </a:ln>
            </c:spPr>
          </c:dPt>
          <c:dPt>
            <c:idx val="29"/>
            <c:spPr>
              <a:solidFill>
                <a:srgbClr val="C52C32"/>
              </a:solidFill>
              <a:ln w="9525">
                <a:solidFill>
                  <a:srgbClr val="FFFFFF"/>
                </a:solidFill>
              </a:ln>
            </c:spPr>
          </c:dPt>
          <c:dPt>
            <c:idx val="30"/>
            <c:spPr>
              <a:solidFill>
                <a:srgbClr val="E0888B"/>
              </a:solidFill>
              <a:ln w="9525">
                <a:solidFill>
                  <a:srgbClr val="FFFFFF"/>
                </a:solidFill>
              </a:ln>
            </c:spPr>
          </c:dPt>
          <c:dPt>
            <c:idx val="31"/>
            <c:spPr>
              <a:solidFill>
                <a:srgbClr val="EBADAF"/>
              </a:solidFill>
              <a:ln w="9525">
                <a:solidFill>
                  <a:srgbClr val="FFFFFF"/>
                </a:solidFill>
              </a:ln>
            </c:spPr>
          </c:dPt>
          <c:dPt>
            <c:idx val="32"/>
            <c:spPr>
              <a:solidFill>
                <a:srgbClr val="FBE4E5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Sheet1!$A$2:$A$34</c:f>
              <c:strCache>
                <c:ptCount val="33"/>
                <c:pt idx="0">
                  <c:v>臺灣銀行</c:v>
                </c:pt>
                <c:pt idx="1">
                  <c:v>臺灣土地銀行</c:v>
                </c:pt>
                <c:pt idx="2">
                  <c:v>合作金庫商業銀行</c:v>
                </c:pt>
                <c:pt idx="3">
                  <c:v>第一商業銀行</c:v>
                </c:pt>
                <c:pt idx="4">
                  <c:v>華南商業銀行</c:v>
                </c:pt>
                <c:pt idx="5">
                  <c:v>彰化商業銀行</c:v>
                </c:pt>
                <c:pt idx="6">
                  <c:v>上海商業儲蓄銀行</c:v>
                </c:pt>
                <c:pt idx="7">
                  <c:v>台北富邦商業銀行</c:v>
                </c:pt>
                <c:pt idx="8">
                  <c:v>國泰世華商業銀行</c:v>
                </c:pt>
                <c:pt idx="9">
                  <c:v>高雄銀行</c:v>
                </c:pt>
                <c:pt idx="10">
                  <c:v>兆豐國際商業銀行</c:v>
                </c:pt>
                <c:pt idx="11">
                  <c:v>花旗(台灣)商業銀行</c:v>
                </c:pt>
                <c:pt idx="12">
                  <c:v>臺灣中小企業銀行</c:v>
                </c:pt>
                <c:pt idx="13">
                  <c:v>渣打國際商業銀行</c:v>
                </c:pt>
                <c:pt idx="14">
                  <c:v>台中商業銀行</c:v>
                </c:pt>
                <c:pt idx="15">
                  <c:v>滙豐(台灣)商業銀行</c:v>
                </c:pt>
                <c:pt idx="16">
                  <c:v>華泰商業銀行</c:v>
                </c:pt>
                <c:pt idx="17">
                  <c:v>臺灣新光商業銀行</c:v>
                </c:pt>
                <c:pt idx="18">
                  <c:v>陽信商業銀行</c:v>
                </c:pt>
                <c:pt idx="19">
                  <c:v>三信商業銀行</c:v>
                </c:pt>
                <c:pt idx="20">
                  <c:v>聯邦商業銀行</c:v>
                </c:pt>
                <c:pt idx="21">
                  <c:v>遠東國際商業銀行</c:v>
                </c:pt>
                <c:pt idx="22">
                  <c:v>元大商業銀行</c:v>
                </c:pt>
                <c:pt idx="23">
                  <c:v>永豐商業銀行</c:v>
                </c:pt>
                <c:pt idx="24">
                  <c:v>玉山商業銀行</c:v>
                </c:pt>
                <c:pt idx="25">
                  <c:v>凱基商業銀行</c:v>
                </c:pt>
                <c:pt idx="26">
                  <c:v>星展(台灣)商業銀行</c:v>
                </c:pt>
                <c:pt idx="27">
                  <c:v>台新國際商業銀行</c:v>
                </c:pt>
                <c:pt idx="28">
                  <c:v>安泰商業銀行</c:v>
                </c:pt>
                <c:pt idx="29">
                  <c:v>中國信託商業銀行</c:v>
                </c:pt>
                <c:pt idx="30">
                  <c:v>台灣樂天信用卡股份有限公司</c:v>
                </c:pt>
                <c:pt idx="31">
                  <c:v>台灣美國運通國際(股)公司</c:v>
                </c:pt>
                <c:pt idx="32">
                  <c:v>總計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0.1366</c:v>
                </c:pt>
                <c:pt idx="1">
                  <c:v>0.2632</c:v>
                </c:pt>
                <c:pt idx="2">
                  <c:v>0.8347</c:v>
                </c:pt>
                <c:pt idx="3">
                  <c:v>1.0937</c:v>
                </c:pt>
                <c:pt idx="4">
                  <c:v>1.0121</c:v>
                </c:pt>
                <c:pt idx="5">
                  <c:v>0.3232</c:v>
                </c:pt>
                <c:pt idx="6">
                  <c:v>0.5613</c:v>
                </c:pt>
                <c:pt idx="7">
                  <c:v>9.6706</c:v>
                </c:pt>
                <c:pt idx="8">
                  <c:v>18.696</c:v>
                </c:pt>
                <c:pt idx="9">
                  <c:v>0.0118</c:v>
                </c:pt>
                <c:pt idx="10">
                  <c:v>1.317</c:v>
                </c:pt>
                <c:pt idx="11">
                  <c:v>0.0</c:v>
                </c:pt>
                <c:pt idx="12">
                  <c:v>0.2236</c:v>
                </c:pt>
                <c:pt idx="13">
                  <c:v>0.6932</c:v>
                </c:pt>
                <c:pt idx="14">
                  <c:v>0.1865</c:v>
                </c:pt>
                <c:pt idx="15">
                  <c:v>1.443</c:v>
                </c:pt>
                <c:pt idx="16">
                  <c:v>0.0061</c:v>
                </c:pt>
                <c:pt idx="17">
                  <c:v>1.3987</c:v>
                </c:pt>
                <c:pt idx="18">
                  <c:v>0.1481</c:v>
                </c:pt>
                <c:pt idx="19">
                  <c:v>0.0314</c:v>
                </c:pt>
                <c:pt idx="20">
                  <c:v>5.5591</c:v>
                </c:pt>
                <c:pt idx="21">
                  <c:v>2.6864</c:v>
                </c:pt>
                <c:pt idx="22">
                  <c:v>0.993</c:v>
                </c:pt>
                <c:pt idx="23">
                  <c:v>3.2872</c:v>
                </c:pt>
                <c:pt idx="24">
                  <c:v>15.1429</c:v>
                </c:pt>
                <c:pt idx="25">
                  <c:v>1.0819</c:v>
                </c:pt>
                <c:pt idx="26">
                  <c:v>7.5175</c:v>
                </c:pt>
                <c:pt idx="27">
                  <c:v>9.5411</c:v>
                </c:pt>
                <c:pt idx="28">
                  <c:v>0.1211</c:v>
                </c:pt>
                <c:pt idx="29">
                  <c:v>15.1041</c:v>
                </c:pt>
                <c:pt idx="30">
                  <c:v>0.697</c:v>
                </c:pt>
                <c:pt idx="31">
                  <c:v>0.2181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 rot="-2700000" vert="horz"/>
          <a:lstStyle/>
          <a:p>
            <a:pPr>
              <a:defRPr sz="65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9D9D9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4D4D4D"/>
          </a:solidFill>
          <a:latin typeface="微軟正黑體"/>
          <a:ea typeface="微軟正黑體"/>
          <a:cs typeface="微軟正黑體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preserve="1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026A16C4-3BD0-72DB-C8B5-239F03494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1114515" y="1278736"/>
            <a:ext cx="99627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3000"/>
              <a:buNone/>
              <a:defRPr sz="30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1114350" y="2394796"/>
            <a:ext cx="9963300" cy="3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171B"/>
              </a:buClr>
              <a:buSzPts val="2400"/>
              <a:buChar char="●"/>
              <a:defRPr i="0">
                <a:solidFill>
                  <a:srgbClr val="4F4F4F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Char char="●"/>
              <a:defRPr i="0">
                <a:solidFill>
                  <a:srgbClr val="4F4F4F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Char char="■"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None/>
              <a:defRPr b="1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500"/>
              <a:buChar char="•"/>
              <a:defRPr sz="1500" b="1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400"/>
              <a:buChar char="•"/>
              <a:defRPr sz="1400" b="1">
                <a:solidFill>
                  <a:srgbClr val="464444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200"/>
              <a:buChar char="•"/>
              <a:defRPr sz="1200" b="1">
                <a:solidFill>
                  <a:srgbClr val="464444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000"/>
              <a:buChar char="•"/>
              <a:defRPr sz="1000" b="1">
                <a:solidFill>
                  <a:srgbClr val="464444"/>
                </a:solidFill>
              </a:defRPr>
            </a:lvl8pPr>
            <a:lvl9pPr marL="4114800" lvl="8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800"/>
              <a:buChar char="•"/>
              <a:defRPr sz="800" b="1">
                <a:solidFill>
                  <a:srgbClr val="464444"/>
                </a:solidFill>
              </a:defRPr>
            </a:lvl9pPr>
          </a:lstStyle>
          <a:p>
            <a:endParaRPr/>
          </a:p>
        </p:txBody>
      </p:sp>
      <p:cxnSp>
        <p:nvCxnSpPr>
          <p:cNvPr id="16" name="Google Shape;16;p7"/>
          <p:cNvCxnSpPr/>
          <p:nvPr/>
        </p:nvCxnSpPr>
        <p:spPr>
          <a:xfrm>
            <a:off x="1114515" y="2056042"/>
            <a:ext cx="9962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7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4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 preserve="1">
  <p:cSld name="2_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E912A1DA-C32A-79BA-3D45-A52103A38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9" name="Google Shape;19;p8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46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 preserve="1">
  <p:cSld name="3_標題投影片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C649EEB2-B486-967D-A023-BE167D42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2" name="Google Shape;22;p9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6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 preserve="1">
  <p:cSld name="1_標題及內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181D"/>
              </a:buClr>
              <a:buSzPts val="2400"/>
              <a:buFont typeface="Noto Sans Symbols"/>
              <a:buChar char="■"/>
              <a:defRPr sz="2400" b="1"/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Font typeface="Noto Sans Symbols"/>
              <a:buChar char="●"/>
              <a:defRPr sz="2000" b="1"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600"/>
              <a:buFont typeface="Noto Sans Symbols"/>
              <a:buChar char="●"/>
              <a:defRPr sz="1600" b="1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200"/>
              <a:buFont typeface="Arial"/>
              <a:buChar char="•"/>
              <a:defRPr sz="1200" b="1"/>
            </a:lvl4pPr>
            <a:lvl5pPr marL="2286000" lvl="4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350"/>
              <a:buFont typeface="Noto Sans Symbols"/>
              <a:buChar char="●"/>
              <a:defRPr sz="135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49956" y="259072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" name="Google Shape;28;p10"/>
          <p:cNvSpPr txBox="1"/>
          <p:nvPr/>
        </p:nvSpPr>
        <p:spPr>
          <a:xfrm>
            <a:off x="-2146501" y="-1235899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Noto Sans"/>
              <a:buNone/>
            </a:pPr>
            <a:endParaRPr sz="3000" b="1" i="0" u="none" strike="noStrike" cap="none">
              <a:solidFill>
                <a:srgbClr val="46444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" name="Google Shape;29;p10" title="標語_中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11550" y="6534225"/>
            <a:ext cx="1071550" cy="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0" title="金控_中_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8175"/>
            <a:ext cx="1602775" cy="6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"/>
          <p:cNvCxnSpPr/>
          <p:nvPr/>
        </p:nvCxnSpPr>
        <p:spPr>
          <a:xfrm>
            <a:off x="1597301" y="6445831"/>
            <a:ext cx="8341800" cy="0"/>
          </a:xfrm>
          <a:prstGeom prst="straightConnector1">
            <a:avLst/>
          </a:prstGeom>
          <a:noFill/>
          <a:ln w="19050" cap="flat" cmpd="sng">
            <a:solidFill>
              <a:srgbClr val="D70C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10"/>
          <p:cNvCxnSpPr/>
          <p:nvPr/>
        </p:nvCxnSpPr>
        <p:spPr>
          <a:xfrm rot="10800000">
            <a:off x="9939225" y="6445838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1964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章節標題" preserve="1">
  <p:cSld name="2_章節標題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3B5AF3D8-B199-5417-755A-9D51D04F6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1" y="4128475"/>
            <a:ext cx="105156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4800"/>
              <a:buNone/>
              <a:defRPr sz="4800" i="0">
                <a:solidFill>
                  <a:srgbClr val="46444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pic>
        <p:nvPicPr>
          <p:cNvPr id="35" name="Google Shape;35;p11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00" y="688548"/>
            <a:ext cx="5575550" cy="212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86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00B95-F112-B8B7-381C-1E417E4A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BE2AAC-90E4-D32C-C2EC-A159487F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B5046B-CF36-90D5-96AF-C53DBA7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5755-7018-4945-A46B-2B4DE79FC767}" type="datetimeFigureOut">
              <a:rPr kumimoji="1" lang="zh-TW" altLang="en-US" smtClean="0"/>
              <a:t>2026/5/26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874EB-7423-DBD2-1C7B-424E851D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0B08D-6B26-34AE-92D0-8D2AB1E7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DD83-9373-1C49-B3EB-CD40710A3C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2667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519290" y="1176425"/>
            <a:ext cx="11091600" cy="5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0000"/>
              </a:buClr>
              <a:buSzPts val="2400"/>
              <a:buFont typeface="Microsoft JhengHei"/>
              <a:buChar char="■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2000"/>
              <a:buFont typeface="Microsoft JhengHei"/>
              <a:buChar char="■"/>
              <a:defRPr sz="2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1600"/>
              <a:buFont typeface="Microsoft JhengHei"/>
              <a:buChar char="■"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1600"/>
              <a:buFont typeface="Microsoft JhengHei"/>
              <a:buNone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2400"/>
              <a:buFont typeface="Microsoft JhengHei"/>
              <a:buChar char="•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9290" y="259072"/>
            <a:ext cx="11091685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Microsoft JhengHei"/>
              <a:buNone/>
              <a:defRPr sz="3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580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6FCBD-1057-479C-BDC5-C41CA873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信用卡市場分析與經營洞察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76395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01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Executive Summary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02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核心概況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03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趨勢與變化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04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分群與排行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05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異常、風險與限制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06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預測與情境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07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建議與下一步</a:t>
            </a:r>
          </a:p>
          <a:p>
            <a:pPr>
              <a:spcAft>
                <a:spcPts val="1120"/>
              </a:spcAft>
            </a:pPr>
            <a:r>
              <a:rPr sz="16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08　</a:t>
            </a:r>
            <a:r>
              <a:rPr sz="16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結論與後續行動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目錄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01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觀察極值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國泰世華商業銀行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22,171,305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，建議回到來源資料檢視其形成條件，再評估後續行動方向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觀察另一端為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1,711,263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，與極值之間的差異顯示各類別表現並不一致，後續追蹤應維持相同定義與資料口徑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10,512,621.8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關鍵指標總覽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循環信用餘額 Top 10呈現可辨識的類別差異，後續行動應以持續更新的資料校準優先順序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44048"/>
                <a:gridCol w="944048"/>
                <a:gridCol w="944048"/>
                <a:gridCol w="944048"/>
                <a:gridCol w="944048"/>
                <a:gridCol w="944048"/>
                <a:gridCol w="944052"/>
              </a:tblGrid>
              <a:tr h="3884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11407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11408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11409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11410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11411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11412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國泰世華商業銀行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21,498,691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21,731,907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21,005,803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22,203,076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22,402,903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22,171,305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玉山商業銀行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16,742,064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16,199,399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18,455,493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17,838,541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16,967,594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17,957,715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中國信託商業銀行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17,294,253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17,382,240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17,442,113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17,767,469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17,601,608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17,911,768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台北富邦商業銀行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10,918,708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11,136,559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11,389,102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11,229,397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11,517,715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11,468,186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台新國際商業銀行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10,977,018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11,058,630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11,120,714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11,208,334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11,256,633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11,314,621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星展(台灣)商業銀行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8,605,492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8,725,605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8,781,277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8,828,768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8,899,477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8,914,937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聯邦商業銀行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6,462,121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6,473,412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6,529,968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6,565,629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6,536,915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6,592,497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永豐商業銀行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3,798,200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3,949,911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4,045,805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3,865,865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3,856,324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3,898,214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遠東國際商業銀行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3,152,668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3,249,738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3,254,115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3,177,730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3,520,455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3,185,712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4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滙豐(台灣)商業銀行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1,718,970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1,684,670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1,644,409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1,702,698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1,694,352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1,711,263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本表數值與隨附 Excel 稽核檔逐格一致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02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核心概況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觀察極值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11407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653,264,628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，建議回到來源資料檢視其形成條件，再評估後續行動方向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觀察另一端為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338,561,389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，與極值之間的差異顯示各類別表現並不一致，後續追蹤應維持相同定義與資料口徑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415,528,653.8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整體指標趨勢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整體彙總（各期）呈現可辨識的類別差異，後續行動應以持續更新的資料校準優先順序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觀察極值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中國信託商業銀行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6,685,860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，建議回到來源資料檢視其形成條件，再評估後續行動方向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觀察另一端為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910,122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，與極值之間的差異顯示各類別表現並不一致，後續追蹤應維持相同定義與資料口徑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3,528,341.8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第二項指標表現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有效卡數 Top 10呈現可辨識的類別差異，後續行動應以持續更新的資料校準優先順序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觀察極值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台北富邦商業銀行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32,786,476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，建議回到來源資料檢視其形成條件，再評估後續行動方向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觀察另一端為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4,132,981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，與極值之間的差異顯示各類別表現並不一致，後續追蹤應維持相同定義與資料口徑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16,708,456.7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第三項指標表現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未到期分期付款餘額 Top 10呈現可辨識的類別差異，後續行動應以持續更新的資料校準優先順序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03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趨勢與變化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觀察極值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11409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0.6%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，建議回到來源資料檢視其形成條件，再評估後續行動方向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觀察另一端為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0.2%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，與極值之間的差異顯示各類別表現並不一致，後續追蹤應維持相同定義與資料口徑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0.3%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變化動能檢視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整體彙總（各期） 期間成長率呈現可辨識的類別差異，後續行動應以持續更新的資料校準優先順序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04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分群與排行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觀察極值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國泰世華商業銀行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18.7%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，建議回到來源資料檢視其形成條件，再評估後續行動方向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觀察另一端為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1.4%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，與極值之間的差異顯示各類別表現並不一致，後續追蹤應維持相同定義與資料口徑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8.9%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組成結構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循環信用餘額 占比 Top 10呈現可辨識的類別差異，後續行動應以持續更新的資料校準優先順序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05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異常、風險與限制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觀察極值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台北富邦商業銀行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95,338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，建議回到來源資料檢視其形成條件，再評估後續行動方向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觀察另一端為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13,781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，與極值之間的差異顯示各類別表現並不一致，後續追蹤應維持相同定義與資料口徑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55,689.2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差異與異常分佈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當月轉銷呆帳金額 Top 10呈現可辨識的類別差異，後續行動應以持續更新的資料校準優先順序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44048"/>
                <a:gridCol w="944048"/>
                <a:gridCol w="944048"/>
                <a:gridCol w="944048"/>
                <a:gridCol w="944048"/>
                <a:gridCol w="944048"/>
                <a:gridCol w="944052"/>
              </a:tblGrid>
              <a:tr h="3884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項目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11407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11408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11409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11410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11411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11412</a:t>
                      </a:r>
                    </a:p>
                  </a:txBody>
                  <a:tcPr>
                    <a:lnB w="19050" cap="flat" cmpd="sng" algn="ctr">
                      <a:solidFill>
                        <a:srgbClr val="C12026"/>
                      </a:solidFill>
                    </a:lnB>
                    <a:solidFill>
                      <a:srgbClr val="262626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台北富邦商業銀行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89,069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838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79,550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E4D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89,614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737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98,784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2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87,883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8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95,338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42A30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國泰世華商業銀行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92,817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52F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92,132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63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96,087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32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99,743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12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95,561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429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94,669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42B31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中國信託商業銀行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88,612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839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86,060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A3F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87,222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93C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89,395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737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96,371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328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92,455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63036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玉山商業銀行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87,058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93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87,712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83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85,589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A40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84,896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A41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85,479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A40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FFFFF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84,032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CB4348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星展(台灣)商業銀行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50,401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08E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48,484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193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61,790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D975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47,446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295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46,745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296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58,158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DB7D80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台新國際商業銀行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46,174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298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43,618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49D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47,922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194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44,654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39B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47,175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296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42,858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49FA2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華南商業銀行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24,093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0C9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29,703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DBDBE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聯邦商業銀行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23,634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0CA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22,896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1CC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24,785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0C8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27,554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EC1C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27,609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EC1C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28,371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DC0C1"/>
                    </a:solidFill>
                  </a:tcPr>
                </a:tc>
              </a:tr>
              <a:tr h="3884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永豐商業銀行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14,820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6DE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21,303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2CF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18,344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4D6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23,564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0CA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19,376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3D4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17,527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4D8D9"/>
                    </a:solidFill>
                  </a:tcPr>
                </a:tc>
              </a:tr>
              <a:tr h="3884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凱基商業銀行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7,931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AED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8,681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A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10,186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9E8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8,563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A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9,012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9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13,781</a:t>
                      </a:r>
                    </a:p>
                  </a:txBody>
                  <a:tcPr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6E0E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本表數值與隨附 Excel 稽核檔逐格一致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06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預測與情境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觀察極值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預測+3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41,005,527.3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，建議回到來源資料檢視其形成條件，再評估後續行動方向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觀察另一端為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39,072,550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，與極值之間的差異顯示各類別表現並不一致，後續追蹤應維持相同定義與資料口徑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40,003,819.8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後續趨勢外推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整體彙總（各期） 趨勢外推呈現可辨識的類別差異，後續行動應以持續更新的資料校準優先順序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0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CHAPTER 07</a:t>
            </a:r>
          </a:p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建議與下一步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831851" y="5737075"/>
            <a:ext cx="1905000" cy="28575"/>
          </a:xfrm>
          <a:prstGeom prst="rect">
            <a:avLst/>
          </a:prstGeom>
          <a:solidFill>
            <a:srgbClr val="C120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205535" y="1854753"/>
            <a:ext cx="4405560" cy="4272900"/>
          </a:xfrm>
        </p:spPr>
        <p:txBody>
          <a:bodyPr wrap="square">
            <a:normAutofit/>
          </a:bodyPr>
          <a:lstStyle/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觀察極值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國泰世華商業銀行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 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18.7%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，建議回到來源資料檢視其形成條件，再評估後續行動方向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觀察另一端為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0.0%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，與極值之間的差異顯示各類別表現並不一致，後續追蹤應維持相同定義與資料口徑</a:t>
            </a:r>
          </a:p>
          <a:p>
            <a:pPr>
              <a:spcAft>
                <a:spcPts val="910"/>
              </a:spcAft>
            </a:pPr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整體平均為 </a:t>
            </a:r>
            <a:r>
              <a:rPr sz="1300" b="1">
                <a:solidFill>
                  <a:srgbClr val="C12026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3.1%</a:t>
            </a:r>
            <a:r>
              <a:rPr sz="13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，管理團隊可據此建立追蹤基準，並在下一次資料更新後重新檢視資源與改善工作的排序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改善與追蹤空間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595" y="1247553"/>
            <a:ext cx="57150" cy="4572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5745" y="1247553"/>
            <a:ext cx="11185350" cy="457200"/>
          </a:xfrm>
          <a:prstGeom prst="rect">
            <a:avLst/>
          </a:prstGeom>
          <a:solidFill>
            <a:srgbClr val="FFF8D6"/>
          </a:solidFill>
          <a:ln>
            <a:noFill/>
          </a:ln>
          <a:effectLst/>
        </p:spPr>
        <p:txBody>
          <a:bodyPr rtlCol="0" anchor="ctr" wrap="square" lIns="175260"/>
          <a:lstStyle/>
          <a:p>
            <a:pPr algn="l"/>
            <a:r>
              <a:rPr sz="13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◆ </a:t>
            </a:r>
            <a:r>
              <a:rPr sz="1300" b="1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循環信用餘額 占比呈現可辨識的類別差異，後續行動應以持續更新的資料校準優先順序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8595" y="1854753"/>
          <a:ext cx="6608340" cy="42729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8595" y="6150000"/>
            <a:ext cx="112425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可點選圖表右鍵「編輯資料」查看原始 EXCEL 資料表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</p:spPr>
        <p:txBody>
          <a:bodyPr wrap="square">
            <a:normAutofit/>
          </a:bodyPr>
          <a:lstStyle/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Executive Summary｜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循環信用餘額 Top 10呈現可辨識的類別差異，後續行動應以持續更新的資料校準優先順序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（P.4）</a:t>
            </a:r>
          </a:p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核心概況｜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整體彙總（各期）呈現可辨識的類別差異，後續行動應以持續更新的資料校準優先順序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（P.6）</a:t>
            </a:r>
          </a:p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趨勢與變化｜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整體彙總（各期） 期間成長率呈現可辨識的類別差異，後續行動應以持續更新的資料校準優先順序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（P.10）</a:t>
            </a:r>
          </a:p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分群與排行｜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循環信用餘額 占比 Top 10呈現可辨識的類別差異，後續行動應以持續更新的資料校準優先順序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（P.12）</a:t>
            </a:r>
          </a:p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異常、風險與限制｜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當月轉銷呆帳金額 Top 10呈現可辨識的類別差異，後續行動應以持續更新的資料校準優先順序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（P.14）</a:t>
            </a:r>
          </a:p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預測與情境｜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整體彙總（各期） 趨勢外推呈現可辨識的類別差異，後續行動應以持續更新的資料校準優先順序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（P.16）</a:t>
            </a:r>
          </a:p>
          <a:p>
            <a:pPr>
              <a:spcAft>
                <a:spcPts val="769"/>
              </a:spcAft>
            </a:pPr>
            <a:r>
              <a:rPr sz="1100" b="1">
                <a:solidFill>
                  <a:srgbClr val="C12026"/>
                </a:solidFill>
                <a:latin typeface="微軟正黑體"/>
                <a:ea typeface="微軟正黑體"/>
                <a:cs typeface="微軟正黑體"/>
              </a:rPr>
              <a:t>▸ 建議與下一步｜</a:t>
            </a:r>
            <a:r>
              <a:rPr sz="1100" b="0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循環信用餘額 占比呈現可辨識的類別差異，後續行動應以持續更新的資料校準優先順序</a:t>
            </a:r>
            <a:r>
              <a:rPr sz="11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（P.18）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200" b="0">
                <a:solidFill>
                  <a:srgbClr val="1A1A1A"/>
                </a:solidFill>
                <a:latin typeface="微軟正黑體"/>
                <a:ea typeface="微軟正黑體"/>
                <a:cs typeface="微軟正黑體"/>
              </a:rPr>
              <a:t>結論與後續行動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4D4D4D"/>
                </a:solidFill>
                <a:latin typeface="微軟正黑體"/>
                <a:ea typeface="微軟正黑體"/>
                <a:cs typeface="微軟正黑體"/>
              </a:rPr>
              <a:t>感謝聆聽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寬螢幕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Noto Sans Symbols</vt:lpstr>
      <vt:lpstr>Microsoft JhengHei</vt:lpstr>
      <vt:lpstr>Arial</vt:lpstr>
      <vt:lpstr>Noto Sans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蕭宇喬</dc:creator>
  <cp:lastModifiedBy>蕭宇喬</cp:lastModifiedBy>
  <cp:revision>2</cp:revision>
  <dcterms:created xsi:type="dcterms:W3CDTF">2026-05-26T08:53:52Z</dcterms:created>
  <dcterms:modified xsi:type="dcterms:W3CDTF">2026-05-26T08:55:08Z</dcterms:modified>
</cp:coreProperties>
</file>