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42" r:id="rId6"/>
    <p:sldId id="343" r:id="rId5"/>
    <p:sldId id="344" r:id="rId4"/>
    <p:sldId id="345" r:id="rId3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整體彙總（各期） 趨勢外推重點觀察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當月轉銷呆帳金額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654750.0</c:v>
                </c:pt>
                <c:pt idx="1">
                  <c:v>611054.0</c:v>
                </c:pt>
                <c:pt idx="2">
                  <c:v>641539.0</c:v>
                </c:pt>
                <c:pt idx="3">
                  <c:v>615972.0</c:v>
                </c:pt>
                <c:pt idx="4">
                  <c:v>600844.0</c:v>
                </c:pt>
                <c:pt idx="5">
                  <c:v>617225.0</c:v>
                </c:pt>
                <c:pt idx="6">
                  <c:v>589078.0</c:v>
                </c:pt>
                <c:pt idx="7">
                  <c:v>572496.0</c:v>
                </c:pt>
                <c:pt idx="8">
                  <c:v>632705.0</c:v>
                </c:pt>
                <c:pt idx="9">
                  <c:v>623815.0</c:v>
                </c:pt>
                <c:pt idx="10">
                  <c:v>601876.0</c:v>
                </c:pt>
                <c:pt idx="11">
                  <c:v>645165.0</c:v>
                </c:pt>
                <c:pt idx="12">
                  <c:v>609445.5758</c:v>
                </c:pt>
                <c:pt idx="13">
                  <c:v>608251.0618</c:v>
                </c:pt>
                <c:pt idx="14">
                  <c:v>607056.5478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整體彙總（各期） 期間成長率重點觀察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當月轉銷呆帳金額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">
                  <c:v>-6.6737</c:v>
                </c:pt>
                <c:pt idx="2">
                  <c:v>4.9889</c:v>
                </c:pt>
                <c:pt idx="3">
                  <c:v>-3.9853</c:v>
                </c:pt>
                <c:pt idx="4">
                  <c:v>-2.456</c:v>
                </c:pt>
                <c:pt idx="5">
                  <c:v>2.7263</c:v>
                </c:pt>
                <c:pt idx="6">
                  <c:v>-4.5602</c:v>
                </c:pt>
                <c:pt idx="7">
                  <c:v>-2.8149</c:v>
                </c:pt>
                <c:pt idx="8">
                  <c:v>10.5169</c:v>
                </c:pt>
                <c:pt idx="9">
                  <c:v>-1.4051</c:v>
                </c:pt>
                <c:pt idx="10">
                  <c:v>-3.5169</c:v>
                </c:pt>
                <c:pt idx="11">
                  <c:v>7.1923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整體彙總（各期）重點觀察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當月轉銷呆帳金額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654750.0</c:v>
                </c:pt>
                <c:pt idx="1">
                  <c:v>611054.0</c:v>
                </c:pt>
                <c:pt idx="2">
                  <c:v>641539.0</c:v>
                </c:pt>
                <c:pt idx="3">
                  <c:v>615972.0</c:v>
                </c:pt>
                <c:pt idx="4">
                  <c:v>600844.0</c:v>
                </c:pt>
                <c:pt idx="5">
                  <c:v>617225.0</c:v>
                </c:pt>
                <c:pt idx="6">
                  <c:v>589078.0</c:v>
                </c:pt>
                <c:pt idx="7">
                  <c:v>572496.0</c:v>
                </c:pt>
                <c:pt idx="8">
                  <c:v>632705.0</c:v>
                </c:pt>
                <c:pt idx="9">
                  <c:v>623815.0</c:v>
                </c:pt>
                <c:pt idx="10">
                  <c:v>601876.0</c:v>
                </c:pt>
                <c:pt idx="11">
                  <c:v>645165.0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循環信用餘額 排名重點觀察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27.0</c:v>
                </c:pt>
                <c:pt idx="1">
                  <c:v>22.0</c:v>
                </c:pt>
                <c:pt idx="2">
                  <c:v>17.0</c:v>
                </c:pt>
                <c:pt idx="3">
                  <c:v>13.0</c:v>
                </c:pt>
                <c:pt idx="4">
                  <c:v>15.0</c:v>
                </c:pt>
                <c:pt idx="5">
                  <c:v>21.0</c:v>
                </c:pt>
                <c:pt idx="6">
                  <c:v>20.0</c:v>
                </c:pt>
                <c:pt idx="7">
                  <c:v>4.0</c:v>
                </c:pt>
                <c:pt idx="8">
                  <c:v>1.0</c:v>
                </c:pt>
                <c:pt idx="9">
                  <c:v>30.0</c:v>
                </c:pt>
                <c:pt idx="10">
                  <c:v>12.0</c:v>
                </c:pt>
                <c:pt idx="11">
                  <c:v>32.0</c:v>
                </c:pt>
                <c:pt idx="12">
                  <c:v>23.0</c:v>
                </c:pt>
                <c:pt idx="13">
                  <c:v>19.0</c:v>
                </c:pt>
                <c:pt idx="14">
                  <c:v>25.0</c:v>
                </c:pt>
                <c:pt idx="15">
                  <c:v>10.0</c:v>
                </c:pt>
                <c:pt idx="16">
                  <c:v>31.0</c:v>
                </c:pt>
                <c:pt idx="17">
                  <c:v>11.0</c:v>
                </c:pt>
                <c:pt idx="18">
                  <c:v>26.0</c:v>
                </c:pt>
                <c:pt idx="19">
                  <c:v>29.0</c:v>
                </c:pt>
                <c:pt idx="20">
                  <c:v>7.0</c:v>
                </c:pt>
                <c:pt idx="21">
                  <c:v>9.0</c:v>
                </c:pt>
                <c:pt idx="22">
                  <c:v>16.0</c:v>
                </c:pt>
                <c:pt idx="23">
                  <c:v>8.0</c:v>
                </c:pt>
                <c:pt idx="24">
                  <c:v>2.0</c:v>
                </c:pt>
                <c:pt idx="25">
                  <c:v>14.0</c:v>
                </c:pt>
                <c:pt idx="26">
                  <c:v>6.0</c:v>
                </c:pt>
                <c:pt idx="27">
                  <c:v>5.0</c:v>
                </c:pt>
                <c:pt idx="28">
                  <c:v>28.0</c:v>
                </c:pt>
                <c:pt idx="29">
                  <c:v>3.0</c:v>
                </c:pt>
                <c:pt idx="30">
                  <c:v>18.0</c:v>
                </c:pt>
                <c:pt idx="31">
                  <c:v>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循環信用餘額 占比重點觀察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0.1366</c:v>
                </c:pt>
                <c:pt idx="1">
                  <c:v>0.2632</c:v>
                </c:pt>
                <c:pt idx="2">
                  <c:v>0.8347</c:v>
                </c:pt>
                <c:pt idx="3">
                  <c:v>1.0937</c:v>
                </c:pt>
                <c:pt idx="4">
                  <c:v>1.0121</c:v>
                </c:pt>
                <c:pt idx="5">
                  <c:v>0.3232</c:v>
                </c:pt>
                <c:pt idx="6">
                  <c:v>0.5613</c:v>
                </c:pt>
                <c:pt idx="7">
                  <c:v>9.6706</c:v>
                </c:pt>
                <c:pt idx="8">
                  <c:v>18.696</c:v>
                </c:pt>
                <c:pt idx="9">
                  <c:v>0.0118</c:v>
                </c:pt>
                <c:pt idx="10">
                  <c:v>1.317</c:v>
                </c:pt>
                <c:pt idx="11">
                  <c:v>0.0</c:v>
                </c:pt>
                <c:pt idx="12">
                  <c:v>0.2236</c:v>
                </c:pt>
                <c:pt idx="13">
                  <c:v>0.6932</c:v>
                </c:pt>
                <c:pt idx="14">
                  <c:v>0.1865</c:v>
                </c:pt>
                <c:pt idx="15">
                  <c:v>1.443</c:v>
                </c:pt>
                <c:pt idx="16">
                  <c:v>0.0061</c:v>
                </c:pt>
                <c:pt idx="17">
                  <c:v>1.3987</c:v>
                </c:pt>
                <c:pt idx="18">
                  <c:v>0.1481</c:v>
                </c:pt>
                <c:pt idx="19">
                  <c:v>0.0314</c:v>
                </c:pt>
                <c:pt idx="20">
                  <c:v>5.5591</c:v>
                </c:pt>
                <c:pt idx="21">
                  <c:v>2.6864</c:v>
                </c:pt>
                <c:pt idx="22">
                  <c:v>0.993</c:v>
                </c:pt>
                <c:pt idx="23">
                  <c:v>3.2872</c:v>
                </c:pt>
                <c:pt idx="24">
                  <c:v>15.1429</c:v>
                </c:pt>
                <c:pt idx="25">
                  <c:v>1.0819</c:v>
                </c:pt>
                <c:pt idx="26">
                  <c:v>7.5175</c:v>
                </c:pt>
                <c:pt idx="27">
                  <c:v>9.5411</c:v>
                </c:pt>
                <c:pt idx="28">
                  <c:v>0.1211</c:v>
                </c:pt>
                <c:pt idx="29">
                  <c:v>15.1041</c:v>
                </c:pt>
                <c:pt idx="30">
                  <c:v>0.697</c:v>
                </c:pt>
                <c:pt idx="31">
                  <c:v>0.2181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循環信用餘額 占比 Top 10重點觀察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國泰世華商業銀行</c:v>
                </c:pt>
                <c:pt idx="1">
                  <c:v>玉山商業銀行</c:v>
                </c:pt>
                <c:pt idx="2">
                  <c:v>中國信託商業銀行</c:v>
                </c:pt>
                <c:pt idx="3">
                  <c:v>台北富邦商業銀行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遠東國際商業銀行</c:v>
                </c:pt>
                <c:pt idx="9">
                  <c:v>滙豐(台灣)商業銀行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18.696</c:v>
                </c:pt>
                <c:pt idx="1">
                  <c:v>15.1429</c:v>
                </c:pt>
                <c:pt idx="2">
                  <c:v>15.1041</c:v>
                </c:pt>
                <c:pt idx="3">
                  <c:v>9.6706</c:v>
                </c:pt>
                <c:pt idx="4">
                  <c:v>9.5411</c:v>
                </c:pt>
                <c:pt idx="5">
                  <c:v>7.5175</c:v>
                </c:pt>
                <c:pt idx="6">
                  <c:v>5.5591</c:v>
                </c:pt>
                <c:pt idx="7">
                  <c:v>3.2872</c:v>
                </c:pt>
                <c:pt idx="8">
                  <c:v>2.6864</c:v>
                </c:pt>
                <c:pt idx="9">
                  <c:v>1.443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循環信用餘額重點觀察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161958.0</c:v>
                </c:pt>
                <c:pt idx="1">
                  <c:v>312106.0</c:v>
                </c:pt>
                <c:pt idx="2">
                  <c:v>989900.0</c:v>
                </c:pt>
                <c:pt idx="3">
                  <c:v>1297020.0</c:v>
                </c:pt>
                <c:pt idx="4">
                  <c:v>1200229.0</c:v>
                </c:pt>
                <c:pt idx="5">
                  <c:v>383291.0</c:v>
                </c:pt>
                <c:pt idx="6">
                  <c:v>665672.0</c:v>
                </c:pt>
                <c:pt idx="7">
                  <c:v>11468186.0</c:v>
                </c:pt>
                <c:pt idx="8">
                  <c:v>22171305.0</c:v>
                </c:pt>
                <c:pt idx="9">
                  <c:v>13935.0</c:v>
                </c:pt>
                <c:pt idx="10">
                  <c:v>1561810.0</c:v>
                </c:pt>
                <c:pt idx="11">
                  <c:v>0.0</c:v>
                </c:pt>
                <c:pt idx="12">
                  <c:v>265140.0</c:v>
                </c:pt>
                <c:pt idx="13">
                  <c:v>822055.0</c:v>
                </c:pt>
                <c:pt idx="14">
                  <c:v>221131.0</c:v>
                </c:pt>
                <c:pt idx="15">
                  <c:v>1711263.0</c:v>
                </c:pt>
                <c:pt idx="16">
                  <c:v>7182.0</c:v>
                </c:pt>
                <c:pt idx="17">
                  <c:v>1658692.0</c:v>
                </c:pt>
                <c:pt idx="18">
                  <c:v>175595.0</c:v>
                </c:pt>
                <c:pt idx="19">
                  <c:v>37236.0</c:v>
                </c:pt>
                <c:pt idx="20">
                  <c:v>6592497.0</c:v>
                </c:pt>
                <c:pt idx="21">
                  <c:v>3185712.0</c:v>
                </c:pt>
                <c:pt idx="22">
                  <c:v>1177581.0</c:v>
                </c:pt>
                <c:pt idx="23">
                  <c:v>3898214.0</c:v>
                </c:pt>
                <c:pt idx="24">
                  <c:v>17957715.0</c:v>
                </c:pt>
                <c:pt idx="25">
                  <c:v>1283066.0</c:v>
                </c:pt>
                <c:pt idx="26">
                  <c:v>8914937.0</c:v>
                </c:pt>
                <c:pt idx="27">
                  <c:v>11314621.0</c:v>
                </c:pt>
                <c:pt idx="28">
                  <c:v>143616.0</c:v>
                </c:pt>
                <c:pt idx="29">
                  <c:v>17911768.0</c:v>
                </c:pt>
                <c:pt idx="30">
                  <c:v>826545.0</c:v>
                </c:pt>
                <c:pt idx="31">
                  <c:v>258604.0</c:v>
                </c:pt>
                <c:pt idx="32">
                  <c:v>118588582.0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循環信用餘額 Top 10重點觀察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國泰世華商業銀行</c:v>
                </c:pt>
                <c:pt idx="1">
                  <c:v>玉山商業銀行</c:v>
                </c:pt>
                <c:pt idx="2">
                  <c:v>中國信託商業銀行</c:v>
                </c:pt>
                <c:pt idx="3">
                  <c:v>台北富邦商業銀行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遠東國際商業銀行</c:v>
                </c:pt>
                <c:pt idx="9">
                  <c:v>滙豐(台灣)商業銀行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22171305.0</c:v>
                </c:pt>
                <c:pt idx="1">
                  <c:v>17957715.0</c:v>
                </c:pt>
                <c:pt idx="2">
                  <c:v>17911768.0</c:v>
                </c:pt>
                <c:pt idx="3">
                  <c:v>11468186.0</c:v>
                </c:pt>
                <c:pt idx="4">
                  <c:v>11314621.0</c:v>
                </c:pt>
                <c:pt idx="5">
                  <c:v>8914937.0</c:v>
                </c:pt>
                <c:pt idx="6">
                  <c:v>6592497.0</c:v>
                </c:pt>
                <c:pt idx="7">
                  <c:v>3898214.0</c:v>
                </c:pt>
                <c:pt idx="8">
                  <c:v>3185712.0</c:v>
                </c:pt>
                <c:pt idx="9">
                  <c:v>1711263.0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有效卡數 排名重點觀察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21.0</c:v>
                </c:pt>
                <c:pt idx="1">
                  <c:v>23.0</c:v>
                </c:pt>
                <c:pt idx="2">
                  <c:v>16.0</c:v>
                </c:pt>
                <c:pt idx="3">
                  <c:v>9.0</c:v>
                </c:pt>
                <c:pt idx="4">
                  <c:v>11.0</c:v>
                </c:pt>
                <c:pt idx="5">
                  <c:v>17.0</c:v>
                </c:pt>
                <c:pt idx="6">
                  <c:v>19.0</c:v>
                </c:pt>
                <c:pt idx="7">
                  <c:v>2.0</c:v>
                </c:pt>
                <c:pt idx="8">
                  <c:v>4.0</c:v>
                </c:pt>
                <c:pt idx="9">
                  <c:v>32.0</c:v>
                </c:pt>
                <c:pt idx="10">
                  <c:v>12.0</c:v>
                </c:pt>
                <c:pt idx="11">
                  <c:v>29.0</c:v>
                </c:pt>
                <c:pt idx="12">
                  <c:v>25.0</c:v>
                </c:pt>
                <c:pt idx="13">
                  <c:v>22.0</c:v>
                </c:pt>
                <c:pt idx="14">
                  <c:v>26.0</c:v>
                </c:pt>
                <c:pt idx="15">
                  <c:v>13.0</c:v>
                </c:pt>
                <c:pt idx="16">
                  <c:v>31.0</c:v>
                </c:pt>
                <c:pt idx="17">
                  <c:v>14.0</c:v>
                </c:pt>
                <c:pt idx="18">
                  <c:v>28.0</c:v>
                </c:pt>
                <c:pt idx="19">
                  <c:v>30.0</c:v>
                </c:pt>
                <c:pt idx="20">
                  <c:v>7.0</c:v>
                </c:pt>
                <c:pt idx="21">
                  <c:v>10.0</c:v>
                </c:pt>
                <c:pt idx="22">
                  <c:v>15.0</c:v>
                </c:pt>
                <c:pt idx="23">
                  <c:v>8.0</c:v>
                </c:pt>
                <c:pt idx="24">
                  <c:v>3.0</c:v>
                </c:pt>
                <c:pt idx="25">
                  <c:v>18.0</c:v>
                </c:pt>
                <c:pt idx="26">
                  <c:v>6.0</c:v>
                </c:pt>
                <c:pt idx="27">
                  <c:v>5.0</c:v>
                </c:pt>
                <c:pt idx="28">
                  <c:v>27.0</c:v>
                </c:pt>
                <c:pt idx="29">
                  <c:v>1.0</c:v>
                </c:pt>
                <c:pt idx="30">
                  <c:v>20.0</c:v>
                </c:pt>
                <c:pt idx="31">
                  <c:v>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有效卡數 占比重點觀察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0.3654</c:v>
                </c:pt>
                <c:pt idx="1">
                  <c:v>0.3458</c:v>
                </c:pt>
                <c:pt idx="2">
                  <c:v>0.9763</c:v>
                </c:pt>
                <c:pt idx="3">
                  <c:v>2.3496</c:v>
                </c:pt>
                <c:pt idx="4">
                  <c:v>1.9445</c:v>
                </c:pt>
                <c:pt idx="5">
                  <c:v>0.7465</c:v>
                </c:pt>
                <c:pt idx="6">
                  <c:v>0.4823</c:v>
                </c:pt>
                <c:pt idx="7">
                  <c:v>14.4235</c:v>
                </c:pt>
                <c:pt idx="8">
                  <c:v>12.845</c:v>
                </c:pt>
                <c:pt idx="9">
                  <c:v>0.0109</c:v>
                </c:pt>
                <c:pt idx="10">
                  <c:v>1.5124</c:v>
                </c:pt>
                <c:pt idx="11">
                  <c:v>0.0417</c:v>
                </c:pt>
                <c:pt idx="12">
                  <c:v>0.2474</c:v>
                </c:pt>
                <c:pt idx="13">
                  <c:v>0.3497</c:v>
                </c:pt>
                <c:pt idx="14">
                  <c:v>0.1942</c:v>
                </c:pt>
                <c:pt idx="15">
                  <c:v>1.4559</c:v>
                </c:pt>
                <c:pt idx="16">
                  <c:v>0.0122</c:v>
                </c:pt>
                <c:pt idx="17">
                  <c:v>1.3501</c:v>
                </c:pt>
                <c:pt idx="18">
                  <c:v>0.1453</c:v>
                </c:pt>
                <c:pt idx="19">
                  <c:v>0.0333</c:v>
                </c:pt>
                <c:pt idx="20">
                  <c:v>4.5601</c:v>
                </c:pt>
                <c:pt idx="21">
                  <c:v>2.2442</c:v>
                </c:pt>
                <c:pt idx="22">
                  <c:v>1.3281</c:v>
                </c:pt>
                <c:pt idx="23">
                  <c:v>3.8115</c:v>
                </c:pt>
                <c:pt idx="24">
                  <c:v>13.1688</c:v>
                </c:pt>
                <c:pt idx="25">
                  <c:v>0.5025</c:v>
                </c:pt>
                <c:pt idx="26">
                  <c:v>5.1474</c:v>
                </c:pt>
                <c:pt idx="27">
                  <c:v>11.9665</c:v>
                </c:pt>
                <c:pt idx="28">
                  <c:v>0.1545</c:v>
                </c:pt>
                <c:pt idx="29">
                  <c:v>16.4861</c:v>
                </c:pt>
                <c:pt idx="30">
                  <c:v>0.4748</c:v>
                </c:pt>
                <c:pt idx="31">
                  <c:v>0.3236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有效卡數 占比 Top 10重點觀察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台北富邦商業銀行</c:v>
                </c:pt>
                <c:pt idx="2">
                  <c:v>玉山商業銀行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16.4861</c:v>
                </c:pt>
                <c:pt idx="1">
                  <c:v>14.4235</c:v>
                </c:pt>
                <c:pt idx="2">
                  <c:v>13.1688</c:v>
                </c:pt>
                <c:pt idx="3">
                  <c:v>12.845</c:v>
                </c:pt>
                <c:pt idx="4">
                  <c:v>11.9665</c:v>
                </c:pt>
                <c:pt idx="5">
                  <c:v>5.1474</c:v>
                </c:pt>
                <c:pt idx="6">
                  <c:v>4.5601</c:v>
                </c:pt>
                <c:pt idx="7">
                  <c:v>3.8115</c:v>
                </c:pt>
                <c:pt idx="8">
                  <c:v>2.3496</c:v>
                </c:pt>
                <c:pt idx="9">
                  <c:v>2.2442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有效卡數重點觀察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148176.0</c:v>
                </c:pt>
                <c:pt idx="1">
                  <c:v>140249.0</c:v>
                </c:pt>
                <c:pt idx="2">
                  <c:v>395942.0</c:v>
                </c:pt>
                <c:pt idx="3">
                  <c:v>952857.0</c:v>
                </c:pt>
                <c:pt idx="4">
                  <c:v>788586.0</c:v>
                </c:pt>
                <c:pt idx="5">
                  <c:v>302736.0</c:v>
                </c:pt>
                <c:pt idx="6">
                  <c:v>195583.0</c:v>
                </c:pt>
                <c:pt idx="7">
                  <c:v>5849375.0</c:v>
                </c:pt>
                <c:pt idx="8">
                  <c:v>5209203.0</c:v>
                </c:pt>
                <c:pt idx="9">
                  <c:v>4435.0</c:v>
                </c:pt>
                <c:pt idx="10">
                  <c:v>613344.0</c:v>
                </c:pt>
                <c:pt idx="11">
                  <c:v>16921.0</c:v>
                </c:pt>
                <c:pt idx="12">
                  <c:v>100320.0</c:v>
                </c:pt>
                <c:pt idx="13">
                  <c:v>141822.0</c:v>
                </c:pt>
                <c:pt idx="14">
                  <c:v>78769.0</c:v>
                </c:pt>
                <c:pt idx="15">
                  <c:v>590428.0</c:v>
                </c:pt>
                <c:pt idx="16">
                  <c:v>4935.0</c:v>
                </c:pt>
                <c:pt idx="17">
                  <c:v>547522.0</c:v>
                </c:pt>
                <c:pt idx="18">
                  <c:v>58937.0</c:v>
                </c:pt>
                <c:pt idx="19">
                  <c:v>13524.0</c:v>
                </c:pt>
                <c:pt idx="20">
                  <c:v>1849324.0</c:v>
                </c:pt>
                <c:pt idx="21">
                  <c:v>910122.0</c:v>
                </c:pt>
                <c:pt idx="22">
                  <c:v>538589.0</c:v>
                </c:pt>
                <c:pt idx="23">
                  <c:v>1545721.0</c:v>
                </c:pt>
                <c:pt idx="24">
                  <c:v>5340523.0</c:v>
                </c:pt>
                <c:pt idx="25">
                  <c:v>203805.0</c:v>
                </c:pt>
                <c:pt idx="26">
                  <c:v>2087494.0</c:v>
                </c:pt>
                <c:pt idx="27">
                  <c:v>4852939.0</c:v>
                </c:pt>
                <c:pt idx="28">
                  <c:v>62645.0</c:v>
                </c:pt>
                <c:pt idx="29">
                  <c:v>6685860.0</c:v>
                </c:pt>
                <c:pt idx="30">
                  <c:v>192537.0</c:v>
                </c:pt>
                <c:pt idx="31">
                  <c:v>131230.0</c:v>
                </c:pt>
                <c:pt idx="32">
                  <c:v>40554453.0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有效卡數 Top 10重點觀察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台北富邦商業銀行</c:v>
                </c:pt>
                <c:pt idx="2">
                  <c:v>玉山商業銀行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6685860.0</c:v>
                </c:pt>
                <c:pt idx="1">
                  <c:v>5849375.0</c:v>
                </c:pt>
                <c:pt idx="2">
                  <c:v>5340523.0</c:v>
                </c:pt>
                <c:pt idx="3">
                  <c:v>5209203.0</c:v>
                </c:pt>
                <c:pt idx="4">
                  <c:v>4852939.0</c:v>
                </c:pt>
                <c:pt idx="5">
                  <c:v>2087494.0</c:v>
                </c:pt>
                <c:pt idx="6">
                  <c:v>1849324.0</c:v>
                </c:pt>
                <c:pt idx="7">
                  <c:v>1545721.0</c:v>
                </c:pt>
                <c:pt idx="8">
                  <c:v>952857.0</c:v>
                </c:pt>
                <c:pt idx="9">
                  <c:v>910122.0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未到期分期付款餘額 排名重點觀察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27.0</c:v>
                </c:pt>
                <c:pt idx="1">
                  <c:v>24.0</c:v>
                </c:pt>
                <c:pt idx="2">
                  <c:v>21.0</c:v>
                </c:pt>
                <c:pt idx="3">
                  <c:v>15.0</c:v>
                </c:pt>
                <c:pt idx="4">
                  <c:v>8.0</c:v>
                </c:pt>
                <c:pt idx="5">
                  <c:v>22.0</c:v>
                </c:pt>
                <c:pt idx="6">
                  <c:v>18.0</c:v>
                </c:pt>
                <c:pt idx="7">
                  <c:v>1.0</c:v>
                </c:pt>
                <c:pt idx="8">
                  <c:v>2.0</c:v>
                </c:pt>
                <c:pt idx="9">
                  <c:v>30.0</c:v>
                </c:pt>
                <c:pt idx="10">
                  <c:v>12.0</c:v>
                </c:pt>
                <c:pt idx="11">
                  <c:v>31.0</c:v>
                </c:pt>
                <c:pt idx="12">
                  <c:v>23.0</c:v>
                </c:pt>
                <c:pt idx="13">
                  <c:v>19.0</c:v>
                </c:pt>
                <c:pt idx="14">
                  <c:v>26.0</c:v>
                </c:pt>
                <c:pt idx="15">
                  <c:v>14.0</c:v>
                </c:pt>
                <c:pt idx="16">
                  <c:v>29.0</c:v>
                </c:pt>
                <c:pt idx="17">
                  <c:v>13.0</c:v>
                </c:pt>
                <c:pt idx="18">
                  <c:v>25.0</c:v>
                </c:pt>
                <c:pt idx="19">
                  <c:v>28.0</c:v>
                </c:pt>
                <c:pt idx="20">
                  <c:v>7.0</c:v>
                </c:pt>
                <c:pt idx="21">
                  <c:v>11.0</c:v>
                </c:pt>
                <c:pt idx="22">
                  <c:v>10.0</c:v>
                </c:pt>
                <c:pt idx="23">
                  <c:v>9.0</c:v>
                </c:pt>
                <c:pt idx="24">
                  <c:v>3.0</c:v>
                </c:pt>
                <c:pt idx="25">
                  <c:v>17.0</c:v>
                </c:pt>
                <c:pt idx="26">
                  <c:v>6.0</c:v>
                </c:pt>
                <c:pt idx="27">
                  <c:v>5.0</c:v>
                </c:pt>
                <c:pt idx="28">
                  <c:v>16.0</c:v>
                </c:pt>
                <c:pt idx="29">
                  <c:v>4.0</c:v>
                </c:pt>
                <c:pt idx="30">
                  <c:v>20.0</c:v>
                </c:pt>
                <c:pt idx="31">
                  <c:v>31.0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未到期分期付款餘額 占比重點觀察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0.023</c:v>
                </c:pt>
                <c:pt idx="1">
                  <c:v>0.0813</c:v>
                </c:pt>
                <c:pt idx="2">
                  <c:v>0.313</c:v>
                </c:pt>
                <c:pt idx="3">
                  <c:v>0.9324</c:v>
                </c:pt>
                <c:pt idx="4">
                  <c:v>3.397</c:v>
                </c:pt>
                <c:pt idx="5">
                  <c:v>0.2366</c:v>
                </c:pt>
                <c:pt idx="6">
                  <c:v>0.6413</c:v>
                </c:pt>
                <c:pt idx="7">
                  <c:v>17.5126</c:v>
                </c:pt>
                <c:pt idx="8">
                  <c:v>14.2404</c:v>
                </c:pt>
                <c:pt idx="9">
                  <c:v>0.0002</c:v>
                </c:pt>
                <c:pt idx="10">
                  <c:v>1.6159</c:v>
                </c:pt>
                <c:pt idx="11">
                  <c:v>0.0</c:v>
                </c:pt>
                <c:pt idx="12">
                  <c:v>0.1072</c:v>
                </c:pt>
                <c:pt idx="13">
                  <c:v>0.3489</c:v>
                </c:pt>
                <c:pt idx="14">
                  <c:v>0.0234</c:v>
                </c:pt>
                <c:pt idx="15">
                  <c:v>1.0359</c:v>
                </c:pt>
                <c:pt idx="16">
                  <c:v>0.0013</c:v>
                </c:pt>
                <c:pt idx="17">
                  <c:v>1.2237</c:v>
                </c:pt>
                <c:pt idx="18">
                  <c:v>0.0639</c:v>
                </c:pt>
                <c:pt idx="19">
                  <c:v>0.0098</c:v>
                </c:pt>
                <c:pt idx="20">
                  <c:v>4.5939</c:v>
                </c:pt>
                <c:pt idx="21">
                  <c:v>2.1258</c:v>
                </c:pt>
                <c:pt idx="22">
                  <c:v>2.2076</c:v>
                </c:pt>
                <c:pt idx="23">
                  <c:v>2.8509</c:v>
                </c:pt>
                <c:pt idx="24">
                  <c:v>12.8714</c:v>
                </c:pt>
                <c:pt idx="25">
                  <c:v>0.725</c:v>
                </c:pt>
                <c:pt idx="26">
                  <c:v>9.1143</c:v>
                </c:pt>
                <c:pt idx="27">
                  <c:v>10.8644</c:v>
                </c:pt>
                <c:pt idx="28">
                  <c:v>0.9204</c:v>
                </c:pt>
                <c:pt idx="29">
                  <c:v>11.594</c:v>
                </c:pt>
                <c:pt idx="30">
                  <c:v>0.3246</c:v>
                </c:pt>
                <c:pt idx="3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未到期分期付款餘額 占比 Top 10重點觀察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台北富邦商業銀行</c:v>
                </c:pt>
                <c:pt idx="1">
                  <c:v>國泰世華商業銀行</c:v>
                </c:pt>
                <c:pt idx="2">
                  <c:v>玉山商業銀行</c:v>
                </c:pt>
                <c:pt idx="3">
                  <c:v>中國信託商業銀行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華南商業銀行</c:v>
                </c:pt>
                <c:pt idx="8">
                  <c:v>永豐商業銀行</c:v>
                </c:pt>
                <c:pt idx="9">
                  <c:v>元大商業銀行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17.5126</c:v>
                </c:pt>
                <c:pt idx="1">
                  <c:v>14.2404</c:v>
                </c:pt>
                <c:pt idx="2">
                  <c:v>12.8714</c:v>
                </c:pt>
                <c:pt idx="3">
                  <c:v>11.594</c:v>
                </c:pt>
                <c:pt idx="4">
                  <c:v>10.8644</c:v>
                </c:pt>
                <c:pt idx="5">
                  <c:v>9.1143</c:v>
                </c:pt>
                <c:pt idx="6">
                  <c:v>4.5939</c:v>
                </c:pt>
                <c:pt idx="7">
                  <c:v>3.397</c:v>
                </c:pt>
                <c:pt idx="8">
                  <c:v>2.8509</c:v>
                </c:pt>
                <c:pt idx="9">
                  <c:v>2.2076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FCBD-1057-479C-BDC5-C41CA873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信用卡市場管理層分析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76395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01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趨勢與變化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02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分群與比較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03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結論與後續行動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01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趨勢與變化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607,056.5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654,750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572,496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 趨勢外推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7.2%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10.5%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-6.7%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 期間成長率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645,165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654,750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572,496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02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分群與比較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24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32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1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排名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0.2%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18.7%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0.0%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占比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1.4%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18.7%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1.4%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占比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258,604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22,171,305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1,711,263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22,171,305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1,711,263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24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32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1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有效卡數 排名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0.3%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16.5%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0.0%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有效卡數 占比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2.2%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16.5%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2.2%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有效卡數 占比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131,230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6,685,860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4,435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有效卡數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910,122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6,685,860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910,122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有效卡數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31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31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1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未到期分期付款餘額 排名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0.0%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17.5%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0.0%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未到期分期付款餘額 占比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目前觀察值為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2.2%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，可作為評估現況、設定追蹤基準與安排下一步驗證工作的客觀起點。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觀察區間內的代表性高點為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17.5%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，建議回到對應類別與來源資料檢視形成條件，再決定是否擴大相關行動。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觀察區間內的代表性低點為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2.2%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，後續應以相同口徑持續追蹤，並在資料更新後重新檢視管理優先順序。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未到期分期付款餘額 占比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趨勢與變化｜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（P.4）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分群與比較｜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本頁資料呈現可追蹤的變化與差異，後續決策應以更新資料持續校準</a:t>
            </a:r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（P.8）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結論與後續行動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感謝聆聽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